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9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182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talk about phishing — one of the most common ways attackers target organizations. [~2 min] This isn't about scaring you; it's about giving you real tools to stay safe.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the session. Total time is about 45 minutes. We'll have three interactive exercises woven in — they're short and fun!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These numbers are striking, but the good news is that phishing attacks are almost entirely preventable with awareness. You are the firewall!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Walk through each indicator. Ask the audience: 'Have you ever received an email like this?' These six flags cover 95% of phishing attempts.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Point out every red flag in the phishing column: spoofed domain, urgent subject line, generic greeting, vague body, shortened URL, no physical address. Ask: 'Would you have clicked?'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A common misconception: HTTPS doesn't mean the site is trustworthy — it only means the connection is encrypted. Attackers can and do use SSL certificates. Always check the domain itself.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Key insight: attackers spend time researching their targets. They look at LinkedIn, company websites, social media. A well-crafted spear-phishing email uses your name, role, and recent activity.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 interactive] Give the audience 90 seconds to spot flags. Then take 3-4 answers. Expected flags: fake domain, urgent subject, generic greeting, ALL CAPS/threats, HTTP link, shortened URL, requests for password, threatens legal action, impersonates Microsoft.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Reveal each answer. Celebrate people who found 5+. Reinforce: spotting even ONE of these is enough reason to not click and to report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These six practices, applied consistently, will protect against the vast majority of phishing attacks. MFA alone can stop 99% of account compromise attacks (Microsoft, 2023).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intro] We'll now walk through five common attack patterns. For each one, look out for the red flags we just learned.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most common internal phish. Key insight: IT teams nearly always use internal systems for password resets — not external links via email.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Business Email Compromise is the single most financially damaging cybercrime. The 'secrecy' element is the biggest red flag — legitimate CEOs don't ask finance teams to hide transactions.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Smishing (SMS phishing) is rapidly growing. The small fee makes people feel it's low-risk, but the real goal is harvesting payment card details.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These emails are incredibly convincing because the design mimics Google exactly. The attacker registers a similar domain and copies Google's email template pixel-for-pixel.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quick-fire round reinforces common misconceptions. Read each statement aloud, pause for hands, then reveal the answer. Keep energy up!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Ask audience to vote A/B/C/D by show of hands. The key lesson: urgency is the attacker's tool — your tool is verification. Calling someone takes 30 seconds and prevents major damage.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Emphasize: if they already clicked, there's no shame — the most important thing is to act immediately. Early reporting dramatically reduces damage.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These three actions — Pause, Verify, Report — form the core of your personal defense against phishing. Everything else builds on this foundation.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Open the floor for questions. Mention that phishing simulation emails will be sent periodically — these are learning opportunities, not traps. If people click, they get immediate training feedback.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Closing. Remind everyone: the best security tool is a skeptical, aware employee. No technology can replace human judgment. Thank everyone for their time and participation.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8F77"/>
          </a:solidFill>
          <a:ln/>
        </p:spPr>
      </p:sp>
      <p:pic>
        <p:nvPicPr>
          <p:cNvPr id="3" name="Image 0" descr="preencoded.png"/>
          <p:cNvPicPr>
            <a:picLocks noChangeAspect="1"/>
          </p:cNvPicPr>
          <p:nvPr/>
        </p:nvPicPr>
        <p:blipFill>
          <a:blip r:embed="rId3">
            <a:alphaModFix amt="25000"/>
          </a:blip>
          <a:stretch>
            <a:fillRect/>
          </a:stretch>
        </p:blipFill>
        <p:spPr>
          <a:xfrm>
            <a:off x="5943600" y="457200"/>
            <a:ext cx="2926080" cy="2926080"/>
          </a:xfrm>
          <a:prstGeom prst="rect">
            <a:avLst/>
          </a:prstGeom>
        </p:spPr>
      </p:pic>
      <p:sp>
        <p:nvSpPr>
          <p:cNvPr id="4" name="Text 1"/>
          <p:cNvSpPr/>
          <p:nvPr/>
        </p:nvSpPr>
        <p:spPr>
          <a:xfrm>
            <a:off x="411480" y="457200"/>
            <a:ext cx="5486400" cy="457200"/>
          </a:xfrm>
          <a:prstGeom prst="rect">
            <a:avLst/>
          </a:prstGeom>
          <a:noFill/>
          <a:ln/>
        </p:spPr>
        <p:txBody>
          <a:bodyPr wrap="square" lIns="0" tIns="0" rIns="0" bIns="0" rtlCol="0" anchor="ctr"/>
          <a:lstStyle/>
          <a:p>
            <a:pPr marL="0" indent="0">
              <a:buNone/>
            </a:pPr>
            <a:r>
              <a:rPr lang="en-US" sz="1200" b="1" kern="0" spc="400" dirty="0">
                <a:solidFill>
                  <a:srgbClr val="148F77"/>
                </a:solidFill>
              </a:rPr>
              <a:t>DON'T TAKE THE BAIT</a:t>
            </a:r>
            <a:endParaRPr lang="en-US" sz="1200" dirty="0"/>
          </a:p>
        </p:txBody>
      </p:sp>
      <p:sp>
        <p:nvSpPr>
          <p:cNvPr id="5" name="Text 2"/>
          <p:cNvSpPr/>
          <p:nvPr/>
        </p:nvSpPr>
        <p:spPr>
          <a:xfrm>
            <a:off x="411480" y="1005840"/>
            <a:ext cx="5943600" cy="1645920"/>
          </a:xfrm>
          <a:prstGeom prst="rect">
            <a:avLst/>
          </a:prstGeom>
          <a:noFill/>
          <a:ln/>
        </p:spPr>
        <p:txBody>
          <a:bodyPr wrap="square" lIns="0" tIns="0" rIns="0" bIns="0" rtlCol="0" anchor="ctr"/>
          <a:lstStyle/>
          <a:p>
            <a:pPr marL="0" indent="0">
              <a:buNone/>
            </a:pPr>
            <a:r>
              <a:rPr lang="en-US" sz="4400" b="1" dirty="0">
                <a:solidFill>
                  <a:srgbClr val="FFFFFF"/>
                </a:solidFill>
              </a:rPr>
              <a:t>Phishing Awareness</a:t>
            </a:r>
            <a:endParaRPr lang="en-US" sz="4400" dirty="0"/>
          </a:p>
          <a:p>
            <a:pPr marL="0" indent="0">
              <a:buNone/>
            </a:pPr>
            <a:r>
              <a:rPr lang="en-US" sz="4400" b="1" dirty="0">
                <a:solidFill>
                  <a:srgbClr val="FFFFFF"/>
                </a:solidFill>
              </a:rPr>
              <a:t>Training</a:t>
            </a:r>
            <a:endParaRPr lang="en-US" sz="4400" dirty="0"/>
          </a:p>
        </p:txBody>
      </p:sp>
      <p:sp>
        <p:nvSpPr>
          <p:cNvPr id="6" name="Shape 3"/>
          <p:cNvSpPr/>
          <p:nvPr/>
        </p:nvSpPr>
        <p:spPr>
          <a:xfrm>
            <a:off x="411480" y="2743200"/>
            <a:ext cx="1371600" cy="54864"/>
          </a:xfrm>
          <a:prstGeom prst="rect">
            <a:avLst/>
          </a:prstGeom>
          <a:solidFill>
            <a:srgbClr val="148F77"/>
          </a:solidFill>
          <a:ln/>
        </p:spPr>
      </p:sp>
      <p:sp>
        <p:nvSpPr>
          <p:cNvPr id="7" name="Text 4"/>
          <p:cNvSpPr/>
          <p:nvPr/>
        </p:nvSpPr>
        <p:spPr>
          <a:xfrm>
            <a:off x="411480" y="2926080"/>
            <a:ext cx="6400800" cy="731520"/>
          </a:xfrm>
          <a:prstGeom prst="rect">
            <a:avLst/>
          </a:prstGeom>
          <a:noFill/>
          <a:ln/>
        </p:spPr>
        <p:txBody>
          <a:bodyPr wrap="square" lIns="0" tIns="0" rIns="0" bIns="0" rtlCol="0" anchor="ctr"/>
          <a:lstStyle/>
          <a:p>
            <a:pPr marL="0" indent="0">
              <a:buNone/>
            </a:pPr>
            <a:r>
              <a:rPr lang="en-US" sz="1500" dirty="0">
                <a:solidFill>
                  <a:srgbClr val="CDD3DC"/>
                </a:solidFill>
              </a:rPr>
              <a:t>Protecting yourself and our organization</a:t>
            </a:r>
            <a:endParaRPr lang="en-US" sz="1500" dirty="0"/>
          </a:p>
          <a:p>
            <a:pPr marL="0" indent="0">
              <a:buNone/>
            </a:pPr>
            <a:r>
              <a:rPr lang="en-US" sz="1500" dirty="0">
                <a:solidFill>
                  <a:srgbClr val="CDD3DC"/>
                </a:solidFill>
              </a:rPr>
              <a:t>from digital deception — one click at a time.</a:t>
            </a:r>
            <a:endParaRPr lang="en-US" sz="1500" dirty="0"/>
          </a:p>
        </p:txBody>
      </p:sp>
      <p:sp>
        <p:nvSpPr>
          <p:cNvPr id="8" name="Text 5"/>
          <p:cNvSpPr/>
          <p:nvPr/>
        </p:nvSpPr>
        <p:spPr>
          <a:xfrm>
            <a:off x="411480" y="4663440"/>
            <a:ext cx="5486400" cy="320040"/>
          </a:xfrm>
          <a:prstGeom prst="rect">
            <a:avLst/>
          </a:prstGeom>
          <a:noFill/>
          <a:ln/>
        </p:spPr>
        <p:txBody>
          <a:bodyPr wrap="square" lIns="0" tIns="0" rIns="0" bIns="0" rtlCol="0" anchor="ctr"/>
          <a:lstStyle/>
          <a:p>
            <a:pPr marL="0" indent="0">
              <a:buNone/>
            </a:pPr>
            <a:r>
              <a:rPr lang="en-US" sz="1100" dirty="0">
                <a:solidFill>
                  <a:srgbClr val="7F8C8D"/>
                </a:solidFill>
              </a:rPr>
              <a:t>IT Security Team  ·  Annual Security Training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65760" y="73152"/>
            <a:ext cx="8229600" cy="594360"/>
          </a:xfrm>
          <a:prstGeom prst="rect">
            <a:avLst/>
          </a:prstGeom>
          <a:noFill/>
          <a:ln/>
        </p:spPr>
        <p:txBody>
          <a:bodyPr wrap="square" lIns="0" tIns="0" rIns="0" bIns="0" rtlCol="0" anchor="ctr"/>
          <a:lstStyle/>
          <a:p>
            <a:pPr marL="0" indent="0">
              <a:buNone/>
            </a:pPr>
            <a:r>
              <a:rPr lang="en-US" sz="2600" b="1" dirty="0">
                <a:solidFill>
                  <a:srgbClr val="FFFFFF"/>
                </a:solidFill>
              </a:rPr>
              <a:t>What We'll Cover Today</a:t>
            </a:r>
            <a:endParaRPr lang="en-US" sz="2600" dirty="0"/>
          </a:p>
        </p:txBody>
      </p:sp>
      <p:sp>
        <p:nvSpPr>
          <p:cNvPr id="4" name="Shape 2"/>
          <p:cNvSpPr/>
          <p:nvPr/>
        </p:nvSpPr>
        <p:spPr>
          <a:xfrm>
            <a:off x="274320" y="1005840"/>
            <a:ext cx="4160520" cy="1097280"/>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274320" y="1005840"/>
            <a:ext cx="109728" cy="1097280"/>
          </a:xfrm>
          <a:prstGeom prst="rect">
            <a:avLst/>
          </a:prstGeom>
          <a:solidFill>
            <a:srgbClr val="1B4F72"/>
          </a:solidFill>
          <a:ln/>
        </p:spPr>
      </p:sp>
      <p:sp>
        <p:nvSpPr>
          <p:cNvPr id="6" name="Text 4"/>
          <p:cNvSpPr/>
          <p:nvPr/>
        </p:nvSpPr>
        <p:spPr>
          <a:xfrm>
            <a:off x="457200" y="1078992"/>
            <a:ext cx="502920" cy="347472"/>
          </a:xfrm>
          <a:prstGeom prst="rect">
            <a:avLst/>
          </a:prstGeom>
          <a:noFill/>
          <a:ln/>
        </p:spPr>
        <p:txBody>
          <a:bodyPr wrap="square" lIns="0" tIns="0" rIns="0" bIns="0" rtlCol="0" anchor="ctr"/>
          <a:lstStyle/>
          <a:p>
            <a:pPr marL="0" indent="0">
              <a:buNone/>
            </a:pPr>
            <a:r>
              <a:rPr lang="en-US" sz="1100" b="1" dirty="0">
                <a:solidFill>
                  <a:srgbClr val="1B4F72"/>
                </a:solidFill>
              </a:rPr>
              <a:t>01</a:t>
            </a:r>
            <a:endParaRPr lang="en-US" sz="1100" dirty="0"/>
          </a:p>
        </p:txBody>
      </p:sp>
      <p:sp>
        <p:nvSpPr>
          <p:cNvPr id="7" name="Text 5"/>
          <p:cNvSpPr/>
          <p:nvPr/>
        </p:nvSpPr>
        <p:spPr>
          <a:xfrm>
            <a:off x="475488" y="1389888"/>
            <a:ext cx="3657600" cy="594360"/>
          </a:xfrm>
          <a:prstGeom prst="rect">
            <a:avLst/>
          </a:prstGeom>
          <a:noFill/>
          <a:ln/>
        </p:spPr>
        <p:txBody>
          <a:bodyPr wrap="square" lIns="0" tIns="0" rIns="0" bIns="0" rtlCol="0" anchor="ctr"/>
          <a:lstStyle/>
          <a:p>
            <a:pPr marL="0" indent="0">
              <a:buNone/>
            </a:pPr>
            <a:r>
              <a:rPr lang="en-US" sz="1400" b="1" dirty="0">
                <a:solidFill>
                  <a:srgbClr val="2C3E50"/>
                </a:solidFill>
              </a:rPr>
              <a:t>Recognizing Phishing Emails</a:t>
            </a:r>
            <a:endParaRPr lang="en-US" sz="1400" dirty="0"/>
          </a:p>
        </p:txBody>
      </p:sp>
      <p:sp>
        <p:nvSpPr>
          <p:cNvPr id="8" name="Shape 6"/>
          <p:cNvSpPr/>
          <p:nvPr/>
        </p:nvSpPr>
        <p:spPr>
          <a:xfrm>
            <a:off x="274320" y="2267712"/>
            <a:ext cx="4160520" cy="1097280"/>
          </a:xfrm>
          <a:prstGeom prst="rect">
            <a:avLst/>
          </a:prstGeom>
          <a:solidFill>
            <a:srgbClr val="FFFFFF"/>
          </a:solidFill>
          <a:ln/>
          <a:effectLst>
            <a:outerShdw blurRad="101600" dist="38100" dir="8100000" algn="bl" rotWithShape="0">
              <a:srgbClr val="000000">
                <a:alpha val="18000"/>
              </a:srgbClr>
            </a:outerShdw>
          </a:effectLst>
        </p:spPr>
      </p:sp>
      <p:sp>
        <p:nvSpPr>
          <p:cNvPr id="9" name="Shape 7"/>
          <p:cNvSpPr/>
          <p:nvPr/>
        </p:nvSpPr>
        <p:spPr>
          <a:xfrm>
            <a:off x="274320" y="2267712"/>
            <a:ext cx="109728" cy="1097280"/>
          </a:xfrm>
          <a:prstGeom prst="rect">
            <a:avLst/>
          </a:prstGeom>
          <a:solidFill>
            <a:srgbClr val="148F77"/>
          </a:solidFill>
          <a:ln/>
        </p:spPr>
      </p:sp>
      <p:sp>
        <p:nvSpPr>
          <p:cNvPr id="10" name="Text 8"/>
          <p:cNvSpPr/>
          <p:nvPr/>
        </p:nvSpPr>
        <p:spPr>
          <a:xfrm>
            <a:off x="457200" y="2340864"/>
            <a:ext cx="502920" cy="347472"/>
          </a:xfrm>
          <a:prstGeom prst="rect">
            <a:avLst/>
          </a:prstGeom>
          <a:noFill/>
          <a:ln/>
        </p:spPr>
        <p:txBody>
          <a:bodyPr wrap="square" lIns="0" tIns="0" rIns="0" bIns="0" rtlCol="0" anchor="ctr"/>
          <a:lstStyle/>
          <a:p>
            <a:pPr marL="0" indent="0">
              <a:buNone/>
            </a:pPr>
            <a:r>
              <a:rPr lang="en-US" sz="1100" b="1" dirty="0">
                <a:solidFill>
                  <a:srgbClr val="148F77"/>
                </a:solidFill>
              </a:rPr>
              <a:t>02</a:t>
            </a:r>
            <a:endParaRPr lang="en-US" sz="1100" dirty="0"/>
          </a:p>
        </p:txBody>
      </p:sp>
      <p:sp>
        <p:nvSpPr>
          <p:cNvPr id="11" name="Text 9"/>
          <p:cNvSpPr/>
          <p:nvPr/>
        </p:nvSpPr>
        <p:spPr>
          <a:xfrm>
            <a:off x="475488" y="2651760"/>
            <a:ext cx="3657600" cy="594360"/>
          </a:xfrm>
          <a:prstGeom prst="rect">
            <a:avLst/>
          </a:prstGeom>
          <a:noFill/>
          <a:ln/>
        </p:spPr>
        <p:txBody>
          <a:bodyPr wrap="square" lIns="0" tIns="0" rIns="0" bIns="0" rtlCol="0" anchor="ctr"/>
          <a:lstStyle/>
          <a:p>
            <a:pPr marL="0" indent="0">
              <a:buNone/>
            </a:pPr>
            <a:r>
              <a:rPr lang="en-US" sz="1400" b="1" dirty="0">
                <a:solidFill>
                  <a:srgbClr val="2C3E50"/>
                </a:solidFill>
              </a:rPr>
              <a:t>Spotting Fake Websites</a:t>
            </a:r>
            <a:endParaRPr lang="en-US" sz="1400" dirty="0"/>
          </a:p>
        </p:txBody>
      </p:sp>
      <p:sp>
        <p:nvSpPr>
          <p:cNvPr id="12" name="Shape 10"/>
          <p:cNvSpPr/>
          <p:nvPr/>
        </p:nvSpPr>
        <p:spPr>
          <a:xfrm>
            <a:off x="274320" y="3529584"/>
            <a:ext cx="4160520" cy="1097280"/>
          </a:xfrm>
          <a:prstGeom prst="rect">
            <a:avLst/>
          </a:prstGeom>
          <a:solidFill>
            <a:srgbClr val="FFFFFF"/>
          </a:solidFill>
          <a:ln/>
          <a:effectLst>
            <a:outerShdw blurRad="101600" dist="38100" dir="8100000" algn="bl" rotWithShape="0">
              <a:srgbClr val="000000">
                <a:alpha val="18000"/>
              </a:srgbClr>
            </a:outerShdw>
          </a:effectLst>
        </p:spPr>
      </p:sp>
      <p:sp>
        <p:nvSpPr>
          <p:cNvPr id="13" name="Shape 11"/>
          <p:cNvSpPr/>
          <p:nvPr/>
        </p:nvSpPr>
        <p:spPr>
          <a:xfrm>
            <a:off x="274320" y="3529584"/>
            <a:ext cx="109728" cy="1097280"/>
          </a:xfrm>
          <a:prstGeom prst="rect">
            <a:avLst/>
          </a:prstGeom>
          <a:solidFill>
            <a:srgbClr val="E67E22"/>
          </a:solidFill>
          <a:ln/>
        </p:spPr>
      </p:sp>
      <p:sp>
        <p:nvSpPr>
          <p:cNvPr id="14" name="Text 12"/>
          <p:cNvSpPr/>
          <p:nvPr/>
        </p:nvSpPr>
        <p:spPr>
          <a:xfrm>
            <a:off x="457200" y="3602736"/>
            <a:ext cx="502920" cy="347472"/>
          </a:xfrm>
          <a:prstGeom prst="rect">
            <a:avLst/>
          </a:prstGeom>
          <a:noFill/>
          <a:ln/>
        </p:spPr>
        <p:txBody>
          <a:bodyPr wrap="square" lIns="0" tIns="0" rIns="0" bIns="0" rtlCol="0" anchor="ctr"/>
          <a:lstStyle/>
          <a:p>
            <a:pPr marL="0" indent="0">
              <a:buNone/>
            </a:pPr>
            <a:r>
              <a:rPr lang="en-US" sz="1100" b="1" dirty="0">
                <a:solidFill>
                  <a:srgbClr val="E67E22"/>
                </a:solidFill>
              </a:rPr>
              <a:t>03</a:t>
            </a:r>
            <a:endParaRPr lang="en-US" sz="1100" dirty="0"/>
          </a:p>
        </p:txBody>
      </p:sp>
      <p:sp>
        <p:nvSpPr>
          <p:cNvPr id="15" name="Text 13"/>
          <p:cNvSpPr/>
          <p:nvPr/>
        </p:nvSpPr>
        <p:spPr>
          <a:xfrm>
            <a:off x="475488" y="3913632"/>
            <a:ext cx="3657600" cy="594360"/>
          </a:xfrm>
          <a:prstGeom prst="rect">
            <a:avLst/>
          </a:prstGeom>
          <a:noFill/>
          <a:ln/>
        </p:spPr>
        <p:txBody>
          <a:bodyPr wrap="square" lIns="0" tIns="0" rIns="0" bIns="0" rtlCol="0" anchor="ctr"/>
          <a:lstStyle/>
          <a:p>
            <a:pPr marL="0" indent="0">
              <a:buNone/>
            </a:pPr>
            <a:r>
              <a:rPr lang="en-US" sz="1400" b="1" dirty="0">
                <a:solidFill>
                  <a:srgbClr val="2C3E50"/>
                </a:solidFill>
              </a:rPr>
              <a:t>Social Engineering Tactics</a:t>
            </a:r>
            <a:endParaRPr lang="en-US" sz="1400" dirty="0"/>
          </a:p>
        </p:txBody>
      </p:sp>
      <p:sp>
        <p:nvSpPr>
          <p:cNvPr id="16" name="Shape 14"/>
          <p:cNvSpPr/>
          <p:nvPr/>
        </p:nvSpPr>
        <p:spPr>
          <a:xfrm>
            <a:off x="4709160" y="1005840"/>
            <a:ext cx="4160520" cy="1097280"/>
          </a:xfrm>
          <a:prstGeom prst="rect">
            <a:avLst/>
          </a:prstGeom>
          <a:solidFill>
            <a:srgbClr val="FFFFFF"/>
          </a:solidFill>
          <a:ln/>
          <a:effectLst>
            <a:outerShdw blurRad="101600" dist="38100" dir="8100000" algn="bl" rotWithShape="0">
              <a:srgbClr val="000000">
                <a:alpha val="18000"/>
              </a:srgbClr>
            </a:outerShdw>
          </a:effectLst>
        </p:spPr>
      </p:sp>
      <p:sp>
        <p:nvSpPr>
          <p:cNvPr id="17" name="Shape 15"/>
          <p:cNvSpPr/>
          <p:nvPr/>
        </p:nvSpPr>
        <p:spPr>
          <a:xfrm>
            <a:off x="4709160" y="1005840"/>
            <a:ext cx="109728" cy="1097280"/>
          </a:xfrm>
          <a:prstGeom prst="rect">
            <a:avLst/>
          </a:prstGeom>
          <a:solidFill>
            <a:srgbClr val="1E8449"/>
          </a:solidFill>
          <a:ln/>
        </p:spPr>
      </p:sp>
      <p:sp>
        <p:nvSpPr>
          <p:cNvPr id="18" name="Text 16"/>
          <p:cNvSpPr/>
          <p:nvPr/>
        </p:nvSpPr>
        <p:spPr>
          <a:xfrm>
            <a:off x="4892040" y="1078992"/>
            <a:ext cx="502920" cy="347472"/>
          </a:xfrm>
          <a:prstGeom prst="rect">
            <a:avLst/>
          </a:prstGeom>
          <a:noFill/>
          <a:ln/>
        </p:spPr>
        <p:txBody>
          <a:bodyPr wrap="square" lIns="0" tIns="0" rIns="0" bIns="0" rtlCol="0" anchor="ctr"/>
          <a:lstStyle/>
          <a:p>
            <a:pPr marL="0" indent="0">
              <a:buNone/>
            </a:pPr>
            <a:r>
              <a:rPr lang="en-US" sz="1100" b="1" dirty="0">
                <a:solidFill>
                  <a:srgbClr val="1E8449"/>
                </a:solidFill>
              </a:rPr>
              <a:t>04</a:t>
            </a:r>
            <a:endParaRPr lang="en-US" sz="1100" dirty="0"/>
          </a:p>
        </p:txBody>
      </p:sp>
      <p:sp>
        <p:nvSpPr>
          <p:cNvPr id="19" name="Text 17"/>
          <p:cNvSpPr/>
          <p:nvPr/>
        </p:nvSpPr>
        <p:spPr>
          <a:xfrm>
            <a:off x="4910328" y="1389888"/>
            <a:ext cx="3657600" cy="594360"/>
          </a:xfrm>
          <a:prstGeom prst="rect">
            <a:avLst/>
          </a:prstGeom>
          <a:noFill/>
          <a:ln/>
        </p:spPr>
        <p:txBody>
          <a:bodyPr wrap="square" lIns="0" tIns="0" rIns="0" bIns="0" rtlCol="0" anchor="ctr"/>
          <a:lstStyle/>
          <a:p>
            <a:pPr marL="0" indent="0">
              <a:buNone/>
            </a:pPr>
            <a:r>
              <a:rPr lang="en-US" sz="1400" b="1" dirty="0">
                <a:solidFill>
                  <a:srgbClr val="2C3E50"/>
                </a:solidFill>
              </a:rPr>
              <a:t>Best Practices &amp; Quick Actions</a:t>
            </a:r>
            <a:endParaRPr lang="en-US" sz="1400" dirty="0"/>
          </a:p>
        </p:txBody>
      </p:sp>
      <p:sp>
        <p:nvSpPr>
          <p:cNvPr id="20" name="Shape 18"/>
          <p:cNvSpPr/>
          <p:nvPr/>
        </p:nvSpPr>
        <p:spPr>
          <a:xfrm>
            <a:off x="4709160" y="2267712"/>
            <a:ext cx="4160520" cy="1097280"/>
          </a:xfrm>
          <a:prstGeom prst="rect">
            <a:avLst/>
          </a:prstGeom>
          <a:solidFill>
            <a:srgbClr val="FFFFFF"/>
          </a:solidFill>
          <a:ln/>
          <a:effectLst>
            <a:outerShdw blurRad="101600" dist="38100" dir="8100000" algn="bl" rotWithShape="0">
              <a:srgbClr val="000000">
                <a:alpha val="18000"/>
              </a:srgbClr>
            </a:outerShdw>
          </a:effectLst>
        </p:spPr>
      </p:sp>
      <p:sp>
        <p:nvSpPr>
          <p:cNvPr id="21" name="Shape 19"/>
          <p:cNvSpPr/>
          <p:nvPr/>
        </p:nvSpPr>
        <p:spPr>
          <a:xfrm>
            <a:off x="4709160" y="2267712"/>
            <a:ext cx="109728" cy="1097280"/>
          </a:xfrm>
          <a:prstGeom prst="rect">
            <a:avLst/>
          </a:prstGeom>
          <a:solidFill>
            <a:srgbClr val="C0392B"/>
          </a:solidFill>
          <a:ln/>
        </p:spPr>
      </p:sp>
      <p:sp>
        <p:nvSpPr>
          <p:cNvPr id="22" name="Text 20"/>
          <p:cNvSpPr/>
          <p:nvPr/>
        </p:nvSpPr>
        <p:spPr>
          <a:xfrm>
            <a:off x="4892040" y="2340864"/>
            <a:ext cx="502920" cy="347472"/>
          </a:xfrm>
          <a:prstGeom prst="rect">
            <a:avLst/>
          </a:prstGeom>
          <a:noFill/>
          <a:ln/>
        </p:spPr>
        <p:txBody>
          <a:bodyPr wrap="square" lIns="0" tIns="0" rIns="0" bIns="0" rtlCol="0" anchor="ctr"/>
          <a:lstStyle/>
          <a:p>
            <a:pPr marL="0" indent="0">
              <a:buNone/>
            </a:pPr>
            <a:r>
              <a:rPr lang="en-US" sz="1100" b="1" dirty="0">
                <a:solidFill>
                  <a:srgbClr val="C0392B"/>
                </a:solidFill>
              </a:rPr>
              <a:t>05</a:t>
            </a:r>
            <a:endParaRPr lang="en-US" sz="1100" dirty="0"/>
          </a:p>
        </p:txBody>
      </p:sp>
      <p:sp>
        <p:nvSpPr>
          <p:cNvPr id="23" name="Text 21"/>
          <p:cNvSpPr/>
          <p:nvPr/>
        </p:nvSpPr>
        <p:spPr>
          <a:xfrm>
            <a:off x="4910328" y="2651760"/>
            <a:ext cx="3657600" cy="594360"/>
          </a:xfrm>
          <a:prstGeom prst="rect">
            <a:avLst/>
          </a:prstGeom>
          <a:noFill/>
          <a:ln/>
        </p:spPr>
        <p:txBody>
          <a:bodyPr wrap="square" lIns="0" tIns="0" rIns="0" bIns="0" rtlCol="0" anchor="ctr"/>
          <a:lstStyle/>
          <a:p>
            <a:pPr marL="0" indent="0">
              <a:buNone/>
            </a:pPr>
            <a:r>
              <a:rPr lang="en-US" sz="1400" b="1" dirty="0">
                <a:solidFill>
                  <a:srgbClr val="2C3E50"/>
                </a:solidFill>
              </a:rPr>
              <a:t>Real-World Examples</a:t>
            </a:r>
            <a:endParaRPr lang="en-US" sz="1400" dirty="0"/>
          </a:p>
        </p:txBody>
      </p:sp>
      <p:sp>
        <p:nvSpPr>
          <p:cNvPr id="24" name="Shape 22"/>
          <p:cNvSpPr/>
          <p:nvPr/>
        </p:nvSpPr>
        <p:spPr>
          <a:xfrm>
            <a:off x="4709160" y="3529584"/>
            <a:ext cx="4160520" cy="1097280"/>
          </a:xfrm>
          <a:prstGeom prst="rect">
            <a:avLst/>
          </a:prstGeom>
          <a:solidFill>
            <a:srgbClr val="FFFFFF"/>
          </a:solidFill>
          <a:ln/>
          <a:effectLst>
            <a:outerShdw blurRad="101600" dist="38100" dir="8100000" algn="bl" rotWithShape="0">
              <a:srgbClr val="000000">
                <a:alpha val="18000"/>
              </a:srgbClr>
            </a:outerShdw>
          </a:effectLst>
        </p:spPr>
      </p:sp>
      <p:sp>
        <p:nvSpPr>
          <p:cNvPr id="25" name="Shape 23"/>
          <p:cNvSpPr/>
          <p:nvPr/>
        </p:nvSpPr>
        <p:spPr>
          <a:xfrm>
            <a:off x="4709160" y="3529584"/>
            <a:ext cx="109728" cy="1097280"/>
          </a:xfrm>
          <a:prstGeom prst="rect">
            <a:avLst/>
          </a:prstGeom>
          <a:solidFill>
            <a:srgbClr val="2C3E50"/>
          </a:solidFill>
          <a:ln/>
        </p:spPr>
      </p:sp>
      <p:sp>
        <p:nvSpPr>
          <p:cNvPr id="26" name="Text 24"/>
          <p:cNvSpPr/>
          <p:nvPr/>
        </p:nvSpPr>
        <p:spPr>
          <a:xfrm>
            <a:off x="4892040" y="3602736"/>
            <a:ext cx="502920" cy="347472"/>
          </a:xfrm>
          <a:prstGeom prst="rect">
            <a:avLst/>
          </a:prstGeom>
          <a:noFill/>
          <a:ln/>
        </p:spPr>
        <p:txBody>
          <a:bodyPr wrap="square" lIns="0" tIns="0" rIns="0" bIns="0" rtlCol="0" anchor="ctr"/>
          <a:lstStyle/>
          <a:p>
            <a:pPr marL="0" indent="0">
              <a:buNone/>
            </a:pPr>
            <a:r>
              <a:rPr lang="en-US" sz="1100" b="1" dirty="0">
                <a:solidFill>
                  <a:srgbClr val="2C3E50"/>
                </a:solidFill>
              </a:rPr>
              <a:t>06</a:t>
            </a:r>
            <a:endParaRPr lang="en-US" sz="1100" dirty="0"/>
          </a:p>
        </p:txBody>
      </p:sp>
      <p:sp>
        <p:nvSpPr>
          <p:cNvPr id="27" name="Text 25"/>
          <p:cNvSpPr/>
          <p:nvPr/>
        </p:nvSpPr>
        <p:spPr>
          <a:xfrm>
            <a:off x="4910328" y="3913632"/>
            <a:ext cx="3657600" cy="594360"/>
          </a:xfrm>
          <a:prstGeom prst="rect">
            <a:avLst/>
          </a:prstGeom>
          <a:noFill/>
          <a:ln/>
        </p:spPr>
        <p:txBody>
          <a:bodyPr wrap="square" lIns="0" tIns="0" rIns="0" bIns="0" rtlCol="0" anchor="ctr"/>
          <a:lstStyle/>
          <a:p>
            <a:pPr marL="0" indent="0">
              <a:buNone/>
            </a:pPr>
            <a:r>
              <a:rPr lang="en-US" sz="1400" b="1" dirty="0">
                <a:solidFill>
                  <a:srgbClr val="2C3E50"/>
                </a:solidFill>
              </a:rPr>
              <a:t>Interactive Quizzes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F72"/>
          </a:solidFill>
          <a:ln/>
        </p:spPr>
      </p:sp>
      <p:sp>
        <p:nvSpPr>
          <p:cNvPr id="3" name="Text 1"/>
          <p:cNvSpPr/>
          <p:nvPr/>
        </p:nvSpPr>
        <p:spPr>
          <a:xfrm>
            <a:off x="365760" y="73152"/>
            <a:ext cx="8229600" cy="594360"/>
          </a:xfrm>
          <a:prstGeom prst="rect">
            <a:avLst/>
          </a:prstGeom>
          <a:noFill/>
          <a:ln/>
        </p:spPr>
        <p:txBody>
          <a:bodyPr wrap="square" lIns="0" tIns="0" rIns="0" bIns="0" rtlCol="0" anchor="ctr"/>
          <a:lstStyle/>
          <a:p>
            <a:pPr marL="0" indent="0">
              <a:buNone/>
            </a:pPr>
            <a:r>
              <a:rPr lang="en-US" sz="2600" b="1" dirty="0">
                <a:solidFill>
                  <a:srgbClr val="FFFFFF"/>
                </a:solidFill>
              </a:rPr>
              <a:t>Why Should You Care?</a:t>
            </a:r>
            <a:endParaRPr lang="en-US" sz="2600" dirty="0"/>
          </a:p>
        </p:txBody>
      </p:sp>
      <p:sp>
        <p:nvSpPr>
          <p:cNvPr id="4" name="Shape 2"/>
          <p:cNvSpPr/>
          <p:nvPr/>
        </p:nvSpPr>
        <p:spPr>
          <a:xfrm>
            <a:off x="274320" y="914400"/>
            <a:ext cx="2743200" cy="2926080"/>
          </a:xfrm>
          <a:prstGeom prst="rect">
            <a:avLst/>
          </a:prstGeom>
          <a:solidFill>
            <a:srgbClr val="1B4F72"/>
          </a:solidFill>
          <a:ln/>
          <a:effectLst>
            <a:outerShdw blurRad="101600" dist="38100" dir="8100000" algn="bl" rotWithShape="0">
              <a:srgbClr val="000000">
                <a:alpha val="18000"/>
              </a:srgbClr>
            </a:outerShdw>
          </a:effectLst>
        </p:spPr>
      </p:sp>
      <p:sp>
        <p:nvSpPr>
          <p:cNvPr id="5" name="Shape 3"/>
          <p:cNvSpPr/>
          <p:nvPr/>
        </p:nvSpPr>
        <p:spPr>
          <a:xfrm>
            <a:off x="274320" y="914400"/>
            <a:ext cx="2743200" cy="91440"/>
          </a:xfrm>
          <a:prstGeom prst="rect">
            <a:avLst/>
          </a:prstGeom>
          <a:solidFill>
            <a:srgbClr val="148F77"/>
          </a:solidFill>
          <a:ln/>
        </p:spPr>
      </p:sp>
      <p:sp>
        <p:nvSpPr>
          <p:cNvPr id="6" name="Text 4"/>
          <p:cNvSpPr/>
          <p:nvPr/>
        </p:nvSpPr>
        <p:spPr>
          <a:xfrm>
            <a:off x="274320" y="1097280"/>
            <a:ext cx="2743200" cy="914400"/>
          </a:xfrm>
          <a:prstGeom prst="rect">
            <a:avLst/>
          </a:prstGeom>
          <a:noFill/>
          <a:ln/>
        </p:spPr>
        <p:txBody>
          <a:bodyPr wrap="square" lIns="0" tIns="0" rIns="0" bIns="0" rtlCol="0" anchor="ctr"/>
          <a:lstStyle/>
          <a:p>
            <a:pPr marL="0" indent="0" algn="ctr">
              <a:buNone/>
            </a:pPr>
            <a:r>
              <a:rPr lang="en-US" sz="4600" b="1" dirty="0">
                <a:solidFill>
                  <a:srgbClr val="148F77"/>
                </a:solidFill>
              </a:rPr>
              <a:t>91%</a:t>
            </a:r>
            <a:endParaRPr lang="en-US" sz="4600" dirty="0"/>
          </a:p>
        </p:txBody>
      </p:sp>
      <p:sp>
        <p:nvSpPr>
          <p:cNvPr id="7" name="Text 5"/>
          <p:cNvSpPr/>
          <p:nvPr/>
        </p:nvSpPr>
        <p:spPr>
          <a:xfrm>
            <a:off x="411480" y="2103120"/>
            <a:ext cx="2468880" cy="1371600"/>
          </a:xfrm>
          <a:prstGeom prst="rect">
            <a:avLst/>
          </a:prstGeom>
          <a:noFill/>
          <a:ln/>
        </p:spPr>
        <p:txBody>
          <a:bodyPr wrap="square" lIns="0" tIns="0" rIns="0" bIns="0" rtlCol="0" anchor="ctr"/>
          <a:lstStyle/>
          <a:p>
            <a:pPr marL="0" indent="0" algn="ctr">
              <a:buNone/>
            </a:pPr>
            <a:r>
              <a:rPr lang="en-US" sz="1400" dirty="0">
                <a:solidFill>
                  <a:srgbClr val="CDD3DC"/>
                </a:solidFill>
              </a:rPr>
              <a:t>of cyberattacks</a:t>
            </a:r>
            <a:endParaRPr lang="en-US" sz="1400" dirty="0"/>
          </a:p>
          <a:p>
            <a:pPr marL="0" indent="0" algn="ctr">
              <a:buNone/>
            </a:pPr>
            <a:r>
              <a:rPr lang="en-US" sz="1400" dirty="0">
                <a:solidFill>
                  <a:srgbClr val="CDD3DC"/>
                </a:solidFill>
              </a:rPr>
              <a:t>start with a</a:t>
            </a:r>
            <a:endParaRPr lang="en-US" sz="1400" dirty="0"/>
          </a:p>
          <a:p>
            <a:pPr marL="0" indent="0" algn="ctr">
              <a:buNone/>
            </a:pPr>
            <a:r>
              <a:rPr lang="en-US" sz="1400" dirty="0">
                <a:solidFill>
                  <a:srgbClr val="CDD3DC"/>
                </a:solidFill>
              </a:rPr>
              <a:t>phishing email</a:t>
            </a:r>
            <a:endParaRPr lang="en-US" sz="1400" dirty="0"/>
          </a:p>
        </p:txBody>
      </p:sp>
      <p:sp>
        <p:nvSpPr>
          <p:cNvPr id="8" name="Shape 6"/>
          <p:cNvSpPr/>
          <p:nvPr/>
        </p:nvSpPr>
        <p:spPr>
          <a:xfrm>
            <a:off x="3200400" y="914400"/>
            <a:ext cx="2743200" cy="2926080"/>
          </a:xfrm>
          <a:prstGeom prst="rect">
            <a:avLst/>
          </a:prstGeom>
          <a:solidFill>
            <a:srgbClr val="1B4F72"/>
          </a:solidFill>
          <a:ln/>
          <a:effectLst>
            <a:outerShdw blurRad="101600" dist="38100" dir="8100000" algn="bl" rotWithShape="0">
              <a:srgbClr val="000000">
                <a:alpha val="18000"/>
              </a:srgbClr>
            </a:outerShdw>
          </a:effectLst>
        </p:spPr>
      </p:sp>
      <p:sp>
        <p:nvSpPr>
          <p:cNvPr id="9" name="Shape 7"/>
          <p:cNvSpPr/>
          <p:nvPr/>
        </p:nvSpPr>
        <p:spPr>
          <a:xfrm>
            <a:off x="3200400" y="914400"/>
            <a:ext cx="2743200" cy="91440"/>
          </a:xfrm>
          <a:prstGeom prst="rect">
            <a:avLst/>
          </a:prstGeom>
          <a:solidFill>
            <a:srgbClr val="148F77"/>
          </a:solidFill>
          <a:ln/>
        </p:spPr>
      </p:sp>
      <p:sp>
        <p:nvSpPr>
          <p:cNvPr id="10" name="Text 8"/>
          <p:cNvSpPr/>
          <p:nvPr/>
        </p:nvSpPr>
        <p:spPr>
          <a:xfrm>
            <a:off x="3200400" y="1097280"/>
            <a:ext cx="2743200" cy="914400"/>
          </a:xfrm>
          <a:prstGeom prst="rect">
            <a:avLst/>
          </a:prstGeom>
          <a:noFill/>
          <a:ln/>
        </p:spPr>
        <p:txBody>
          <a:bodyPr wrap="square" lIns="0" tIns="0" rIns="0" bIns="0" rtlCol="0" anchor="ctr"/>
          <a:lstStyle/>
          <a:p>
            <a:pPr marL="0" indent="0" algn="ctr">
              <a:buNone/>
            </a:pPr>
            <a:r>
              <a:rPr lang="en-US" sz="4600" b="1" dirty="0">
                <a:solidFill>
                  <a:srgbClr val="148F77"/>
                </a:solidFill>
              </a:rPr>
              <a:t>3.4B</a:t>
            </a:r>
            <a:endParaRPr lang="en-US" sz="4600" dirty="0"/>
          </a:p>
        </p:txBody>
      </p:sp>
      <p:sp>
        <p:nvSpPr>
          <p:cNvPr id="11" name="Text 9"/>
          <p:cNvSpPr/>
          <p:nvPr/>
        </p:nvSpPr>
        <p:spPr>
          <a:xfrm>
            <a:off x="3337560" y="2103120"/>
            <a:ext cx="2468880" cy="1371600"/>
          </a:xfrm>
          <a:prstGeom prst="rect">
            <a:avLst/>
          </a:prstGeom>
          <a:noFill/>
          <a:ln/>
        </p:spPr>
        <p:txBody>
          <a:bodyPr wrap="square" lIns="0" tIns="0" rIns="0" bIns="0" rtlCol="0" anchor="ctr"/>
          <a:lstStyle/>
          <a:p>
            <a:pPr marL="0" indent="0" algn="ctr">
              <a:buNone/>
            </a:pPr>
            <a:r>
              <a:rPr lang="en-US" sz="1400" dirty="0">
                <a:solidFill>
                  <a:srgbClr val="CDD3DC"/>
                </a:solidFill>
              </a:rPr>
              <a:t>phishing emails</a:t>
            </a:r>
            <a:endParaRPr lang="en-US" sz="1400" dirty="0"/>
          </a:p>
          <a:p>
            <a:pPr marL="0" indent="0" algn="ctr">
              <a:buNone/>
            </a:pPr>
            <a:r>
              <a:rPr lang="en-US" sz="1400" dirty="0">
                <a:solidFill>
                  <a:srgbClr val="CDD3DC"/>
                </a:solidFill>
              </a:rPr>
              <a:t>sent every</a:t>
            </a:r>
            <a:endParaRPr lang="en-US" sz="1400" dirty="0"/>
          </a:p>
          <a:p>
            <a:pPr marL="0" indent="0" algn="ctr">
              <a:buNone/>
            </a:pPr>
            <a:r>
              <a:rPr lang="en-US" sz="1400" dirty="0">
                <a:solidFill>
                  <a:srgbClr val="CDD3DC"/>
                </a:solidFill>
              </a:rPr>
              <a:t>single day</a:t>
            </a:r>
            <a:endParaRPr lang="en-US" sz="1400" dirty="0"/>
          </a:p>
        </p:txBody>
      </p:sp>
      <p:sp>
        <p:nvSpPr>
          <p:cNvPr id="12" name="Shape 10"/>
          <p:cNvSpPr/>
          <p:nvPr/>
        </p:nvSpPr>
        <p:spPr>
          <a:xfrm>
            <a:off x="6126480" y="914400"/>
            <a:ext cx="2743200" cy="2926080"/>
          </a:xfrm>
          <a:prstGeom prst="rect">
            <a:avLst/>
          </a:prstGeom>
          <a:solidFill>
            <a:srgbClr val="1B4F72"/>
          </a:solidFill>
          <a:ln/>
          <a:effectLst>
            <a:outerShdw blurRad="101600" dist="38100" dir="8100000" algn="bl" rotWithShape="0">
              <a:srgbClr val="000000">
                <a:alpha val="18000"/>
              </a:srgbClr>
            </a:outerShdw>
          </a:effectLst>
        </p:spPr>
      </p:sp>
      <p:sp>
        <p:nvSpPr>
          <p:cNvPr id="13" name="Shape 11"/>
          <p:cNvSpPr/>
          <p:nvPr/>
        </p:nvSpPr>
        <p:spPr>
          <a:xfrm>
            <a:off x="6126480" y="914400"/>
            <a:ext cx="2743200" cy="91440"/>
          </a:xfrm>
          <a:prstGeom prst="rect">
            <a:avLst/>
          </a:prstGeom>
          <a:solidFill>
            <a:srgbClr val="148F77"/>
          </a:solidFill>
          <a:ln/>
        </p:spPr>
      </p:sp>
      <p:sp>
        <p:nvSpPr>
          <p:cNvPr id="14" name="Text 12"/>
          <p:cNvSpPr/>
          <p:nvPr/>
        </p:nvSpPr>
        <p:spPr>
          <a:xfrm>
            <a:off x="6126480" y="1097280"/>
            <a:ext cx="2743200" cy="914400"/>
          </a:xfrm>
          <a:prstGeom prst="rect">
            <a:avLst/>
          </a:prstGeom>
          <a:noFill/>
          <a:ln/>
        </p:spPr>
        <p:txBody>
          <a:bodyPr wrap="square" lIns="0" tIns="0" rIns="0" bIns="0" rtlCol="0" anchor="ctr"/>
          <a:lstStyle/>
          <a:p>
            <a:pPr marL="0" indent="0" algn="ctr">
              <a:buNone/>
            </a:pPr>
            <a:r>
              <a:rPr lang="en-US" sz="4600" b="1" dirty="0">
                <a:solidFill>
                  <a:srgbClr val="148F77"/>
                </a:solidFill>
              </a:rPr>
              <a:t>$4.9M</a:t>
            </a:r>
            <a:endParaRPr lang="en-US" sz="4600" dirty="0"/>
          </a:p>
        </p:txBody>
      </p:sp>
      <p:sp>
        <p:nvSpPr>
          <p:cNvPr id="15" name="Text 13"/>
          <p:cNvSpPr/>
          <p:nvPr/>
        </p:nvSpPr>
        <p:spPr>
          <a:xfrm>
            <a:off x="6263640" y="2103120"/>
            <a:ext cx="2468880" cy="1371600"/>
          </a:xfrm>
          <a:prstGeom prst="rect">
            <a:avLst/>
          </a:prstGeom>
          <a:noFill/>
          <a:ln/>
        </p:spPr>
        <p:txBody>
          <a:bodyPr wrap="square" lIns="0" tIns="0" rIns="0" bIns="0" rtlCol="0" anchor="ctr"/>
          <a:lstStyle/>
          <a:p>
            <a:pPr marL="0" indent="0" algn="ctr">
              <a:buNone/>
            </a:pPr>
            <a:r>
              <a:rPr lang="en-US" sz="1400" dirty="0">
                <a:solidFill>
                  <a:srgbClr val="CDD3DC"/>
                </a:solidFill>
              </a:rPr>
              <a:t>average cost of</a:t>
            </a:r>
            <a:endParaRPr lang="en-US" sz="1400" dirty="0"/>
          </a:p>
          <a:p>
            <a:pPr marL="0" indent="0" algn="ctr">
              <a:buNone/>
            </a:pPr>
            <a:r>
              <a:rPr lang="en-US" sz="1400" dirty="0">
                <a:solidFill>
                  <a:srgbClr val="CDD3DC"/>
                </a:solidFill>
              </a:rPr>
              <a:t>a data breach</a:t>
            </a:r>
            <a:endParaRPr lang="en-US" sz="1400" dirty="0"/>
          </a:p>
          <a:p>
            <a:pPr marL="0" indent="0" algn="ctr">
              <a:buNone/>
            </a:pPr>
            <a:r>
              <a:rPr lang="en-US" sz="1400" dirty="0">
                <a:solidFill>
                  <a:srgbClr val="CDD3DC"/>
                </a:solidFill>
              </a:rPr>
              <a:t>in 2024</a:t>
            </a:r>
            <a:endParaRPr lang="en-US" sz="1400" dirty="0"/>
          </a:p>
        </p:txBody>
      </p:sp>
      <p:pic>
        <p:nvPicPr>
          <p:cNvPr id="16" name="Image 0" descr="preencoded.png"/>
          <p:cNvPicPr>
            <a:picLocks noChangeAspect="1"/>
          </p:cNvPicPr>
          <p:nvPr/>
        </p:nvPicPr>
        <p:blipFill>
          <a:blip r:embed="rId3"/>
          <a:stretch>
            <a:fillRect/>
          </a:stretch>
        </p:blipFill>
        <p:spPr>
          <a:xfrm>
            <a:off x="3886200" y="4023360"/>
            <a:ext cx="411480" cy="411480"/>
          </a:xfrm>
          <a:prstGeom prst="rect">
            <a:avLst/>
          </a:prstGeom>
        </p:spPr>
      </p:pic>
      <p:sp>
        <p:nvSpPr>
          <p:cNvPr id="17" name="Text 14"/>
          <p:cNvSpPr/>
          <p:nvPr/>
        </p:nvSpPr>
        <p:spPr>
          <a:xfrm>
            <a:off x="4389120" y="4023360"/>
            <a:ext cx="4389120" cy="457200"/>
          </a:xfrm>
          <a:prstGeom prst="rect">
            <a:avLst/>
          </a:prstGeom>
          <a:noFill/>
          <a:ln/>
        </p:spPr>
        <p:txBody>
          <a:bodyPr wrap="square" lIns="0" tIns="0" rIns="0" bIns="0" rtlCol="0" anchor="ctr"/>
          <a:lstStyle/>
          <a:p>
            <a:pPr marL="0" indent="0">
              <a:buNone/>
            </a:pPr>
            <a:r>
              <a:rPr lang="en-US" sz="1300" i="1" dirty="0">
                <a:solidFill>
                  <a:srgbClr val="F4D03F"/>
                </a:solidFill>
              </a:rPr>
              <a:t>Phishing is the #1 attack vector — and it targets people, not just systems.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F72"/>
          </a:solidFill>
          <a:ln/>
        </p:spPr>
      </p:sp>
      <p:sp>
        <p:nvSpPr>
          <p:cNvPr id="3" name="Text 1"/>
          <p:cNvSpPr/>
          <p:nvPr/>
        </p:nvSpPr>
        <p:spPr>
          <a:xfrm>
            <a:off x="365760" y="73152"/>
            <a:ext cx="8229600" cy="594360"/>
          </a:xfrm>
          <a:prstGeom prst="rect">
            <a:avLst/>
          </a:prstGeom>
          <a:noFill/>
          <a:ln/>
        </p:spPr>
        <p:txBody>
          <a:bodyPr wrap="square" lIns="0" tIns="0" rIns="0" bIns="0" rtlCol="0" anchor="ctr"/>
          <a:lstStyle/>
          <a:p>
            <a:pPr marL="0" indent="0">
              <a:buNone/>
            </a:pPr>
            <a:r>
              <a:rPr lang="en-US" sz="2400" b="1" dirty="0">
                <a:solidFill>
                  <a:srgbClr val="FFFFFF"/>
                </a:solidFill>
              </a:rPr>
              <a:t>📧  Recognizing Phishing Emails</a:t>
            </a:r>
            <a:endParaRPr lang="en-US" sz="2400" dirty="0"/>
          </a:p>
        </p:txBody>
      </p:sp>
      <p:sp>
        <p:nvSpPr>
          <p:cNvPr id="4" name="Text 2"/>
          <p:cNvSpPr/>
          <p:nvPr/>
        </p:nvSpPr>
        <p:spPr>
          <a:xfrm>
            <a:off x="7772400" y="128016"/>
            <a:ext cx="1280160" cy="365760"/>
          </a:xfrm>
          <a:prstGeom prst="rect">
            <a:avLst/>
          </a:prstGeom>
          <a:noFill/>
          <a:ln/>
        </p:spPr>
        <p:txBody>
          <a:bodyPr wrap="square" lIns="0" tIns="0" rIns="0" bIns="0" rtlCol="0" anchor="ctr"/>
          <a:lstStyle/>
          <a:p>
            <a:pPr marL="0" indent="0" algn="r">
              <a:buNone/>
            </a:pPr>
            <a:r>
              <a:rPr lang="en-US" sz="1000" dirty="0">
                <a:solidFill>
                  <a:srgbClr val="148F77"/>
                </a:solidFill>
              </a:rPr>
              <a:t>Section 1 of 6</a:t>
            </a:r>
            <a:endParaRPr lang="en-US" sz="1000" dirty="0"/>
          </a:p>
        </p:txBody>
      </p:sp>
      <p:sp>
        <p:nvSpPr>
          <p:cNvPr id="5" name="Shape 3"/>
          <p:cNvSpPr/>
          <p:nvPr/>
        </p:nvSpPr>
        <p:spPr>
          <a:xfrm>
            <a:off x="228600" y="960120"/>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28600" y="960120"/>
            <a:ext cx="109728" cy="1170432"/>
          </a:xfrm>
          <a:prstGeom prst="rect">
            <a:avLst/>
          </a:prstGeom>
          <a:solidFill>
            <a:srgbClr val="E74C3C"/>
          </a:solidFill>
          <a:ln/>
        </p:spPr>
      </p:sp>
      <p:pic>
        <p:nvPicPr>
          <p:cNvPr id="7" name="Image 0" descr="preencoded.png"/>
          <p:cNvPicPr>
            <a:picLocks noChangeAspect="1"/>
          </p:cNvPicPr>
          <p:nvPr/>
        </p:nvPicPr>
        <p:blipFill>
          <a:blip r:embed="rId3"/>
          <a:stretch>
            <a:fillRect/>
          </a:stretch>
        </p:blipFill>
        <p:spPr>
          <a:xfrm>
            <a:off x="411480" y="1216152"/>
            <a:ext cx="502920" cy="502920"/>
          </a:xfrm>
          <a:prstGeom prst="rect">
            <a:avLst/>
          </a:prstGeom>
        </p:spPr>
      </p:pic>
      <p:sp>
        <p:nvSpPr>
          <p:cNvPr id="8" name="Text 5"/>
          <p:cNvSpPr/>
          <p:nvPr/>
        </p:nvSpPr>
        <p:spPr>
          <a:xfrm>
            <a:off x="1005840" y="1051560"/>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Suspicious Sender</a:t>
            </a:r>
            <a:endParaRPr lang="en-US" sz="1300" dirty="0"/>
          </a:p>
        </p:txBody>
      </p:sp>
      <p:sp>
        <p:nvSpPr>
          <p:cNvPr id="9" name="Text 6"/>
          <p:cNvSpPr/>
          <p:nvPr/>
        </p:nvSpPr>
        <p:spPr>
          <a:xfrm>
            <a:off x="1005840" y="1435608"/>
            <a:ext cx="3291840" cy="640080"/>
          </a:xfrm>
          <a:prstGeom prst="rect">
            <a:avLst/>
          </a:prstGeom>
          <a:noFill/>
          <a:ln/>
        </p:spPr>
        <p:txBody>
          <a:bodyPr wrap="square" lIns="0" tIns="0" rIns="0" bIns="0" rtlCol="0" anchor="ctr"/>
          <a:lstStyle/>
          <a:p>
            <a:pPr marL="0" indent="0">
              <a:buNone/>
            </a:pPr>
            <a:r>
              <a:rPr lang="en-US" sz="1050" dirty="0">
                <a:solidFill>
                  <a:srgbClr val="7F8C8D"/>
                </a:solidFill>
              </a:rPr>
              <a:t>Domain doesn't match the real company</a:t>
            </a:r>
            <a:endParaRPr lang="en-US" sz="1050" dirty="0"/>
          </a:p>
          <a:p>
            <a:pPr marL="0" indent="0">
              <a:buNone/>
            </a:pPr>
            <a:r>
              <a:rPr lang="en-US" sz="1050" dirty="0">
                <a:solidFill>
                  <a:srgbClr val="7F8C8D"/>
                </a:solidFill>
              </a:rPr>
              <a:t>e.g. paypa1.com  or  support@amazon-help.net</a:t>
            </a:r>
            <a:endParaRPr lang="en-US" sz="1050" dirty="0"/>
          </a:p>
        </p:txBody>
      </p:sp>
      <p:sp>
        <p:nvSpPr>
          <p:cNvPr id="10" name="Shape 7"/>
          <p:cNvSpPr/>
          <p:nvPr/>
        </p:nvSpPr>
        <p:spPr>
          <a:xfrm>
            <a:off x="4690872" y="960120"/>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4690872" y="960120"/>
            <a:ext cx="109728" cy="1170432"/>
          </a:xfrm>
          <a:prstGeom prst="rect">
            <a:avLst/>
          </a:prstGeom>
          <a:solidFill>
            <a:srgbClr val="E67E22"/>
          </a:solidFill>
          <a:ln/>
        </p:spPr>
      </p:sp>
      <p:pic>
        <p:nvPicPr>
          <p:cNvPr id="12" name="Image 1" descr="preencoded.png"/>
          <p:cNvPicPr>
            <a:picLocks noChangeAspect="1"/>
          </p:cNvPicPr>
          <p:nvPr/>
        </p:nvPicPr>
        <p:blipFill>
          <a:blip r:embed="rId4"/>
          <a:stretch>
            <a:fillRect/>
          </a:stretch>
        </p:blipFill>
        <p:spPr>
          <a:xfrm>
            <a:off x="4873752" y="1216152"/>
            <a:ext cx="502920" cy="502920"/>
          </a:xfrm>
          <a:prstGeom prst="rect">
            <a:avLst/>
          </a:prstGeom>
        </p:spPr>
      </p:pic>
      <p:sp>
        <p:nvSpPr>
          <p:cNvPr id="13" name="Text 9"/>
          <p:cNvSpPr/>
          <p:nvPr/>
        </p:nvSpPr>
        <p:spPr>
          <a:xfrm>
            <a:off x="5468112" y="1051560"/>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Urgent / Threatening Language</a:t>
            </a:r>
            <a:endParaRPr lang="en-US" sz="1300" dirty="0"/>
          </a:p>
        </p:txBody>
      </p:sp>
      <p:sp>
        <p:nvSpPr>
          <p:cNvPr id="14" name="Text 10"/>
          <p:cNvSpPr/>
          <p:nvPr/>
        </p:nvSpPr>
        <p:spPr>
          <a:xfrm>
            <a:off x="5468112" y="1435608"/>
            <a:ext cx="3291840" cy="640080"/>
          </a:xfrm>
          <a:prstGeom prst="rect">
            <a:avLst/>
          </a:prstGeom>
          <a:noFill/>
          <a:ln/>
        </p:spPr>
        <p:txBody>
          <a:bodyPr wrap="square" lIns="0" tIns="0" rIns="0" bIns="0" rtlCol="0" anchor="ctr"/>
          <a:lstStyle/>
          <a:p>
            <a:pPr marL="0" indent="0">
              <a:buNone/>
            </a:pPr>
            <a:r>
              <a:rPr lang="en-US" sz="1050" dirty="0">
                <a:solidFill>
                  <a:srgbClr val="7F8C8D"/>
                </a:solidFill>
              </a:rPr>
              <a:t>"Your account will be suspended in 24 hours!"</a:t>
            </a:r>
            <a:endParaRPr lang="en-US" sz="1050" dirty="0"/>
          </a:p>
          <a:p>
            <a:pPr marL="0" indent="0">
              <a:buNone/>
            </a:pPr>
            <a:r>
              <a:rPr lang="en-US" sz="1050" dirty="0">
                <a:solidFill>
                  <a:srgbClr val="7F8C8D"/>
                </a:solidFill>
              </a:rPr>
              <a:t>Creates panic to bypass your judgment</a:t>
            </a:r>
            <a:endParaRPr lang="en-US" sz="1050" dirty="0"/>
          </a:p>
        </p:txBody>
      </p:sp>
      <p:sp>
        <p:nvSpPr>
          <p:cNvPr id="15" name="Shape 11"/>
          <p:cNvSpPr/>
          <p:nvPr/>
        </p:nvSpPr>
        <p:spPr>
          <a:xfrm>
            <a:off x="228600" y="2286000"/>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16" name="Shape 12"/>
          <p:cNvSpPr/>
          <p:nvPr/>
        </p:nvSpPr>
        <p:spPr>
          <a:xfrm>
            <a:off x="228600" y="2286000"/>
            <a:ext cx="109728" cy="1170432"/>
          </a:xfrm>
          <a:prstGeom prst="rect">
            <a:avLst/>
          </a:prstGeom>
          <a:solidFill>
            <a:srgbClr val="F4D03F"/>
          </a:solidFill>
          <a:ln/>
        </p:spPr>
      </p:sp>
      <p:pic>
        <p:nvPicPr>
          <p:cNvPr id="17" name="Image 2" descr="preencoded.png"/>
          <p:cNvPicPr>
            <a:picLocks noChangeAspect="1"/>
          </p:cNvPicPr>
          <p:nvPr/>
        </p:nvPicPr>
        <p:blipFill>
          <a:blip r:embed="rId5"/>
          <a:stretch>
            <a:fillRect/>
          </a:stretch>
        </p:blipFill>
        <p:spPr>
          <a:xfrm>
            <a:off x="411480" y="2542032"/>
            <a:ext cx="502920" cy="502920"/>
          </a:xfrm>
          <a:prstGeom prst="rect">
            <a:avLst/>
          </a:prstGeom>
        </p:spPr>
      </p:pic>
      <p:sp>
        <p:nvSpPr>
          <p:cNvPr id="18" name="Text 13"/>
          <p:cNvSpPr/>
          <p:nvPr/>
        </p:nvSpPr>
        <p:spPr>
          <a:xfrm>
            <a:off x="1005840" y="2377440"/>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Requests for Credentials</a:t>
            </a:r>
            <a:endParaRPr lang="en-US" sz="1300" dirty="0"/>
          </a:p>
        </p:txBody>
      </p:sp>
      <p:sp>
        <p:nvSpPr>
          <p:cNvPr id="19" name="Text 14"/>
          <p:cNvSpPr/>
          <p:nvPr/>
        </p:nvSpPr>
        <p:spPr>
          <a:xfrm>
            <a:off x="1005840" y="2761488"/>
            <a:ext cx="3291840" cy="640080"/>
          </a:xfrm>
          <a:prstGeom prst="rect">
            <a:avLst/>
          </a:prstGeom>
          <a:noFill/>
          <a:ln/>
        </p:spPr>
        <p:txBody>
          <a:bodyPr wrap="square" lIns="0" tIns="0" rIns="0" bIns="0" rtlCol="0" anchor="ctr"/>
          <a:lstStyle/>
          <a:p>
            <a:pPr marL="0" indent="0">
              <a:buNone/>
            </a:pPr>
            <a:r>
              <a:rPr lang="en-US" sz="1050" dirty="0">
                <a:solidFill>
                  <a:srgbClr val="7F8C8D"/>
                </a:solidFill>
              </a:rPr>
              <a:t>Legitimate companies never ask for passwords,</a:t>
            </a:r>
            <a:endParaRPr lang="en-US" sz="1050" dirty="0"/>
          </a:p>
          <a:p>
            <a:pPr marL="0" indent="0">
              <a:buNone/>
            </a:pPr>
            <a:r>
              <a:rPr lang="en-US" sz="1050" dirty="0">
                <a:solidFill>
                  <a:srgbClr val="7F8C8D"/>
                </a:solidFill>
              </a:rPr>
              <a:t>SSNs, or card numbers via email</a:t>
            </a:r>
            <a:endParaRPr lang="en-US" sz="1050" dirty="0"/>
          </a:p>
        </p:txBody>
      </p:sp>
      <p:sp>
        <p:nvSpPr>
          <p:cNvPr id="20" name="Shape 15"/>
          <p:cNvSpPr/>
          <p:nvPr/>
        </p:nvSpPr>
        <p:spPr>
          <a:xfrm>
            <a:off x="4690872" y="2286000"/>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21" name="Shape 16"/>
          <p:cNvSpPr/>
          <p:nvPr/>
        </p:nvSpPr>
        <p:spPr>
          <a:xfrm>
            <a:off x="4690872" y="2286000"/>
            <a:ext cx="109728" cy="1170432"/>
          </a:xfrm>
          <a:prstGeom prst="rect">
            <a:avLst/>
          </a:prstGeom>
          <a:solidFill>
            <a:srgbClr val="148F77"/>
          </a:solidFill>
          <a:ln/>
        </p:spPr>
      </p:sp>
      <p:pic>
        <p:nvPicPr>
          <p:cNvPr id="22" name="Image 3" descr="preencoded.png"/>
          <p:cNvPicPr>
            <a:picLocks noChangeAspect="1"/>
          </p:cNvPicPr>
          <p:nvPr/>
        </p:nvPicPr>
        <p:blipFill>
          <a:blip r:embed="rId6"/>
          <a:stretch>
            <a:fillRect/>
          </a:stretch>
        </p:blipFill>
        <p:spPr>
          <a:xfrm>
            <a:off x="4873752" y="2542032"/>
            <a:ext cx="502920" cy="502920"/>
          </a:xfrm>
          <a:prstGeom prst="rect">
            <a:avLst/>
          </a:prstGeom>
        </p:spPr>
      </p:pic>
      <p:sp>
        <p:nvSpPr>
          <p:cNvPr id="23" name="Text 17"/>
          <p:cNvSpPr/>
          <p:nvPr/>
        </p:nvSpPr>
        <p:spPr>
          <a:xfrm>
            <a:off x="5468112" y="2377440"/>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Inconsistent / Deceptive URLs</a:t>
            </a:r>
            <a:endParaRPr lang="en-US" sz="1300" dirty="0"/>
          </a:p>
        </p:txBody>
      </p:sp>
      <p:sp>
        <p:nvSpPr>
          <p:cNvPr id="24" name="Text 18"/>
          <p:cNvSpPr/>
          <p:nvPr/>
        </p:nvSpPr>
        <p:spPr>
          <a:xfrm>
            <a:off x="5468112" y="2761488"/>
            <a:ext cx="3291840" cy="640080"/>
          </a:xfrm>
          <a:prstGeom prst="rect">
            <a:avLst/>
          </a:prstGeom>
          <a:noFill/>
          <a:ln/>
        </p:spPr>
        <p:txBody>
          <a:bodyPr wrap="square" lIns="0" tIns="0" rIns="0" bIns="0" rtlCol="0" anchor="ctr"/>
          <a:lstStyle/>
          <a:p>
            <a:pPr marL="0" indent="0">
              <a:buNone/>
            </a:pPr>
            <a:r>
              <a:rPr lang="en-US" sz="1050" dirty="0">
                <a:solidFill>
                  <a:srgbClr val="7F8C8D"/>
                </a:solidFill>
              </a:rPr>
              <a:t>Hover before you click — the link text may say</a:t>
            </a:r>
            <a:endParaRPr lang="en-US" sz="1050" dirty="0"/>
          </a:p>
          <a:p>
            <a:pPr marL="0" indent="0">
              <a:buNone/>
            </a:pPr>
            <a:r>
              <a:rPr lang="en-US" sz="1050" dirty="0">
                <a:solidFill>
                  <a:srgbClr val="7F8C8D"/>
                </a:solidFill>
              </a:rPr>
              <a:t>one thing while the URL goes somewhere else</a:t>
            </a:r>
            <a:endParaRPr lang="en-US" sz="1050" dirty="0"/>
          </a:p>
        </p:txBody>
      </p:sp>
      <p:sp>
        <p:nvSpPr>
          <p:cNvPr id="25" name="Shape 19"/>
          <p:cNvSpPr/>
          <p:nvPr/>
        </p:nvSpPr>
        <p:spPr>
          <a:xfrm>
            <a:off x="228600" y="3611880"/>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26" name="Shape 20"/>
          <p:cNvSpPr/>
          <p:nvPr/>
        </p:nvSpPr>
        <p:spPr>
          <a:xfrm>
            <a:off x="228600" y="3611880"/>
            <a:ext cx="109728" cy="1170432"/>
          </a:xfrm>
          <a:prstGeom prst="rect">
            <a:avLst/>
          </a:prstGeom>
          <a:solidFill>
            <a:srgbClr val="C0392B"/>
          </a:solidFill>
          <a:ln/>
        </p:spPr>
      </p:sp>
      <p:pic>
        <p:nvPicPr>
          <p:cNvPr id="27" name="Image 4" descr="preencoded.png"/>
          <p:cNvPicPr>
            <a:picLocks noChangeAspect="1"/>
          </p:cNvPicPr>
          <p:nvPr/>
        </p:nvPicPr>
        <p:blipFill>
          <a:blip r:embed="rId7"/>
          <a:stretch>
            <a:fillRect/>
          </a:stretch>
        </p:blipFill>
        <p:spPr>
          <a:xfrm>
            <a:off x="411480" y="3867912"/>
            <a:ext cx="502920" cy="502920"/>
          </a:xfrm>
          <a:prstGeom prst="rect">
            <a:avLst/>
          </a:prstGeom>
        </p:spPr>
      </p:pic>
      <p:sp>
        <p:nvSpPr>
          <p:cNvPr id="28" name="Text 21"/>
          <p:cNvSpPr/>
          <p:nvPr/>
        </p:nvSpPr>
        <p:spPr>
          <a:xfrm>
            <a:off x="1005840" y="3703320"/>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Poor Grammar &amp; Formatting</a:t>
            </a:r>
            <a:endParaRPr lang="en-US" sz="1300" dirty="0"/>
          </a:p>
        </p:txBody>
      </p:sp>
      <p:sp>
        <p:nvSpPr>
          <p:cNvPr id="29" name="Text 22"/>
          <p:cNvSpPr/>
          <p:nvPr/>
        </p:nvSpPr>
        <p:spPr>
          <a:xfrm>
            <a:off x="1005840" y="4087368"/>
            <a:ext cx="3291840" cy="640080"/>
          </a:xfrm>
          <a:prstGeom prst="rect">
            <a:avLst/>
          </a:prstGeom>
          <a:noFill/>
          <a:ln/>
        </p:spPr>
        <p:txBody>
          <a:bodyPr wrap="square" lIns="0" tIns="0" rIns="0" bIns="0" rtlCol="0" anchor="ctr"/>
          <a:lstStyle/>
          <a:p>
            <a:pPr marL="0" indent="0">
              <a:buNone/>
            </a:pPr>
            <a:r>
              <a:rPr lang="en-US" sz="1050" dirty="0">
                <a:solidFill>
                  <a:srgbClr val="7F8C8D"/>
                </a:solidFill>
              </a:rPr>
              <a:t>Typos, awkward phrasing, mismatched logos,</a:t>
            </a:r>
            <a:endParaRPr lang="en-US" sz="1050" dirty="0"/>
          </a:p>
          <a:p>
            <a:pPr marL="0" indent="0">
              <a:buNone/>
            </a:pPr>
            <a:r>
              <a:rPr lang="en-US" sz="1050" dirty="0">
                <a:solidFill>
                  <a:srgbClr val="7F8C8D"/>
                </a:solidFill>
              </a:rPr>
              <a:t>or blurry images are common giveaways</a:t>
            </a:r>
            <a:endParaRPr lang="en-US" sz="1050" dirty="0"/>
          </a:p>
        </p:txBody>
      </p:sp>
      <p:sp>
        <p:nvSpPr>
          <p:cNvPr id="30" name="Shape 23"/>
          <p:cNvSpPr/>
          <p:nvPr/>
        </p:nvSpPr>
        <p:spPr>
          <a:xfrm>
            <a:off x="4690872" y="3611880"/>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31" name="Shape 24"/>
          <p:cNvSpPr/>
          <p:nvPr/>
        </p:nvSpPr>
        <p:spPr>
          <a:xfrm>
            <a:off x="4690872" y="3611880"/>
            <a:ext cx="109728" cy="1170432"/>
          </a:xfrm>
          <a:prstGeom prst="rect">
            <a:avLst/>
          </a:prstGeom>
          <a:solidFill>
            <a:srgbClr val="1B4F72"/>
          </a:solidFill>
          <a:ln/>
        </p:spPr>
      </p:sp>
      <p:pic>
        <p:nvPicPr>
          <p:cNvPr id="32" name="Image 5" descr="preencoded.png"/>
          <p:cNvPicPr>
            <a:picLocks noChangeAspect="1"/>
          </p:cNvPicPr>
          <p:nvPr/>
        </p:nvPicPr>
        <p:blipFill>
          <a:blip r:embed="rId8"/>
          <a:stretch>
            <a:fillRect/>
          </a:stretch>
        </p:blipFill>
        <p:spPr>
          <a:xfrm>
            <a:off x="4873752" y="3867912"/>
            <a:ext cx="502920" cy="502920"/>
          </a:xfrm>
          <a:prstGeom prst="rect">
            <a:avLst/>
          </a:prstGeom>
        </p:spPr>
      </p:pic>
      <p:sp>
        <p:nvSpPr>
          <p:cNvPr id="33" name="Text 25"/>
          <p:cNvSpPr/>
          <p:nvPr/>
        </p:nvSpPr>
        <p:spPr>
          <a:xfrm>
            <a:off x="5468112" y="3703320"/>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Unexpected Attachments</a:t>
            </a:r>
            <a:endParaRPr lang="en-US" sz="1300" dirty="0"/>
          </a:p>
        </p:txBody>
      </p:sp>
      <p:sp>
        <p:nvSpPr>
          <p:cNvPr id="34" name="Text 26"/>
          <p:cNvSpPr/>
          <p:nvPr/>
        </p:nvSpPr>
        <p:spPr>
          <a:xfrm>
            <a:off x="5468112" y="4087368"/>
            <a:ext cx="3291840" cy="640080"/>
          </a:xfrm>
          <a:prstGeom prst="rect">
            <a:avLst/>
          </a:prstGeom>
          <a:noFill/>
          <a:ln/>
        </p:spPr>
        <p:txBody>
          <a:bodyPr wrap="square" lIns="0" tIns="0" rIns="0" bIns="0" rtlCol="0" anchor="ctr"/>
          <a:lstStyle/>
          <a:p>
            <a:pPr marL="0" indent="0">
              <a:buNone/>
            </a:pPr>
            <a:r>
              <a:rPr lang="en-US" sz="1050" dirty="0">
                <a:solidFill>
                  <a:srgbClr val="7F8C8D"/>
                </a:solidFill>
              </a:rPr>
              <a:t>.zip, .exe, .docm files from unknown senders</a:t>
            </a:r>
            <a:endParaRPr lang="en-US" sz="1050" dirty="0"/>
          </a:p>
          <a:p>
            <a:pPr marL="0" indent="0">
              <a:buNone/>
            </a:pPr>
            <a:r>
              <a:rPr lang="en-US" sz="1050" dirty="0">
                <a:solidFill>
                  <a:srgbClr val="7F8C8D"/>
                </a:solidFill>
              </a:rPr>
              <a:t>can install malware instantly when opened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4F72"/>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Side-by-Side: Real vs. Phishing Email</a:t>
            </a:r>
            <a:endParaRPr lang="en-US" sz="2200" dirty="0"/>
          </a:p>
        </p:txBody>
      </p:sp>
      <p:sp>
        <p:nvSpPr>
          <p:cNvPr id="4" name="Shape 2"/>
          <p:cNvSpPr/>
          <p:nvPr/>
        </p:nvSpPr>
        <p:spPr>
          <a:xfrm>
            <a:off x="228600" y="822960"/>
            <a:ext cx="4114800" cy="411480"/>
          </a:xfrm>
          <a:prstGeom prst="rect">
            <a:avLst/>
          </a:prstGeom>
          <a:solidFill>
            <a:srgbClr val="1E8449"/>
          </a:solidFill>
          <a:ln/>
        </p:spPr>
      </p:sp>
      <p:sp>
        <p:nvSpPr>
          <p:cNvPr id="5" name="Text 3"/>
          <p:cNvSpPr/>
          <p:nvPr/>
        </p:nvSpPr>
        <p:spPr>
          <a:xfrm>
            <a:off x="228600" y="82296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rPr>
              <a:t>✓  LEGITIMATE</a:t>
            </a:r>
            <a:endParaRPr lang="en-US" sz="1300" dirty="0"/>
          </a:p>
        </p:txBody>
      </p:sp>
      <p:sp>
        <p:nvSpPr>
          <p:cNvPr id="6" name="Shape 4"/>
          <p:cNvSpPr/>
          <p:nvPr/>
        </p:nvSpPr>
        <p:spPr>
          <a:xfrm>
            <a:off x="228600" y="1298448"/>
            <a:ext cx="4114800" cy="502920"/>
          </a:xfrm>
          <a:prstGeom prst="rect">
            <a:avLst/>
          </a:prstGeom>
          <a:solidFill>
            <a:srgbClr val="FFFFFF"/>
          </a:solidFill>
          <a:ln/>
        </p:spPr>
      </p:sp>
      <p:sp>
        <p:nvSpPr>
          <p:cNvPr id="7" name="Text 5"/>
          <p:cNvSpPr/>
          <p:nvPr/>
        </p:nvSpPr>
        <p:spPr>
          <a:xfrm>
            <a:off x="320040" y="137160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From:</a:t>
            </a:r>
            <a:endParaRPr lang="en-US" sz="1000" dirty="0"/>
          </a:p>
        </p:txBody>
      </p:sp>
      <p:sp>
        <p:nvSpPr>
          <p:cNvPr id="8" name="Text 6"/>
          <p:cNvSpPr/>
          <p:nvPr/>
        </p:nvSpPr>
        <p:spPr>
          <a:xfrm>
            <a:off x="1188720" y="1371600"/>
            <a:ext cx="3017520" cy="347472"/>
          </a:xfrm>
          <a:prstGeom prst="rect">
            <a:avLst/>
          </a:prstGeom>
          <a:noFill/>
          <a:ln/>
        </p:spPr>
        <p:txBody>
          <a:bodyPr wrap="square" lIns="0" tIns="0" rIns="0" bIns="0" rtlCol="0" anchor="ctr"/>
          <a:lstStyle/>
          <a:p>
            <a:pPr marL="0" indent="0">
              <a:buNone/>
            </a:pPr>
            <a:r>
              <a:rPr lang="en-US" sz="1050" dirty="0">
                <a:solidFill>
                  <a:srgbClr val="2C3E50"/>
                </a:solidFill>
              </a:rPr>
              <a:t>no-reply@amazon.com</a:t>
            </a:r>
            <a:endParaRPr lang="en-US" sz="1050" dirty="0"/>
          </a:p>
        </p:txBody>
      </p:sp>
      <p:sp>
        <p:nvSpPr>
          <p:cNvPr id="9" name="Shape 7"/>
          <p:cNvSpPr/>
          <p:nvPr/>
        </p:nvSpPr>
        <p:spPr>
          <a:xfrm>
            <a:off x="228600" y="1847088"/>
            <a:ext cx="4114800" cy="502920"/>
          </a:xfrm>
          <a:prstGeom prst="rect">
            <a:avLst/>
          </a:prstGeom>
          <a:solidFill>
            <a:srgbClr val="EAF4EA"/>
          </a:solidFill>
          <a:ln/>
        </p:spPr>
      </p:sp>
      <p:sp>
        <p:nvSpPr>
          <p:cNvPr id="10" name="Text 8"/>
          <p:cNvSpPr/>
          <p:nvPr/>
        </p:nvSpPr>
        <p:spPr>
          <a:xfrm>
            <a:off x="320040" y="192024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Subject:</a:t>
            </a:r>
            <a:endParaRPr lang="en-US" sz="1000" dirty="0"/>
          </a:p>
        </p:txBody>
      </p:sp>
      <p:sp>
        <p:nvSpPr>
          <p:cNvPr id="11" name="Text 9"/>
          <p:cNvSpPr/>
          <p:nvPr/>
        </p:nvSpPr>
        <p:spPr>
          <a:xfrm>
            <a:off x="1188720" y="1920240"/>
            <a:ext cx="3017520" cy="347472"/>
          </a:xfrm>
          <a:prstGeom prst="rect">
            <a:avLst/>
          </a:prstGeom>
          <a:noFill/>
          <a:ln/>
        </p:spPr>
        <p:txBody>
          <a:bodyPr wrap="square" lIns="0" tIns="0" rIns="0" bIns="0" rtlCol="0" anchor="ctr"/>
          <a:lstStyle/>
          <a:p>
            <a:pPr marL="0" indent="0">
              <a:buNone/>
            </a:pPr>
            <a:r>
              <a:rPr lang="en-US" sz="1050" dirty="0">
                <a:solidFill>
                  <a:srgbClr val="2C3E50"/>
                </a:solidFill>
              </a:rPr>
              <a:t>Your order #112-4891022 has shipped</a:t>
            </a:r>
            <a:endParaRPr lang="en-US" sz="1050" dirty="0"/>
          </a:p>
        </p:txBody>
      </p:sp>
      <p:sp>
        <p:nvSpPr>
          <p:cNvPr id="12" name="Shape 10"/>
          <p:cNvSpPr/>
          <p:nvPr/>
        </p:nvSpPr>
        <p:spPr>
          <a:xfrm>
            <a:off x="228600" y="2395728"/>
            <a:ext cx="4114800" cy="502920"/>
          </a:xfrm>
          <a:prstGeom prst="rect">
            <a:avLst/>
          </a:prstGeom>
          <a:solidFill>
            <a:srgbClr val="FFFFFF"/>
          </a:solidFill>
          <a:ln/>
        </p:spPr>
      </p:sp>
      <p:sp>
        <p:nvSpPr>
          <p:cNvPr id="13" name="Text 11"/>
          <p:cNvSpPr/>
          <p:nvPr/>
        </p:nvSpPr>
        <p:spPr>
          <a:xfrm>
            <a:off x="320040" y="246888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Greeting:</a:t>
            </a:r>
            <a:endParaRPr lang="en-US" sz="1000" dirty="0"/>
          </a:p>
        </p:txBody>
      </p:sp>
      <p:sp>
        <p:nvSpPr>
          <p:cNvPr id="14" name="Text 12"/>
          <p:cNvSpPr/>
          <p:nvPr/>
        </p:nvSpPr>
        <p:spPr>
          <a:xfrm>
            <a:off x="1188720" y="2468880"/>
            <a:ext cx="3017520" cy="347472"/>
          </a:xfrm>
          <a:prstGeom prst="rect">
            <a:avLst/>
          </a:prstGeom>
          <a:noFill/>
          <a:ln/>
        </p:spPr>
        <p:txBody>
          <a:bodyPr wrap="square" lIns="0" tIns="0" rIns="0" bIns="0" rtlCol="0" anchor="ctr"/>
          <a:lstStyle/>
          <a:p>
            <a:pPr marL="0" indent="0">
              <a:buNone/>
            </a:pPr>
            <a:r>
              <a:rPr lang="en-US" sz="1050" dirty="0">
                <a:solidFill>
                  <a:srgbClr val="2C3E50"/>
                </a:solidFill>
              </a:rPr>
              <a:t>Hello Jane Smith,</a:t>
            </a:r>
            <a:endParaRPr lang="en-US" sz="1050" dirty="0"/>
          </a:p>
        </p:txBody>
      </p:sp>
      <p:sp>
        <p:nvSpPr>
          <p:cNvPr id="15" name="Shape 13"/>
          <p:cNvSpPr/>
          <p:nvPr/>
        </p:nvSpPr>
        <p:spPr>
          <a:xfrm>
            <a:off x="228600" y="2944368"/>
            <a:ext cx="4114800" cy="502920"/>
          </a:xfrm>
          <a:prstGeom prst="rect">
            <a:avLst/>
          </a:prstGeom>
          <a:solidFill>
            <a:srgbClr val="EAF4EA"/>
          </a:solidFill>
          <a:ln/>
        </p:spPr>
      </p:sp>
      <p:sp>
        <p:nvSpPr>
          <p:cNvPr id="16" name="Text 14"/>
          <p:cNvSpPr/>
          <p:nvPr/>
        </p:nvSpPr>
        <p:spPr>
          <a:xfrm>
            <a:off x="320040" y="301752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Body:</a:t>
            </a:r>
            <a:endParaRPr lang="en-US" sz="1000" dirty="0"/>
          </a:p>
        </p:txBody>
      </p:sp>
      <p:sp>
        <p:nvSpPr>
          <p:cNvPr id="17" name="Text 15"/>
          <p:cNvSpPr/>
          <p:nvPr/>
        </p:nvSpPr>
        <p:spPr>
          <a:xfrm>
            <a:off x="1188720" y="3017520"/>
            <a:ext cx="3017520" cy="347472"/>
          </a:xfrm>
          <a:prstGeom prst="rect">
            <a:avLst/>
          </a:prstGeom>
          <a:noFill/>
          <a:ln/>
        </p:spPr>
        <p:txBody>
          <a:bodyPr wrap="square" lIns="0" tIns="0" rIns="0" bIns="0" rtlCol="0" anchor="ctr"/>
          <a:lstStyle/>
          <a:p>
            <a:pPr marL="0" indent="0">
              <a:buNone/>
            </a:pPr>
            <a:r>
              <a:rPr lang="en-US" sz="1050" dirty="0">
                <a:solidFill>
                  <a:srgbClr val="2C3E50"/>
                </a:solidFill>
              </a:rPr>
              <a:t>Your package is on its way. Track at</a:t>
            </a:r>
            <a:endParaRPr lang="en-US" sz="1050" dirty="0"/>
          </a:p>
          <a:p>
            <a:pPr marL="0" indent="0">
              <a:buNone/>
            </a:pPr>
            <a:r>
              <a:rPr lang="en-US" sz="1050" dirty="0">
                <a:solidFill>
                  <a:srgbClr val="2C3E50"/>
                </a:solidFill>
              </a:rPr>
              <a:t>amazon.com/orders (hover to verify URL)</a:t>
            </a:r>
            <a:endParaRPr lang="en-US" sz="1050" dirty="0"/>
          </a:p>
        </p:txBody>
      </p:sp>
      <p:sp>
        <p:nvSpPr>
          <p:cNvPr id="18" name="Shape 16"/>
          <p:cNvSpPr/>
          <p:nvPr/>
        </p:nvSpPr>
        <p:spPr>
          <a:xfrm>
            <a:off x="228600" y="3493008"/>
            <a:ext cx="4114800" cy="502920"/>
          </a:xfrm>
          <a:prstGeom prst="rect">
            <a:avLst/>
          </a:prstGeom>
          <a:solidFill>
            <a:srgbClr val="FFFFFF"/>
          </a:solidFill>
          <a:ln/>
        </p:spPr>
      </p:sp>
      <p:sp>
        <p:nvSpPr>
          <p:cNvPr id="19" name="Text 17"/>
          <p:cNvSpPr/>
          <p:nvPr/>
        </p:nvSpPr>
        <p:spPr>
          <a:xfrm>
            <a:off x="320040" y="356616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Action:</a:t>
            </a:r>
            <a:endParaRPr lang="en-US" sz="1000" dirty="0"/>
          </a:p>
        </p:txBody>
      </p:sp>
      <p:sp>
        <p:nvSpPr>
          <p:cNvPr id="20" name="Text 18"/>
          <p:cNvSpPr/>
          <p:nvPr/>
        </p:nvSpPr>
        <p:spPr>
          <a:xfrm>
            <a:off x="1188720" y="3566160"/>
            <a:ext cx="3017520" cy="347472"/>
          </a:xfrm>
          <a:prstGeom prst="rect">
            <a:avLst/>
          </a:prstGeom>
          <a:noFill/>
          <a:ln/>
        </p:spPr>
        <p:txBody>
          <a:bodyPr wrap="square" lIns="0" tIns="0" rIns="0" bIns="0" rtlCol="0" anchor="ctr"/>
          <a:lstStyle/>
          <a:p>
            <a:pPr marL="0" indent="0">
              <a:buNone/>
            </a:pPr>
            <a:r>
              <a:rPr lang="en-US" sz="1050" dirty="0">
                <a:solidFill>
                  <a:srgbClr val="2C3E50"/>
                </a:solidFill>
              </a:rPr>
              <a:t>View your order  [amazon.com link]</a:t>
            </a:r>
            <a:endParaRPr lang="en-US" sz="1050" dirty="0"/>
          </a:p>
        </p:txBody>
      </p:sp>
      <p:sp>
        <p:nvSpPr>
          <p:cNvPr id="21" name="Shape 19"/>
          <p:cNvSpPr/>
          <p:nvPr/>
        </p:nvSpPr>
        <p:spPr>
          <a:xfrm>
            <a:off x="228600" y="4041648"/>
            <a:ext cx="4114800" cy="502920"/>
          </a:xfrm>
          <a:prstGeom prst="rect">
            <a:avLst/>
          </a:prstGeom>
          <a:solidFill>
            <a:srgbClr val="EAF4EA"/>
          </a:solidFill>
          <a:ln/>
        </p:spPr>
      </p:sp>
      <p:sp>
        <p:nvSpPr>
          <p:cNvPr id="22" name="Text 20"/>
          <p:cNvSpPr/>
          <p:nvPr/>
        </p:nvSpPr>
        <p:spPr>
          <a:xfrm>
            <a:off x="320040" y="411480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Footer:</a:t>
            </a:r>
            <a:endParaRPr lang="en-US" sz="1000" dirty="0"/>
          </a:p>
        </p:txBody>
      </p:sp>
      <p:sp>
        <p:nvSpPr>
          <p:cNvPr id="23" name="Text 21"/>
          <p:cNvSpPr/>
          <p:nvPr/>
        </p:nvSpPr>
        <p:spPr>
          <a:xfrm>
            <a:off x="1188720" y="4114800"/>
            <a:ext cx="3017520" cy="347472"/>
          </a:xfrm>
          <a:prstGeom prst="rect">
            <a:avLst/>
          </a:prstGeom>
          <a:noFill/>
          <a:ln/>
        </p:spPr>
        <p:txBody>
          <a:bodyPr wrap="square" lIns="0" tIns="0" rIns="0" bIns="0" rtlCol="0" anchor="ctr"/>
          <a:lstStyle/>
          <a:p>
            <a:pPr marL="0" indent="0">
              <a:buNone/>
            </a:pPr>
            <a:r>
              <a:rPr lang="en-US" sz="1050" dirty="0">
                <a:solidFill>
                  <a:srgbClr val="2C3E50"/>
                </a:solidFill>
              </a:rPr>
              <a:t>Amazon.com LLC, 410 Terry Ave N, Seattle</a:t>
            </a:r>
            <a:endParaRPr lang="en-US" sz="1050" dirty="0"/>
          </a:p>
        </p:txBody>
      </p:sp>
      <p:sp>
        <p:nvSpPr>
          <p:cNvPr id="24" name="Shape 22"/>
          <p:cNvSpPr/>
          <p:nvPr/>
        </p:nvSpPr>
        <p:spPr>
          <a:xfrm>
            <a:off x="4800600" y="822960"/>
            <a:ext cx="4114800" cy="411480"/>
          </a:xfrm>
          <a:prstGeom prst="rect">
            <a:avLst/>
          </a:prstGeom>
          <a:solidFill>
            <a:srgbClr val="E74C3C"/>
          </a:solidFill>
          <a:ln/>
        </p:spPr>
      </p:sp>
      <p:sp>
        <p:nvSpPr>
          <p:cNvPr id="25" name="Text 23"/>
          <p:cNvSpPr/>
          <p:nvPr/>
        </p:nvSpPr>
        <p:spPr>
          <a:xfrm>
            <a:off x="4800600" y="82296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rPr>
              <a:t>✗  PHISHING</a:t>
            </a:r>
            <a:endParaRPr lang="en-US" sz="1300" dirty="0"/>
          </a:p>
        </p:txBody>
      </p:sp>
      <p:sp>
        <p:nvSpPr>
          <p:cNvPr id="26" name="Shape 24"/>
          <p:cNvSpPr/>
          <p:nvPr/>
        </p:nvSpPr>
        <p:spPr>
          <a:xfrm>
            <a:off x="4800600" y="1298448"/>
            <a:ext cx="4114800" cy="502920"/>
          </a:xfrm>
          <a:prstGeom prst="rect">
            <a:avLst/>
          </a:prstGeom>
          <a:solidFill>
            <a:srgbClr val="FFFFFF"/>
          </a:solidFill>
          <a:ln/>
        </p:spPr>
      </p:sp>
      <p:sp>
        <p:nvSpPr>
          <p:cNvPr id="27" name="Text 25"/>
          <p:cNvSpPr/>
          <p:nvPr/>
        </p:nvSpPr>
        <p:spPr>
          <a:xfrm>
            <a:off x="4892040" y="137160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From:</a:t>
            </a:r>
            <a:endParaRPr lang="en-US" sz="1000" dirty="0"/>
          </a:p>
        </p:txBody>
      </p:sp>
      <p:sp>
        <p:nvSpPr>
          <p:cNvPr id="28" name="Text 26"/>
          <p:cNvSpPr/>
          <p:nvPr/>
        </p:nvSpPr>
        <p:spPr>
          <a:xfrm>
            <a:off x="5760720" y="1371600"/>
            <a:ext cx="3017520" cy="347472"/>
          </a:xfrm>
          <a:prstGeom prst="rect">
            <a:avLst/>
          </a:prstGeom>
          <a:noFill/>
          <a:ln/>
        </p:spPr>
        <p:txBody>
          <a:bodyPr wrap="square" lIns="0" tIns="0" rIns="0" bIns="0" rtlCol="0" anchor="ctr"/>
          <a:lstStyle/>
          <a:p>
            <a:pPr marL="0" indent="0">
              <a:buNone/>
            </a:pPr>
            <a:r>
              <a:rPr lang="en-US" sz="1050" b="1" dirty="0">
                <a:solidFill>
                  <a:srgbClr val="E74C3C"/>
                </a:solidFill>
              </a:rPr>
              <a:t>no-reply@amaz0n-support.net</a:t>
            </a:r>
            <a:endParaRPr lang="en-US" sz="1050" dirty="0"/>
          </a:p>
        </p:txBody>
      </p:sp>
      <p:pic>
        <p:nvPicPr>
          <p:cNvPr id="29" name="Image 0" descr="preencoded.png"/>
          <p:cNvPicPr>
            <a:picLocks noChangeAspect="1"/>
          </p:cNvPicPr>
          <p:nvPr/>
        </p:nvPicPr>
        <p:blipFill>
          <a:blip r:embed="rId3"/>
          <a:stretch>
            <a:fillRect/>
          </a:stretch>
        </p:blipFill>
        <p:spPr>
          <a:xfrm>
            <a:off x="8732520" y="1389888"/>
            <a:ext cx="256032" cy="256032"/>
          </a:xfrm>
          <a:prstGeom prst="rect">
            <a:avLst/>
          </a:prstGeom>
        </p:spPr>
      </p:pic>
      <p:sp>
        <p:nvSpPr>
          <p:cNvPr id="30" name="Shape 27"/>
          <p:cNvSpPr/>
          <p:nvPr/>
        </p:nvSpPr>
        <p:spPr>
          <a:xfrm>
            <a:off x="4800600" y="1847088"/>
            <a:ext cx="4114800" cy="502920"/>
          </a:xfrm>
          <a:prstGeom prst="rect">
            <a:avLst/>
          </a:prstGeom>
          <a:solidFill>
            <a:srgbClr val="FDEDED"/>
          </a:solidFill>
          <a:ln/>
        </p:spPr>
      </p:sp>
      <p:sp>
        <p:nvSpPr>
          <p:cNvPr id="31" name="Text 28"/>
          <p:cNvSpPr/>
          <p:nvPr/>
        </p:nvSpPr>
        <p:spPr>
          <a:xfrm>
            <a:off x="4892040" y="192024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Subject:</a:t>
            </a:r>
            <a:endParaRPr lang="en-US" sz="1000" dirty="0"/>
          </a:p>
        </p:txBody>
      </p:sp>
      <p:sp>
        <p:nvSpPr>
          <p:cNvPr id="32" name="Text 29"/>
          <p:cNvSpPr/>
          <p:nvPr/>
        </p:nvSpPr>
        <p:spPr>
          <a:xfrm>
            <a:off x="5760720" y="1920240"/>
            <a:ext cx="3017520" cy="347472"/>
          </a:xfrm>
          <a:prstGeom prst="rect">
            <a:avLst/>
          </a:prstGeom>
          <a:noFill/>
          <a:ln/>
        </p:spPr>
        <p:txBody>
          <a:bodyPr wrap="square" lIns="0" tIns="0" rIns="0" bIns="0" rtlCol="0" anchor="ctr"/>
          <a:lstStyle/>
          <a:p>
            <a:pPr marL="0" indent="0">
              <a:buNone/>
            </a:pPr>
            <a:r>
              <a:rPr lang="en-US" sz="1050" b="1" dirty="0">
                <a:solidFill>
                  <a:srgbClr val="E74C3C"/>
                </a:solidFill>
              </a:rPr>
              <a:t>⚠ URGENT: Account suspended!</a:t>
            </a:r>
            <a:endParaRPr lang="en-US" sz="1050" dirty="0"/>
          </a:p>
        </p:txBody>
      </p:sp>
      <p:pic>
        <p:nvPicPr>
          <p:cNvPr id="33" name="Image 1" descr="preencoded.png"/>
          <p:cNvPicPr>
            <a:picLocks noChangeAspect="1"/>
          </p:cNvPicPr>
          <p:nvPr/>
        </p:nvPicPr>
        <p:blipFill>
          <a:blip r:embed="rId3"/>
          <a:stretch>
            <a:fillRect/>
          </a:stretch>
        </p:blipFill>
        <p:spPr>
          <a:xfrm>
            <a:off x="8732520" y="1938528"/>
            <a:ext cx="256032" cy="256032"/>
          </a:xfrm>
          <a:prstGeom prst="rect">
            <a:avLst/>
          </a:prstGeom>
        </p:spPr>
      </p:pic>
      <p:sp>
        <p:nvSpPr>
          <p:cNvPr id="34" name="Shape 30"/>
          <p:cNvSpPr/>
          <p:nvPr/>
        </p:nvSpPr>
        <p:spPr>
          <a:xfrm>
            <a:off x="4800600" y="2395728"/>
            <a:ext cx="4114800" cy="502920"/>
          </a:xfrm>
          <a:prstGeom prst="rect">
            <a:avLst/>
          </a:prstGeom>
          <a:solidFill>
            <a:srgbClr val="FFFFFF"/>
          </a:solidFill>
          <a:ln/>
        </p:spPr>
      </p:sp>
      <p:sp>
        <p:nvSpPr>
          <p:cNvPr id="35" name="Text 31"/>
          <p:cNvSpPr/>
          <p:nvPr/>
        </p:nvSpPr>
        <p:spPr>
          <a:xfrm>
            <a:off x="4892040" y="246888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Greeting:</a:t>
            </a:r>
            <a:endParaRPr lang="en-US" sz="1000" dirty="0"/>
          </a:p>
        </p:txBody>
      </p:sp>
      <p:sp>
        <p:nvSpPr>
          <p:cNvPr id="36" name="Text 32"/>
          <p:cNvSpPr/>
          <p:nvPr/>
        </p:nvSpPr>
        <p:spPr>
          <a:xfrm>
            <a:off x="5760720" y="2468880"/>
            <a:ext cx="3017520" cy="347472"/>
          </a:xfrm>
          <a:prstGeom prst="rect">
            <a:avLst/>
          </a:prstGeom>
          <a:noFill/>
          <a:ln/>
        </p:spPr>
        <p:txBody>
          <a:bodyPr wrap="square" lIns="0" tIns="0" rIns="0" bIns="0" rtlCol="0" anchor="ctr"/>
          <a:lstStyle/>
          <a:p>
            <a:pPr marL="0" indent="0">
              <a:buNone/>
            </a:pPr>
            <a:r>
              <a:rPr lang="en-US" sz="1050" b="1" dirty="0">
                <a:solidFill>
                  <a:srgbClr val="E74C3C"/>
                </a:solidFill>
              </a:rPr>
              <a:t>Dear Valued Customer,</a:t>
            </a:r>
            <a:endParaRPr lang="en-US" sz="1050" dirty="0"/>
          </a:p>
        </p:txBody>
      </p:sp>
      <p:pic>
        <p:nvPicPr>
          <p:cNvPr id="37" name="Image 2" descr="preencoded.png"/>
          <p:cNvPicPr>
            <a:picLocks noChangeAspect="1"/>
          </p:cNvPicPr>
          <p:nvPr/>
        </p:nvPicPr>
        <p:blipFill>
          <a:blip r:embed="rId3"/>
          <a:stretch>
            <a:fillRect/>
          </a:stretch>
        </p:blipFill>
        <p:spPr>
          <a:xfrm>
            <a:off x="8732520" y="2487168"/>
            <a:ext cx="256032" cy="256032"/>
          </a:xfrm>
          <a:prstGeom prst="rect">
            <a:avLst/>
          </a:prstGeom>
        </p:spPr>
      </p:pic>
      <p:sp>
        <p:nvSpPr>
          <p:cNvPr id="38" name="Shape 33"/>
          <p:cNvSpPr/>
          <p:nvPr/>
        </p:nvSpPr>
        <p:spPr>
          <a:xfrm>
            <a:off x="4800600" y="2944368"/>
            <a:ext cx="4114800" cy="502920"/>
          </a:xfrm>
          <a:prstGeom prst="rect">
            <a:avLst/>
          </a:prstGeom>
          <a:solidFill>
            <a:srgbClr val="FDEDED"/>
          </a:solidFill>
          <a:ln/>
        </p:spPr>
      </p:sp>
      <p:sp>
        <p:nvSpPr>
          <p:cNvPr id="39" name="Text 34"/>
          <p:cNvSpPr/>
          <p:nvPr/>
        </p:nvSpPr>
        <p:spPr>
          <a:xfrm>
            <a:off x="4892040" y="301752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Body:</a:t>
            </a:r>
            <a:endParaRPr lang="en-US" sz="1000" dirty="0"/>
          </a:p>
        </p:txBody>
      </p:sp>
      <p:sp>
        <p:nvSpPr>
          <p:cNvPr id="40" name="Text 35"/>
          <p:cNvSpPr/>
          <p:nvPr/>
        </p:nvSpPr>
        <p:spPr>
          <a:xfrm>
            <a:off x="5760720" y="3017520"/>
            <a:ext cx="3017520" cy="347472"/>
          </a:xfrm>
          <a:prstGeom prst="rect">
            <a:avLst/>
          </a:prstGeom>
          <a:noFill/>
          <a:ln/>
        </p:spPr>
        <p:txBody>
          <a:bodyPr wrap="square" lIns="0" tIns="0" rIns="0" bIns="0" rtlCol="0" anchor="ctr"/>
          <a:lstStyle/>
          <a:p>
            <a:pPr marL="0" indent="0">
              <a:buNone/>
            </a:pPr>
            <a:r>
              <a:rPr lang="en-US" sz="1050" b="1" dirty="0">
                <a:solidFill>
                  <a:srgbClr val="E74C3C"/>
                </a:solidFill>
              </a:rPr>
              <a:t>Verify your account IMMEDIATELY or</a:t>
            </a:r>
            <a:endParaRPr lang="en-US" sz="1050" dirty="0"/>
          </a:p>
          <a:p>
            <a:pPr marL="0" indent="0">
              <a:buNone/>
            </a:pPr>
            <a:r>
              <a:rPr lang="en-US" sz="1050" b="1" dirty="0">
                <a:solidFill>
                  <a:srgbClr val="E74C3C"/>
                </a:solidFill>
              </a:rPr>
              <a:t>your access will be permanently blocked!</a:t>
            </a:r>
            <a:endParaRPr lang="en-US" sz="1050" dirty="0"/>
          </a:p>
        </p:txBody>
      </p:sp>
      <p:pic>
        <p:nvPicPr>
          <p:cNvPr id="41" name="Image 3" descr="preencoded.png"/>
          <p:cNvPicPr>
            <a:picLocks noChangeAspect="1"/>
          </p:cNvPicPr>
          <p:nvPr/>
        </p:nvPicPr>
        <p:blipFill>
          <a:blip r:embed="rId3"/>
          <a:stretch>
            <a:fillRect/>
          </a:stretch>
        </p:blipFill>
        <p:spPr>
          <a:xfrm>
            <a:off x="8732520" y="3035808"/>
            <a:ext cx="256032" cy="256032"/>
          </a:xfrm>
          <a:prstGeom prst="rect">
            <a:avLst/>
          </a:prstGeom>
        </p:spPr>
      </p:pic>
      <p:sp>
        <p:nvSpPr>
          <p:cNvPr id="42" name="Shape 36"/>
          <p:cNvSpPr/>
          <p:nvPr/>
        </p:nvSpPr>
        <p:spPr>
          <a:xfrm>
            <a:off x="4800600" y="3493008"/>
            <a:ext cx="4114800" cy="502920"/>
          </a:xfrm>
          <a:prstGeom prst="rect">
            <a:avLst/>
          </a:prstGeom>
          <a:solidFill>
            <a:srgbClr val="FFFFFF"/>
          </a:solidFill>
          <a:ln/>
        </p:spPr>
      </p:sp>
      <p:sp>
        <p:nvSpPr>
          <p:cNvPr id="43" name="Text 37"/>
          <p:cNvSpPr/>
          <p:nvPr/>
        </p:nvSpPr>
        <p:spPr>
          <a:xfrm>
            <a:off x="4892040" y="356616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Action:</a:t>
            </a:r>
            <a:endParaRPr lang="en-US" sz="1000" dirty="0"/>
          </a:p>
        </p:txBody>
      </p:sp>
      <p:sp>
        <p:nvSpPr>
          <p:cNvPr id="44" name="Text 38"/>
          <p:cNvSpPr/>
          <p:nvPr/>
        </p:nvSpPr>
        <p:spPr>
          <a:xfrm>
            <a:off x="5760720" y="3566160"/>
            <a:ext cx="3017520" cy="347472"/>
          </a:xfrm>
          <a:prstGeom prst="rect">
            <a:avLst/>
          </a:prstGeom>
          <a:noFill/>
          <a:ln/>
        </p:spPr>
        <p:txBody>
          <a:bodyPr wrap="square" lIns="0" tIns="0" rIns="0" bIns="0" rtlCol="0" anchor="ctr"/>
          <a:lstStyle/>
          <a:p>
            <a:pPr marL="0" indent="0">
              <a:buNone/>
            </a:pPr>
            <a:r>
              <a:rPr lang="en-US" sz="1050" b="1" dirty="0">
                <a:solidFill>
                  <a:srgbClr val="E74C3C"/>
                </a:solidFill>
              </a:rPr>
              <a:t>CLICK HERE NOW  [bit.ly/xk29a]</a:t>
            </a:r>
            <a:endParaRPr lang="en-US" sz="1050" dirty="0"/>
          </a:p>
        </p:txBody>
      </p:sp>
      <p:pic>
        <p:nvPicPr>
          <p:cNvPr id="45" name="Image 4" descr="preencoded.png"/>
          <p:cNvPicPr>
            <a:picLocks noChangeAspect="1"/>
          </p:cNvPicPr>
          <p:nvPr/>
        </p:nvPicPr>
        <p:blipFill>
          <a:blip r:embed="rId3"/>
          <a:stretch>
            <a:fillRect/>
          </a:stretch>
        </p:blipFill>
        <p:spPr>
          <a:xfrm>
            <a:off x="8732520" y="3584448"/>
            <a:ext cx="256032" cy="256032"/>
          </a:xfrm>
          <a:prstGeom prst="rect">
            <a:avLst/>
          </a:prstGeom>
        </p:spPr>
      </p:pic>
      <p:sp>
        <p:nvSpPr>
          <p:cNvPr id="46" name="Shape 39"/>
          <p:cNvSpPr/>
          <p:nvPr/>
        </p:nvSpPr>
        <p:spPr>
          <a:xfrm>
            <a:off x="4800600" y="4041648"/>
            <a:ext cx="4114800" cy="502920"/>
          </a:xfrm>
          <a:prstGeom prst="rect">
            <a:avLst/>
          </a:prstGeom>
          <a:solidFill>
            <a:srgbClr val="FDEDED"/>
          </a:solidFill>
          <a:ln/>
        </p:spPr>
      </p:sp>
      <p:sp>
        <p:nvSpPr>
          <p:cNvPr id="47" name="Text 40"/>
          <p:cNvSpPr/>
          <p:nvPr/>
        </p:nvSpPr>
        <p:spPr>
          <a:xfrm>
            <a:off x="4892040" y="4114800"/>
            <a:ext cx="822960" cy="347472"/>
          </a:xfrm>
          <a:prstGeom prst="rect">
            <a:avLst/>
          </a:prstGeom>
          <a:noFill/>
          <a:ln/>
        </p:spPr>
        <p:txBody>
          <a:bodyPr wrap="square" lIns="0" tIns="0" rIns="0" bIns="0" rtlCol="0" anchor="ctr"/>
          <a:lstStyle/>
          <a:p>
            <a:pPr marL="0" indent="0">
              <a:buNone/>
            </a:pPr>
            <a:r>
              <a:rPr lang="en-US" sz="1000" b="1" dirty="0">
                <a:solidFill>
                  <a:srgbClr val="7F8C8D"/>
                </a:solidFill>
              </a:rPr>
              <a:t>Footer:</a:t>
            </a:r>
            <a:endParaRPr lang="en-US" sz="1000" dirty="0"/>
          </a:p>
        </p:txBody>
      </p:sp>
      <p:sp>
        <p:nvSpPr>
          <p:cNvPr id="48" name="Text 41"/>
          <p:cNvSpPr/>
          <p:nvPr/>
        </p:nvSpPr>
        <p:spPr>
          <a:xfrm>
            <a:off x="5760720" y="4114800"/>
            <a:ext cx="3017520" cy="347472"/>
          </a:xfrm>
          <a:prstGeom prst="rect">
            <a:avLst/>
          </a:prstGeom>
          <a:noFill/>
          <a:ln/>
        </p:spPr>
        <p:txBody>
          <a:bodyPr wrap="square" lIns="0" tIns="0" rIns="0" bIns="0" rtlCol="0" anchor="ctr"/>
          <a:lstStyle/>
          <a:p>
            <a:pPr marL="0" indent="0">
              <a:buNone/>
            </a:pPr>
            <a:r>
              <a:rPr lang="en-US" sz="1050" b="1" dirty="0">
                <a:solidFill>
                  <a:srgbClr val="E74C3C"/>
                </a:solidFill>
              </a:rPr>
              <a:t>(no physical address)</a:t>
            </a:r>
            <a:endParaRPr lang="en-US" sz="1050" dirty="0"/>
          </a:p>
        </p:txBody>
      </p:sp>
      <p:pic>
        <p:nvPicPr>
          <p:cNvPr id="49" name="Image 5" descr="preencoded.png"/>
          <p:cNvPicPr>
            <a:picLocks noChangeAspect="1"/>
          </p:cNvPicPr>
          <p:nvPr/>
        </p:nvPicPr>
        <p:blipFill>
          <a:blip r:embed="rId3"/>
          <a:stretch>
            <a:fillRect/>
          </a:stretch>
        </p:blipFill>
        <p:spPr>
          <a:xfrm>
            <a:off x="8732520" y="4133088"/>
            <a:ext cx="256032" cy="2560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8F77"/>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  Detecting Fake Websites</a:t>
            </a:r>
            <a:endParaRPr lang="en-US" sz="2400" dirty="0"/>
          </a:p>
        </p:txBody>
      </p:sp>
      <p:sp>
        <p:nvSpPr>
          <p:cNvPr id="4" name="Text 2"/>
          <p:cNvSpPr/>
          <p:nvPr/>
        </p:nvSpPr>
        <p:spPr>
          <a:xfrm>
            <a:off x="7772400" y="128016"/>
            <a:ext cx="1280160" cy="365760"/>
          </a:xfrm>
          <a:prstGeom prst="rect">
            <a:avLst/>
          </a:prstGeom>
          <a:noFill/>
          <a:ln/>
        </p:spPr>
        <p:txBody>
          <a:bodyPr wrap="square" lIns="0" tIns="0" rIns="0" bIns="0" rtlCol="0" anchor="ctr"/>
          <a:lstStyle/>
          <a:p>
            <a:pPr marL="0" indent="0" algn="r">
              <a:buNone/>
            </a:pPr>
            <a:r>
              <a:rPr lang="en-US" sz="1000" dirty="0">
                <a:solidFill>
                  <a:srgbClr val="FFFFFF"/>
                </a:solidFill>
              </a:rPr>
              <a:t>Section 2 of 6</a:t>
            </a:r>
            <a:endParaRPr lang="en-US" sz="1000" dirty="0"/>
          </a:p>
        </p:txBody>
      </p:sp>
      <p:sp>
        <p:nvSpPr>
          <p:cNvPr id="5" name="Shape 3"/>
          <p:cNvSpPr/>
          <p:nvPr/>
        </p:nvSpPr>
        <p:spPr>
          <a:xfrm>
            <a:off x="228600" y="822960"/>
            <a:ext cx="8686800" cy="1188720"/>
          </a:xfrm>
          <a:prstGeom prst="rect">
            <a:avLst/>
          </a:prstGeom>
          <a:solidFill>
            <a:srgbClr val="0D1B2A"/>
          </a:solidFill>
          <a:ln/>
          <a:effectLst>
            <a:outerShdw blurRad="101600" dist="38100" dir="8100000" algn="bl" rotWithShape="0">
              <a:srgbClr val="000000">
                <a:alpha val="18000"/>
              </a:srgbClr>
            </a:outerShdw>
          </a:effectLst>
        </p:spPr>
      </p:sp>
      <p:sp>
        <p:nvSpPr>
          <p:cNvPr id="6" name="Text 4"/>
          <p:cNvSpPr/>
          <p:nvPr/>
        </p:nvSpPr>
        <p:spPr>
          <a:xfrm>
            <a:off x="457200" y="868680"/>
            <a:ext cx="8229600" cy="365760"/>
          </a:xfrm>
          <a:prstGeom prst="rect">
            <a:avLst/>
          </a:prstGeom>
          <a:noFill/>
          <a:ln/>
        </p:spPr>
        <p:txBody>
          <a:bodyPr wrap="square" lIns="0" tIns="0" rIns="0" bIns="0" rtlCol="0" anchor="ctr"/>
          <a:lstStyle/>
          <a:p>
            <a:pPr marL="0" indent="0">
              <a:buNone/>
            </a:pPr>
            <a:r>
              <a:rPr lang="en-US" sz="1200" b="1" kern="0" spc="200" dirty="0">
                <a:solidFill>
                  <a:srgbClr val="148F77"/>
                </a:solidFill>
              </a:rPr>
              <a:t>URL INSPECTION — Know What You're Looking At</a:t>
            </a:r>
            <a:endParaRPr lang="en-US" sz="1200" dirty="0"/>
          </a:p>
        </p:txBody>
      </p:sp>
      <p:sp>
        <p:nvSpPr>
          <p:cNvPr id="7" name="Shape 5"/>
          <p:cNvSpPr/>
          <p:nvPr/>
        </p:nvSpPr>
        <p:spPr>
          <a:xfrm>
            <a:off x="365760" y="1261872"/>
            <a:ext cx="3840480" cy="621792"/>
          </a:xfrm>
          <a:prstGeom prst="rect">
            <a:avLst/>
          </a:prstGeom>
          <a:solidFill>
            <a:srgbClr val="1E8449"/>
          </a:solidFill>
          <a:ln/>
        </p:spPr>
      </p:sp>
      <p:sp>
        <p:nvSpPr>
          <p:cNvPr id="8" name="Text 6"/>
          <p:cNvSpPr/>
          <p:nvPr/>
        </p:nvSpPr>
        <p:spPr>
          <a:xfrm>
            <a:off x="411480" y="1298448"/>
            <a:ext cx="3749040" cy="502920"/>
          </a:xfrm>
          <a:prstGeom prst="rect">
            <a:avLst/>
          </a:prstGeom>
          <a:noFill/>
          <a:ln/>
        </p:spPr>
        <p:txBody>
          <a:bodyPr wrap="square" lIns="0" tIns="0" rIns="0" bIns="0" rtlCol="0" anchor="ctr"/>
          <a:lstStyle/>
          <a:p>
            <a:pPr marL="0" indent="0">
              <a:buNone/>
            </a:pPr>
            <a:r>
              <a:rPr lang="en-US" sz="1300" b="1" dirty="0">
                <a:solidFill>
                  <a:srgbClr val="FFFFFF"/>
                </a:solidFill>
              </a:rPr>
              <a:t>https://www.paypal.com/login</a:t>
            </a:r>
            <a:endParaRPr lang="en-US" sz="1300" dirty="0"/>
          </a:p>
        </p:txBody>
      </p:sp>
      <p:pic>
        <p:nvPicPr>
          <p:cNvPr id="9" name="Image 0" descr="preencoded.png"/>
          <p:cNvPicPr>
            <a:picLocks noChangeAspect="1"/>
          </p:cNvPicPr>
          <p:nvPr/>
        </p:nvPicPr>
        <p:blipFill>
          <a:blip r:embed="rId3"/>
          <a:stretch>
            <a:fillRect/>
          </a:stretch>
        </p:blipFill>
        <p:spPr>
          <a:xfrm>
            <a:off x="4251960" y="1325880"/>
            <a:ext cx="347472" cy="347472"/>
          </a:xfrm>
          <a:prstGeom prst="rect">
            <a:avLst/>
          </a:prstGeom>
        </p:spPr>
      </p:pic>
      <p:sp>
        <p:nvSpPr>
          <p:cNvPr id="10" name="Text 7"/>
          <p:cNvSpPr/>
          <p:nvPr/>
        </p:nvSpPr>
        <p:spPr>
          <a:xfrm>
            <a:off x="4663440" y="1371600"/>
            <a:ext cx="3200400" cy="320040"/>
          </a:xfrm>
          <a:prstGeom prst="rect">
            <a:avLst/>
          </a:prstGeom>
          <a:noFill/>
          <a:ln/>
        </p:spPr>
        <p:txBody>
          <a:bodyPr wrap="square" lIns="0" tIns="0" rIns="0" bIns="0" rtlCol="0" anchor="ctr"/>
          <a:lstStyle/>
          <a:p>
            <a:pPr marL="0" indent="0">
              <a:buNone/>
            </a:pPr>
            <a:r>
              <a:rPr lang="en-US" sz="1100" dirty="0">
                <a:solidFill>
                  <a:srgbClr val="CDD3DC"/>
                </a:solidFill>
              </a:rPr>
              <a:t>Real domain · HTTPS · No typos</a:t>
            </a:r>
            <a:endParaRPr lang="en-US" sz="1100" dirty="0"/>
          </a:p>
        </p:txBody>
      </p:sp>
      <p:sp>
        <p:nvSpPr>
          <p:cNvPr id="11" name="Shape 8"/>
          <p:cNvSpPr/>
          <p:nvPr/>
        </p:nvSpPr>
        <p:spPr>
          <a:xfrm>
            <a:off x="228600" y="2176272"/>
            <a:ext cx="4206240" cy="1143000"/>
          </a:xfrm>
          <a:prstGeom prst="rect">
            <a:avLst/>
          </a:prstGeom>
          <a:solidFill>
            <a:srgbClr val="FFFFFF"/>
          </a:solidFill>
          <a:ln/>
          <a:effectLst>
            <a:outerShdw blurRad="101600" dist="38100" dir="8100000" algn="bl" rotWithShape="0">
              <a:srgbClr val="000000">
                <a:alpha val="18000"/>
              </a:srgbClr>
            </a:outerShdw>
          </a:effectLst>
        </p:spPr>
      </p:sp>
      <p:sp>
        <p:nvSpPr>
          <p:cNvPr id="12" name="Shape 9"/>
          <p:cNvSpPr/>
          <p:nvPr/>
        </p:nvSpPr>
        <p:spPr>
          <a:xfrm>
            <a:off x="228600" y="2176272"/>
            <a:ext cx="109728" cy="1143000"/>
          </a:xfrm>
          <a:prstGeom prst="rect">
            <a:avLst/>
          </a:prstGeom>
          <a:solidFill>
            <a:srgbClr val="27AE60"/>
          </a:solidFill>
          <a:ln/>
        </p:spPr>
      </p:sp>
      <p:pic>
        <p:nvPicPr>
          <p:cNvPr id="13" name="Image 1" descr="preencoded.png"/>
          <p:cNvPicPr>
            <a:picLocks noChangeAspect="1"/>
          </p:cNvPicPr>
          <p:nvPr/>
        </p:nvPicPr>
        <p:blipFill>
          <a:blip r:embed="rId4"/>
          <a:stretch>
            <a:fillRect/>
          </a:stretch>
        </p:blipFill>
        <p:spPr>
          <a:xfrm>
            <a:off x="429768" y="2450592"/>
            <a:ext cx="457200" cy="457200"/>
          </a:xfrm>
          <a:prstGeom prst="rect">
            <a:avLst/>
          </a:prstGeom>
        </p:spPr>
      </p:pic>
      <p:sp>
        <p:nvSpPr>
          <p:cNvPr id="14" name="Text 10"/>
          <p:cNvSpPr/>
          <p:nvPr/>
        </p:nvSpPr>
        <p:spPr>
          <a:xfrm>
            <a:off x="1005840" y="2267712"/>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HTTPS padlock</a:t>
            </a:r>
            <a:endParaRPr lang="en-US" sz="1300" dirty="0"/>
          </a:p>
        </p:txBody>
      </p:sp>
      <p:sp>
        <p:nvSpPr>
          <p:cNvPr id="15" name="Text 11"/>
          <p:cNvSpPr/>
          <p:nvPr/>
        </p:nvSpPr>
        <p:spPr>
          <a:xfrm>
            <a:off x="1005840" y="2651760"/>
            <a:ext cx="3291840" cy="594360"/>
          </a:xfrm>
          <a:prstGeom prst="rect">
            <a:avLst/>
          </a:prstGeom>
          <a:noFill/>
          <a:ln/>
        </p:spPr>
        <p:txBody>
          <a:bodyPr wrap="square" lIns="0" tIns="0" rIns="0" bIns="0" rtlCol="0" anchor="ctr"/>
          <a:lstStyle/>
          <a:p>
            <a:pPr marL="0" indent="0">
              <a:buNone/>
            </a:pPr>
            <a:r>
              <a:rPr lang="en-US" sz="1050" dirty="0">
                <a:solidFill>
                  <a:srgbClr val="7F8C8D"/>
                </a:solidFill>
              </a:rPr>
              <a:t>Encrypted connection — necessary but NOT sufficient proof of legitimacy</a:t>
            </a:r>
            <a:endParaRPr lang="en-US" sz="1050" dirty="0"/>
          </a:p>
        </p:txBody>
      </p:sp>
      <p:sp>
        <p:nvSpPr>
          <p:cNvPr id="16" name="Shape 12"/>
          <p:cNvSpPr/>
          <p:nvPr/>
        </p:nvSpPr>
        <p:spPr>
          <a:xfrm>
            <a:off x="4690872" y="2176272"/>
            <a:ext cx="4206240" cy="1143000"/>
          </a:xfrm>
          <a:prstGeom prst="rect">
            <a:avLst/>
          </a:prstGeom>
          <a:solidFill>
            <a:srgbClr val="FFFFFF"/>
          </a:solidFill>
          <a:ln/>
          <a:effectLst>
            <a:outerShdw blurRad="101600" dist="38100" dir="8100000" algn="bl" rotWithShape="0">
              <a:srgbClr val="000000">
                <a:alpha val="18000"/>
              </a:srgbClr>
            </a:outerShdw>
          </a:effectLst>
        </p:spPr>
      </p:sp>
      <p:sp>
        <p:nvSpPr>
          <p:cNvPr id="17" name="Shape 13"/>
          <p:cNvSpPr/>
          <p:nvPr/>
        </p:nvSpPr>
        <p:spPr>
          <a:xfrm>
            <a:off x="4690872" y="2176272"/>
            <a:ext cx="109728" cy="1143000"/>
          </a:xfrm>
          <a:prstGeom prst="rect">
            <a:avLst/>
          </a:prstGeom>
          <a:solidFill>
            <a:srgbClr val="E74C3C"/>
          </a:solidFill>
          <a:ln/>
        </p:spPr>
      </p:sp>
      <p:pic>
        <p:nvPicPr>
          <p:cNvPr id="18" name="Image 2" descr="preencoded.png"/>
          <p:cNvPicPr>
            <a:picLocks noChangeAspect="1"/>
          </p:cNvPicPr>
          <p:nvPr/>
        </p:nvPicPr>
        <p:blipFill>
          <a:blip r:embed="rId5"/>
          <a:stretch>
            <a:fillRect/>
          </a:stretch>
        </p:blipFill>
        <p:spPr>
          <a:xfrm>
            <a:off x="4892040" y="2450592"/>
            <a:ext cx="457200" cy="457200"/>
          </a:xfrm>
          <a:prstGeom prst="rect">
            <a:avLst/>
          </a:prstGeom>
        </p:spPr>
      </p:pic>
      <p:sp>
        <p:nvSpPr>
          <p:cNvPr id="19" name="Text 14"/>
          <p:cNvSpPr/>
          <p:nvPr/>
        </p:nvSpPr>
        <p:spPr>
          <a:xfrm>
            <a:off x="5468112" y="2267712"/>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HTTP (no padlock)</a:t>
            </a:r>
            <a:endParaRPr lang="en-US" sz="1300" dirty="0"/>
          </a:p>
        </p:txBody>
      </p:sp>
      <p:sp>
        <p:nvSpPr>
          <p:cNvPr id="20" name="Text 15"/>
          <p:cNvSpPr/>
          <p:nvPr/>
        </p:nvSpPr>
        <p:spPr>
          <a:xfrm>
            <a:off x="5468112" y="2651760"/>
            <a:ext cx="3291840" cy="594360"/>
          </a:xfrm>
          <a:prstGeom prst="rect">
            <a:avLst/>
          </a:prstGeom>
          <a:noFill/>
          <a:ln/>
        </p:spPr>
        <p:txBody>
          <a:bodyPr wrap="square" lIns="0" tIns="0" rIns="0" bIns="0" rtlCol="0" anchor="ctr"/>
          <a:lstStyle/>
          <a:p>
            <a:pPr marL="0" indent="0">
              <a:buNone/>
            </a:pPr>
            <a:r>
              <a:rPr lang="en-US" sz="1050" dirty="0">
                <a:solidFill>
                  <a:srgbClr val="7F8C8D"/>
                </a:solidFill>
              </a:rPr>
              <a:t>Never enter sensitive info on HTTP pages</a:t>
            </a:r>
            <a:endParaRPr lang="en-US" sz="1050" dirty="0"/>
          </a:p>
        </p:txBody>
      </p:sp>
      <p:sp>
        <p:nvSpPr>
          <p:cNvPr id="21" name="Shape 16"/>
          <p:cNvSpPr/>
          <p:nvPr/>
        </p:nvSpPr>
        <p:spPr>
          <a:xfrm>
            <a:off x="228600" y="3502152"/>
            <a:ext cx="4206240" cy="1143000"/>
          </a:xfrm>
          <a:prstGeom prst="rect">
            <a:avLst/>
          </a:prstGeom>
          <a:solidFill>
            <a:srgbClr val="FFFFFF"/>
          </a:solidFill>
          <a:ln/>
          <a:effectLst>
            <a:outerShdw blurRad="101600" dist="38100" dir="8100000" algn="bl" rotWithShape="0">
              <a:srgbClr val="000000">
                <a:alpha val="18000"/>
              </a:srgbClr>
            </a:outerShdw>
          </a:effectLst>
        </p:spPr>
      </p:sp>
      <p:sp>
        <p:nvSpPr>
          <p:cNvPr id="22" name="Shape 17"/>
          <p:cNvSpPr/>
          <p:nvPr/>
        </p:nvSpPr>
        <p:spPr>
          <a:xfrm>
            <a:off x="228600" y="3502152"/>
            <a:ext cx="109728" cy="1143000"/>
          </a:xfrm>
          <a:prstGeom prst="rect">
            <a:avLst/>
          </a:prstGeom>
          <a:solidFill>
            <a:srgbClr val="E74C3C"/>
          </a:solidFill>
          <a:ln/>
        </p:spPr>
      </p:sp>
      <p:pic>
        <p:nvPicPr>
          <p:cNvPr id="23" name="Image 3" descr="preencoded.png"/>
          <p:cNvPicPr>
            <a:picLocks noChangeAspect="1"/>
          </p:cNvPicPr>
          <p:nvPr/>
        </p:nvPicPr>
        <p:blipFill>
          <a:blip r:embed="rId6"/>
          <a:stretch>
            <a:fillRect/>
          </a:stretch>
        </p:blipFill>
        <p:spPr>
          <a:xfrm>
            <a:off x="429768" y="3776472"/>
            <a:ext cx="457200" cy="457200"/>
          </a:xfrm>
          <a:prstGeom prst="rect">
            <a:avLst/>
          </a:prstGeom>
        </p:spPr>
      </p:pic>
      <p:sp>
        <p:nvSpPr>
          <p:cNvPr id="24" name="Text 18"/>
          <p:cNvSpPr/>
          <p:nvPr/>
        </p:nvSpPr>
        <p:spPr>
          <a:xfrm>
            <a:off x="1005840" y="3593592"/>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Domain misspelling</a:t>
            </a:r>
            <a:endParaRPr lang="en-US" sz="1300" dirty="0"/>
          </a:p>
        </p:txBody>
      </p:sp>
      <p:sp>
        <p:nvSpPr>
          <p:cNvPr id="25" name="Text 19"/>
          <p:cNvSpPr/>
          <p:nvPr/>
        </p:nvSpPr>
        <p:spPr>
          <a:xfrm>
            <a:off x="1005840" y="3977640"/>
            <a:ext cx="3291840" cy="594360"/>
          </a:xfrm>
          <a:prstGeom prst="rect">
            <a:avLst/>
          </a:prstGeom>
          <a:noFill/>
          <a:ln/>
        </p:spPr>
        <p:txBody>
          <a:bodyPr wrap="square" lIns="0" tIns="0" rIns="0" bIns="0" rtlCol="0" anchor="ctr"/>
          <a:lstStyle/>
          <a:p>
            <a:pPr marL="0" indent="0">
              <a:buNone/>
            </a:pPr>
            <a:r>
              <a:rPr lang="en-US" sz="1050" dirty="0">
                <a:solidFill>
                  <a:srgbClr val="7F8C8D"/>
                </a:solidFill>
              </a:rPr>
              <a:t>paypa1.com · arnazon.com · g00gle.com · microsofft.com</a:t>
            </a:r>
            <a:endParaRPr lang="en-US" sz="1050" dirty="0"/>
          </a:p>
        </p:txBody>
      </p:sp>
      <p:sp>
        <p:nvSpPr>
          <p:cNvPr id="26" name="Shape 20"/>
          <p:cNvSpPr/>
          <p:nvPr/>
        </p:nvSpPr>
        <p:spPr>
          <a:xfrm>
            <a:off x="4690872" y="3502152"/>
            <a:ext cx="4206240" cy="1143000"/>
          </a:xfrm>
          <a:prstGeom prst="rect">
            <a:avLst/>
          </a:prstGeom>
          <a:solidFill>
            <a:srgbClr val="FFFFFF"/>
          </a:solidFill>
          <a:ln/>
          <a:effectLst>
            <a:outerShdw blurRad="101600" dist="38100" dir="8100000" algn="bl" rotWithShape="0">
              <a:srgbClr val="000000">
                <a:alpha val="18000"/>
              </a:srgbClr>
            </a:outerShdw>
          </a:effectLst>
        </p:spPr>
      </p:sp>
      <p:sp>
        <p:nvSpPr>
          <p:cNvPr id="27" name="Shape 21"/>
          <p:cNvSpPr/>
          <p:nvPr/>
        </p:nvSpPr>
        <p:spPr>
          <a:xfrm>
            <a:off x="4690872" y="3502152"/>
            <a:ext cx="109728" cy="1143000"/>
          </a:xfrm>
          <a:prstGeom prst="rect">
            <a:avLst/>
          </a:prstGeom>
          <a:solidFill>
            <a:srgbClr val="E67E22"/>
          </a:solidFill>
          <a:ln/>
        </p:spPr>
      </p:sp>
      <p:pic>
        <p:nvPicPr>
          <p:cNvPr id="28" name="Image 4" descr="preencoded.png"/>
          <p:cNvPicPr>
            <a:picLocks noChangeAspect="1"/>
          </p:cNvPicPr>
          <p:nvPr/>
        </p:nvPicPr>
        <p:blipFill>
          <a:blip r:embed="rId7"/>
          <a:stretch>
            <a:fillRect/>
          </a:stretch>
        </p:blipFill>
        <p:spPr>
          <a:xfrm>
            <a:off x="4892040" y="3776472"/>
            <a:ext cx="457200" cy="457200"/>
          </a:xfrm>
          <a:prstGeom prst="rect">
            <a:avLst/>
          </a:prstGeom>
        </p:spPr>
      </p:pic>
      <p:sp>
        <p:nvSpPr>
          <p:cNvPr id="29" name="Text 22"/>
          <p:cNvSpPr/>
          <p:nvPr/>
        </p:nvSpPr>
        <p:spPr>
          <a:xfrm>
            <a:off x="5468112" y="3593592"/>
            <a:ext cx="3291840" cy="365760"/>
          </a:xfrm>
          <a:prstGeom prst="rect">
            <a:avLst/>
          </a:prstGeom>
          <a:noFill/>
          <a:ln/>
        </p:spPr>
        <p:txBody>
          <a:bodyPr wrap="square" lIns="0" tIns="0" rIns="0" bIns="0" rtlCol="0" anchor="ctr"/>
          <a:lstStyle/>
          <a:p>
            <a:pPr marL="0" indent="0">
              <a:buNone/>
            </a:pPr>
            <a:r>
              <a:rPr lang="en-US" sz="1300" b="1" dirty="0">
                <a:solidFill>
                  <a:srgbClr val="2C3E50"/>
                </a:solidFill>
              </a:rPr>
              <a:t>Subdomain tricks</a:t>
            </a:r>
            <a:endParaRPr lang="en-US" sz="1300" dirty="0"/>
          </a:p>
        </p:txBody>
      </p:sp>
      <p:sp>
        <p:nvSpPr>
          <p:cNvPr id="30" name="Text 23"/>
          <p:cNvSpPr/>
          <p:nvPr/>
        </p:nvSpPr>
        <p:spPr>
          <a:xfrm>
            <a:off x="5468112" y="3977640"/>
            <a:ext cx="3291840" cy="594360"/>
          </a:xfrm>
          <a:prstGeom prst="rect">
            <a:avLst/>
          </a:prstGeom>
          <a:noFill/>
          <a:ln/>
        </p:spPr>
        <p:txBody>
          <a:bodyPr wrap="square" lIns="0" tIns="0" rIns="0" bIns="0" rtlCol="0" anchor="ctr"/>
          <a:lstStyle/>
          <a:p>
            <a:pPr marL="0" indent="0">
              <a:buNone/>
            </a:pPr>
            <a:r>
              <a:rPr lang="en-US" sz="1050" dirty="0">
                <a:solidFill>
                  <a:srgbClr val="7F8C8D"/>
                </a:solidFill>
              </a:rPr>
              <a:t>paypal.com.evil-site.ru  ← real domain is 'evil-site.ru', not PayPal!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C3E50"/>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  Social Engineering Tactics</a:t>
            </a:r>
            <a:endParaRPr lang="en-US" sz="2400" dirty="0"/>
          </a:p>
        </p:txBody>
      </p:sp>
      <p:sp>
        <p:nvSpPr>
          <p:cNvPr id="4" name="Text 2"/>
          <p:cNvSpPr/>
          <p:nvPr/>
        </p:nvSpPr>
        <p:spPr>
          <a:xfrm>
            <a:off x="7772400" y="128016"/>
            <a:ext cx="1280160" cy="365760"/>
          </a:xfrm>
          <a:prstGeom prst="rect">
            <a:avLst/>
          </a:prstGeom>
          <a:noFill/>
          <a:ln/>
        </p:spPr>
        <p:txBody>
          <a:bodyPr wrap="square" lIns="0" tIns="0" rIns="0" bIns="0" rtlCol="0" anchor="ctr"/>
          <a:lstStyle/>
          <a:p>
            <a:pPr marL="0" indent="0" algn="r">
              <a:buNone/>
            </a:pPr>
            <a:r>
              <a:rPr lang="en-US" sz="1000" dirty="0">
                <a:solidFill>
                  <a:srgbClr val="148F77"/>
                </a:solidFill>
              </a:rPr>
              <a:t>Section 3 of 6</a:t>
            </a:r>
            <a:endParaRPr lang="en-US" sz="1000" dirty="0"/>
          </a:p>
        </p:txBody>
      </p:sp>
      <p:sp>
        <p:nvSpPr>
          <p:cNvPr id="5" name="Text 3"/>
          <p:cNvSpPr/>
          <p:nvPr/>
        </p:nvSpPr>
        <p:spPr>
          <a:xfrm>
            <a:off x="365760" y="804672"/>
            <a:ext cx="8229600" cy="365760"/>
          </a:xfrm>
          <a:prstGeom prst="rect">
            <a:avLst/>
          </a:prstGeom>
          <a:noFill/>
          <a:ln/>
        </p:spPr>
        <p:txBody>
          <a:bodyPr wrap="square" lIns="0" tIns="0" rIns="0" bIns="0" rtlCol="0" anchor="ctr"/>
          <a:lstStyle/>
          <a:p>
            <a:pPr marL="0" indent="0">
              <a:buNone/>
            </a:pPr>
            <a:r>
              <a:rPr lang="en-US" sz="1400" i="1" dirty="0">
                <a:solidFill>
                  <a:srgbClr val="CDD3DC"/>
                </a:solidFill>
              </a:rPr>
              <a:t>Attackers manipulate human psychology — not just systems.</a:t>
            </a:r>
            <a:endParaRPr lang="en-US" sz="1400" dirty="0"/>
          </a:p>
        </p:txBody>
      </p:sp>
      <p:sp>
        <p:nvSpPr>
          <p:cNvPr id="6" name="Shape 4"/>
          <p:cNvSpPr/>
          <p:nvPr/>
        </p:nvSpPr>
        <p:spPr>
          <a:xfrm>
            <a:off x="228600" y="1261872"/>
            <a:ext cx="4206240" cy="1645920"/>
          </a:xfrm>
          <a:prstGeom prst="rect">
            <a:avLst/>
          </a:prstGeom>
          <a:solidFill>
            <a:srgbClr val="1B4F72"/>
          </a:solidFill>
          <a:ln/>
          <a:effectLst>
            <a:outerShdw blurRad="101600" dist="38100" dir="8100000" algn="bl" rotWithShape="0">
              <a:srgbClr val="000000">
                <a:alpha val="18000"/>
              </a:srgbClr>
            </a:outerShdw>
          </a:effectLst>
        </p:spPr>
      </p:sp>
      <p:sp>
        <p:nvSpPr>
          <p:cNvPr id="7" name="Shape 5"/>
          <p:cNvSpPr/>
          <p:nvPr/>
        </p:nvSpPr>
        <p:spPr>
          <a:xfrm>
            <a:off x="228600" y="1261872"/>
            <a:ext cx="109728" cy="1645920"/>
          </a:xfrm>
          <a:prstGeom prst="rect">
            <a:avLst/>
          </a:prstGeom>
          <a:solidFill>
            <a:srgbClr val="E74C3C"/>
          </a:solidFill>
          <a:ln/>
        </p:spPr>
      </p:sp>
      <p:pic>
        <p:nvPicPr>
          <p:cNvPr id="8" name="Image 0" descr="preencoded.png"/>
          <p:cNvPicPr>
            <a:picLocks noChangeAspect="1"/>
          </p:cNvPicPr>
          <p:nvPr/>
        </p:nvPicPr>
        <p:blipFill>
          <a:blip r:embed="rId3"/>
          <a:stretch>
            <a:fillRect/>
          </a:stretch>
        </p:blipFill>
        <p:spPr>
          <a:xfrm>
            <a:off x="429768" y="1399032"/>
            <a:ext cx="502920" cy="502920"/>
          </a:xfrm>
          <a:prstGeom prst="rect">
            <a:avLst/>
          </a:prstGeom>
        </p:spPr>
      </p:pic>
      <p:sp>
        <p:nvSpPr>
          <p:cNvPr id="9" name="Text 6"/>
          <p:cNvSpPr/>
          <p:nvPr/>
        </p:nvSpPr>
        <p:spPr>
          <a:xfrm>
            <a:off x="1051560" y="1353312"/>
            <a:ext cx="3200400" cy="384048"/>
          </a:xfrm>
          <a:prstGeom prst="rect">
            <a:avLst/>
          </a:prstGeom>
          <a:noFill/>
          <a:ln/>
        </p:spPr>
        <p:txBody>
          <a:bodyPr wrap="square" lIns="0" tIns="0" rIns="0" bIns="0" rtlCol="0" anchor="ctr"/>
          <a:lstStyle/>
          <a:p>
            <a:pPr marL="0" indent="0">
              <a:buNone/>
            </a:pPr>
            <a:r>
              <a:rPr lang="en-US" sz="1600" b="1" dirty="0">
                <a:solidFill>
                  <a:srgbClr val="FFFFFF"/>
                </a:solidFill>
              </a:rPr>
              <a:t>Spoofing</a:t>
            </a:r>
            <a:endParaRPr lang="en-US" sz="1600" dirty="0"/>
          </a:p>
        </p:txBody>
      </p:sp>
      <p:sp>
        <p:nvSpPr>
          <p:cNvPr id="10" name="Text 7"/>
          <p:cNvSpPr/>
          <p:nvPr/>
        </p:nvSpPr>
        <p:spPr>
          <a:xfrm>
            <a:off x="1051560" y="1719072"/>
            <a:ext cx="3200400" cy="274320"/>
          </a:xfrm>
          <a:prstGeom prst="rect">
            <a:avLst/>
          </a:prstGeom>
          <a:noFill/>
          <a:ln/>
        </p:spPr>
        <p:txBody>
          <a:bodyPr wrap="square" lIns="0" tIns="0" rIns="0" bIns="0" rtlCol="0" anchor="ctr"/>
          <a:lstStyle/>
          <a:p>
            <a:pPr marL="0" indent="0">
              <a:buNone/>
            </a:pPr>
            <a:r>
              <a:rPr lang="en-US" sz="1100" i="1" dirty="0">
                <a:solidFill>
                  <a:srgbClr val="E74C3C"/>
                </a:solidFill>
              </a:rPr>
              <a:t>Impersonating trusted entities</a:t>
            </a:r>
            <a:endParaRPr lang="en-US" sz="1100" dirty="0"/>
          </a:p>
        </p:txBody>
      </p:sp>
      <p:sp>
        <p:nvSpPr>
          <p:cNvPr id="11" name="Text 8"/>
          <p:cNvSpPr/>
          <p:nvPr/>
        </p:nvSpPr>
        <p:spPr>
          <a:xfrm>
            <a:off x="429768" y="2066544"/>
            <a:ext cx="3794760" cy="749808"/>
          </a:xfrm>
          <a:prstGeom prst="rect">
            <a:avLst/>
          </a:prstGeom>
          <a:noFill/>
          <a:ln/>
        </p:spPr>
        <p:txBody>
          <a:bodyPr wrap="square" lIns="0" tIns="0" rIns="0" bIns="0" rtlCol="0" anchor="ctr"/>
          <a:lstStyle/>
          <a:p>
            <a:pPr marL="0" indent="0">
              <a:buNone/>
            </a:pPr>
            <a:r>
              <a:rPr lang="en-US" sz="1050" dirty="0">
                <a:solidFill>
                  <a:srgbClr val="CDD3DC"/>
                </a:solidFill>
              </a:rPr>
              <a:t>Fake 'Microsoft Support' call / email from 'your CEO'</a:t>
            </a:r>
            <a:endParaRPr lang="en-US" sz="1050" dirty="0"/>
          </a:p>
          <a:p>
            <a:pPr marL="0" indent="0">
              <a:buNone/>
            </a:pPr>
            <a:r>
              <a:rPr lang="en-US" sz="1050" dirty="0">
                <a:solidFill>
                  <a:srgbClr val="CDD3DC"/>
                </a:solidFill>
              </a:rPr>
              <a:t>Goal: make you lower your guard immediately</a:t>
            </a:r>
            <a:endParaRPr lang="en-US" sz="1050" dirty="0"/>
          </a:p>
        </p:txBody>
      </p:sp>
      <p:sp>
        <p:nvSpPr>
          <p:cNvPr id="12" name="Shape 9"/>
          <p:cNvSpPr/>
          <p:nvPr/>
        </p:nvSpPr>
        <p:spPr>
          <a:xfrm>
            <a:off x="4690872" y="1261872"/>
            <a:ext cx="4206240" cy="1645920"/>
          </a:xfrm>
          <a:prstGeom prst="rect">
            <a:avLst/>
          </a:prstGeom>
          <a:solidFill>
            <a:srgbClr val="1B4F72"/>
          </a:solidFill>
          <a:ln/>
          <a:effectLst>
            <a:outerShdw blurRad="101600" dist="38100" dir="8100000" algn="bl" rotWithShape="0">
              <a:srgbClr val="000000">
                <a:alpha val="18000"/>
              </a:srgbClr>
            </a:outerShdw>
          </a:effectLst>
        </p:spPr>
      </p:sp>
      <p:sp>
        <p:nvSpPr>
          <p:cNvPr id="13" name="Shape 10"/>
          <p:cNvSpPr/>
          <p:nvPr/>
        </p:nvSpPr>
        <p:spPr>
          <a:xfrm>
            <a:off x="4690872" y="1261872"/>
            <a:ext cx="109728" cy="1645920"/>
          </a:xfrm>
          <a:prstGeom prst="rect">
            <a:avLst/>
          </a:prstGeom>
          <a:solidFill>
            <a:srgbClr val="E67E22"/>
          </a:solidFill>
          <a:ln/>
        </p:spPr>
      </p:sp>
      <p:pic>
        <p:nvPicPr>
          <p:cNvPr id="14" name="Image 1" descr="preencoded.png"/>
          <p:cNvPicPr>
            <a:picLocks noChangeAspect="1"/>
          </p:cNvPicPr>
          <p:nvPr/>
        </p:nvPicPr>
        <p:blipFill>
          <a:blip r:embed="rId4"/>
          <a:stretch>
            <a:fillRect/>
          </a:stretch>
        </p:blipFill>
        <p:spPr>
          <a:xfrm>
            <a:off x="4892040" y="1399032"/>
            <a:ext cx="502920" cy="502920"/>
          </a:xfrm>
          <a:prstGeom prst="rect">
            <a:avLst/>
          </a:prstGeom>
        </p:spPr>
      </p:pic>
      <p:sp>
        <p:nvSpPr>
          <p:cNvPr id="15" name="Text 11"/>
          <p:cNvSpPr/>
          <p:nvPr/>
        </p:nvSpPr>
        <p:spPr>
          <a:xfrm>
            <a:off x="5513832" y="1353312"/>
            <a:ext cx="3200400" cy="384048"/>
          </a:xfrm>
          <a:prstGeom prst="rect">
            <a:avLst/>
          </a:prstGeom>
          <a:noFill/>
          <a:ln/>
        </p:spPr>
        <p:txBody>
          <a:bodyPr wrap="square" lIns="0" tIns="0" rIns="0" bIns="0" rtlCol="0" anchor="ctr"/>
          <a:lstStyle/>
          <a:p>
            <a:pPr marL="0" indent="0">
              <a:buNone/>
            </a:pPr>
            <a:r>
              <a:rPr lang="en-US" sz="1600" b="1" dirty="0">
                <a:solidFill>
                  <a:srgbClr val="FFFFFF"/>
                </a:solidFill>
              </a:rPr>
              <a:t>Baiting</a:t>
            </a:r>
            <a:endParaRPr lang="en-US" sz="1600" dirty="0"/>
          </a:p>
        </p:txBody>
      </p:sp>
      <p:sp>
        <p:nvSpPr>
          <p:cNvPr id="16" name="Text 12"/>
          <p:cNvSpPr/>
          <p:nvPr/>
        </p:nvSpPr>
        <p:spPr>
          <a:xfrm>
            <a:off x="5513832" y="1719072"/>
            <a:ext cx="3200400" cy="274320"/>
          </a:xfrm>
          <a:prstGeom prst="rect">
            <a:avLst/>
          </a:prstGeom>
          <a:noFill/>
          <a:ln/>
        </p:spPr>
        <p:txBody>
          <a:bodyPr wrap="square" lIns="0" tIns="0" rIns="0" bIns="0" rtlCol="0" anchor="ctr"/>
          <a:lstStyle/>
          <a:p>
            <a:pPr marL="0" indent="0">
              <a:buNone/>
            </a:pPr>
            <a:r>
              <a:rPr lang="en-US" sz="1100" i="1" dirty="0">
                <a:solidFill>
                  <a:srgbClr val="E67E22"/>
                </a:solidFill>
              </a:rPr>
              <a:t>Luring with attractive promises</a:t>
            </a:r>
            <a:endParaRPr lang="en-US" sz="1100" dirty="0"/>
          </a:p>
        </p:txBody>
      </p:sp>
      <p:sp>
        <p:nvSpPr>
          <p:cNvPr id="17" name="Text 13"/>
          <p:cNvSpPr/>
          <p:nvPr/>
        </p:nvSpPr>
        <p:spPr>
          <a:xfrm>
            <a:off x="4892040" y="2066544"/>
            <a:ext cx="3794760" cy="749808"/>
          </a:xfrm>
          <a:prstGeom prst="rect">
            <a:avLst/>
          </a:prstGeom>
          <a:noFill/>
          <a:ln/>
        </p:spPr>
        <p:txBody>
          <a:bodyPr wrap="square" lIns="0" tIns="0" rIns="0" bIns="0" rtlCol="0" anchor="ctr"/>
          <a:lstStyle/>
          <a:p>
            <a:pPr marL="0" indent="0">
              <a:buNone/>
            </a:pPr>
            <a:r>
              <a:rPr lang="en-US" sz="1050" dirty="0">
                <a:solidFill>
                  <a:srgbClr val="CDD3DC"/>
                </a:solidFill>
              </a:rPr>
              <a:t>"Free gift card — click here!" / USB drives left in parking lots</a:t>
            </a:r>
            <a:endParaRPr lang="en-US" sz="1050" dirty="0"/>
          </a:p>
          <a:p>
            <a:pPr marL="0" indent="0">
              <a:buNone/>
            </a:pPr>
            <a:r>
              <a:rPr lang="en-US" sz="1050" dirty="0">
                <a:solidFill>
                  <a:srgbClr val="CDD3DC"/>
                </a:solidFill>
              </a:rPr>
              <a:t>Goal: curiosity overrides caution</a:t>
            </a:r>
            <a:endParaRPr lang="en-US" sz="1050" dirty="0"/>
          </a:p>
        </p:txBody>
      </p:sp>
      <p:sp>
        <p:nvSpPr>
          <p:cNvPr id="18" name="Shape 14"/>
          <p:cNvSpPr/>
          <p:nvPr/>
        </p:nvSpPr>
        <p:spPr>
          <a:xfrm>
            <a:off x="228600" y="3072384"/>
            <a:ext cx="4206240" cy="1645920"/>
          </a:xfrm>
          <a:prstGeom prst="rect">
            <a:avLst/>
          </a:prstGeom>
          <a:solidFill>
            <a:srgbClr val="1B4F72"/>
          </a:solidFill>
          <a:ln/>
          <a:effectLst>
            <a:outerShdw blurRad="101600" dist="38100" dir="8100000" algn="bl" rotWithShape="0">
              <a:srgbClr val="000000">
                <a:alpha val="18000"/>
              </a:srgbClr>
            </a:outerShdw>
          </a:effectLst>
        </p:spPr>
      </p:sp>
      <p:sp>
        <p:nvSpPr>
          <p:cNvPr id="19" name="Shape 15"/>
          <p:cNvSpPr/>
          <p:nvPr/>
        </p:nvSpPr>
        <p:spPr>
          <a:xfrm>
            <a:off x="228600" y="3072384"/>
            <a:ext cx="109728" cy="1645920"/>
          </a:xfrm>
          <a:prstGeom prst="rect">
            <a:avLst/>
          </a:prstGeom>
          <a:solidFill>
            <a:srgbClr val="1B4F72"/>
          </a:solidFill>
          <a:ln/>
        </p:spPr>
      </p:sp>
      <p:pic>
        <p:nvPicPr>
          <p:cNvPr id="20" name="Image 2" descr="preencoded.png"/>
          <p:cNvPicPr>
            <a:picLocks noChangeAspect="1"/>
          </p:cNvPicPr>
          <p:nvPr/>
        </p:nvPicPr>
        <p:blipFill>
          <a:blip r:embed="rId5"/>
          <a:stretch>
            <a:fillRect/>
          </a:stretch>
        </p:blipFill>
        <p:spPr>
          <a:xfrm>
            <a:off x="429768" y="3209544"/>
            <a:ext cx="502920" cy="502920"/>
          </a:xfrm>
          <a:prstGeom prst="rect">
            <a:avLst/>
          </a:prstGeom>
        </p:spPr>
      </p:pic>
      <p:sp>
        <p:nvSpPr>
          <p:cNvPr id="21" name="Text 16"/>
          <p:cNvSpPr/>
          <p:nvPr/>
        </p:nvSpPr>
        <p:spPr>
          <a:xfrm>
            <a:off x="1051560" y="3163824"/>
            <a:ext cx="3200400" cy="384048"/>
          </a:xfrm>
          <a:prstGeom prst="rect">
            <a:avLst/>
          </a:prstGeom>
          <a:noFill/>
          <a:ln/>
        </p:spPr>
        <p:txBody>
          <a:bodyPr wrap="square" lIns="0" tIns="0" rIns="0" bIns="0" rtlCol="0" anchor="ctr"/>
          <a:lstStyle/>
          <a:p>
            <a:pPr marL="0" indent="0">
              <a:buNone/>
            </a:pPr>
            <a:r>
              <a:rPr lang="en-US" sz="1600" b="1" dirty="0">
                <a:solidFill>
                  <a:srgbClr val="FFFFFF"/>
                </a:solidFill>
              </a:rPr>
              <a:t>Tailgating</a:t>
            </a:r>
            <a:endParaRPr lang="en-US" sz="1600" dirty="0"/>
          </a:p>
        </p:txBody>
      </p:sp>
      <p:sp>
        <p:nvSpPr>
          <p:cNvPr id="22" name="Text 17"/>
          <p:cNvSpPr/>
          <p:nvPr/>
        </p:nvSpPr>
        <p:spPr>
          <a:xfrm>
            <a:off x="1051560" y="3529584"/>
            <a:ext cx="3200400" cy="274320"/>
          </a:xfrm>
          <a:prstGeom prst="rect">
            <a:avLst/>
          </a:prstGeom>
          <a:noFill/>
          <a:ln/>
        </p:spPr>
        <p:txBody>
          <a:bodyPr wrap="square" lIns="0" tIns="0" rIns="0" bIns="0" rtlCol="0" anchor="ctr"/>
          <a:lstStyle/>
          <a:p>
            <a:pPr marL="0" indent="0">
              <a:buNone/>
            </a:pPr>
            <a:r>
              <a:rPr lang="en-US" sz="1100" i="1" dirty="0">
                <a:solidFill>
                  <a:srgbClr val="1B4F72"/>
                </a:solidFill>
              </a:rPr>
              <a:t>Physical or digital following</a:t>
            </a:r>
            <a:endParaRPr lang="en-US" sz="1100" dirty="0"/>
          </a:p>
        </p:txBody>
      </p:sp>
      <p:sp>
        <p:nvSpPr>
          <p:cNvPr id="23" name="Text 18"/>
          <p:cNvSpPr/>
          <p:nvPr/>
        </p:nvSpPr>
        <p:spPr>
          <a:xfrm>
            <a:off x="429768" y="3877056"/>
            <a:ext cx="3794760" cy="749808"/>
          </a:xfrm>
          <a:prstGeom prst="rect">
            <a:avLst/>
          </a:prstGeom>
          <a:noFill/>
          <a:ln/>
        </p:spPr>
        <p:txBody>
          <a:bodyPr wrap="square" lIns="0" tIns="0" rIns="0" bIns="0" rtlCol="0" anchor="ctr"/>
          <a:lstStyle/>
          <a:p>
            <a:pPr marL="0" indent="0">
              <a:buNone/>
            </a:pPr>
            <a:r>
              <a:rPr lang="en-US" sz="1050" dirty="0">
                <a:solidFill>
                  <a:srgbClr val="CDD3DC"/>
                </a:solidFill>
              </a:rPr>
              <a:t>Slipping through a door behind you / piggybacking on a trust chain</a:t>
            </a:r>
            <a:endParaRPr lang="en-US" sz="1050" dirty="0"/>
          </a:p>
          <a:p>
            <a:pPr marL="0" indent="0">
              <a:buNone/>
            </a:pPr>
            <a:r>
              <a:rPr lang="en-US" sz="1050" dirty="0">
                <a:solidFill>
                  <a:srgbClr val="CDD3DC"/>
                </a:solidFill>
              </a:rPr>
              <a:t>Goal: gain access without credentials</a:t>
            </a:r>
            <a:endParaRPr lang="en-US" sz="1050" dirty="0"/>
          </a:p>
        </p:txBody>
      </p:sp>
      <p:sp>
        <p:nvSpPr>
          <p:cNvPr id="24" name="Shape 19"/>
          <p:cNvSpPr/>
          <p:nvPr/>
        </p:nvSpPr>
        <p:spPr>
          <a:xfrm>
            <a:off x="4690872" y="3072384"/>
            <a:ext cx="4206240" cy="1645920"/>
          </a:xfrm>
          <a:prstGeom prst="rect">
            <a:avLst/>
          </a:prstGeom>
          <a:solidFill>
            <a:srgbClr val="1B4F72"/>
          </a:solidFill>
          <a:ln/>
          <a:effectLst>
            <a:outerShdw blurRad="101600" dist="38100" dir="8100000" algn="bl" rotWithShape="0">
              <a:srgbClr val="000000">
                <a:alpha val="18000"/>
              </a:srgbClr>
            </a:outerShdw>
          </a:effectLst>
        </p:spPr>
      </p:sp>
      <p:sp>
        <p:nvSpPr>
          <p:cNvPr id="25" name="Shape 20"/>
          <p:cNvSpPr/>
          <p:nvPr/>
        </p:nvSpPr>
        <p:spPr>
          <a:xfrm>
            <a:off x="4690872" y="3072384"/>
            <a:ext cx="109728" cy="1645920"/>
          </a:xfrm>
          <a:prstGeom prst="rect">
            <a:avLst/>
          </a:prstGeom>
          <a:solidFill>
            <a:srgbClr val="C0392B"/>
          </a:solidFill>
          <a:ln/>
        </p:spPr>
      </p:sp>
      <p:pic>
        <p:nvPicPr>
          <p:cNvPr id="26" name="Image 3" descr="preencoded.png"/>
          <p:cNvPicPr>
            <a:picLocks noChangeAspect="1"/>
          </p:cNvPicPr>
          <p:nvPr/>
        </p:nvPicPr>
        <p:blipFill>
          <a:blip r:embed="rId6"/>
          <a:stretch>
            <a:fillRect/>
          </a:stretch>
        </p:blipFill>
        <p:spPr>
          <a:xfrm>
            <a:off x="4892040" y="3209544"/>
            <a:ext cx="502920" cy="502920"/>
          </a:xfrm>
          <a:prstGeom prst="rect">
            <a:avLst/>
          </a:prstGeom>
        </p:spPr>
      </p:pic>
      <p:sp>
        <p:nvSpPr>
          <p:cNvPr id="27" name="Text 21"/>
          <p:cNvSpPr/>
          <p:nvPr/>
        </p:nvSpPr>
        <p:spPr>
          <a:xfrm>
            <a:off x="5513832" y="3163824"/>
            <a:ext cx="3200400" cy="384048"/>
          </a:xfrm>
          <a:prstGeom prst="rect">
            <a:avLst/>
          </a:prstGeom>
          <a:noFill/>
          <a:ln/>
        </p:spPr>
        <p:txBody>
          <a:bodyPr wrap="square" lIns="0" tIns="0" rIns="0" bIns="0" rtlCol="0" anchor="ctr"/>
          <a:lstStyle/>
          <a:p>
            <a:pPr marL="0" indent="0">
              <a:buNone/>
            </a:pPr>
            <a:r>
              <a:rPr lang="en-US" sz="1600" b="1" dirty="0">
                <a:solidFill>
                  <a:srgbClr val="FFFFFF"/>
                </a:solidFill>
              </a:rPr>
              <a:t>Urgency &amp; Fear</a:t>
            </a:r>
            <a:endParaRPr lang="en-US" sz="1600" dirty="0"/>
          </a:p>
        </p:txBody>
      </p:sp>
      <p:sp>
        <p:nvSpPr>
          <p:cNvPr id="28" name="Text 22"/>
          <p:cNvSpPr/>
          <p:nvPr/>
        </p:nvSpPr>
        <p:spPr>
          <a:xfrm>
            <a:off x="5513832" y="3529584"/>
            <a:ext cx="3200400" cy="274320"/>
          </a:xfrm>
          <a:prstGeom prst="rect">
            <a:avLst/>
          </a:prstGeom>
          <a:noFill/>
          <a:ln/>
        </p:spPr>
        <p:txBody>
          <a:bodyPr wrap="square" lIns="0" tIns="0" rIns="0" bIns="0" rtlCol="0" anchor="ctr"/>
          <a:lstStyle/>
          <a:p>
            <a:pPr marL="0" indent="0">
              <a:buNone/>
            </a:pPr>
            <a:r>
              <a:rPr lang="en-US" sz="1100" i="1" dirty="0">
                <a:solidFill>
                  <a:srgbClr val="C0392B"/>
                </a:solidFill>
              </a:rPr>
              <a:t>Psychological pressure tactics</a:t>
            </a:r>
            <a:endParaRPr lang="en-US" sz="1100" dirty="0"/>
          </a:p>
        </p:txBody>
      </p:sp>
      <p:sp>
        <p:nvSpPr>
          <p:cNvPr id="29" name="Text 23"/>
          <p:cNvSpPr/>
          <p:nvPr/>
        </p:nvSpPr>
        <p:spPr>
          <a:xfrm>
            <a:off x="4892040" y="3877056"/>
            <a:ext cx="3794760" cy="749808"/>
          </a:xfrm>
          <a:prstGeom prst="rect">
            <a:avLst/>
          </a:prstGeom>
          <a:noFill/>
          <a:ln/>
        </p:spPr>
        <p:txBody>
          <a:bodyPr wrap="square" lIns="0" tIns="0" rIns="0" bIns="0" rtlCol="0" anchor="ctr"/>
          <a:lstStyle/>
          <a:p>
            <a:pPr marL="0" indent="0">
              <a:buNone/>
            </a:pPr>
            <a:r>
              <a:rPr lang="en-US" sz="1050" dirty="0">
                <a:solidFill>
                  <a:srgbClr val="CDD3DC"/>
                </a:solidFill>
              </a:rPr>
              <a:t>"Act now or lose your account!" / fake tax notices</a:t>
            </a:r>
            <a:endParaRPr lang="en-US" sz="1050" dirty="0"/>
          </a:p>
          <a:p>
            <a:pPr marL="0" indent="0">
              <a:buNone/>
            </a:pPr>
            <a:r>
              <a:rPr lang="en-US" sz="1050" dirty="0">
                <a:solidFill>
                  <a:srgbClr val="CDD3DC"/>
                </a:solidFill>
              </a:rPr>
              <a:t>Goal: panic short-circuits critical thinking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8F77"/>
          </a:solidFill>
          <a:ln/>
        </p:spPr>
      </p:sp>
      <p:sp>
        <p:nvSpPr>
          <p:cNvPr id="3" name="Text 1"/>
          <p:cNvSpPr/>
          <p:nvPr/>
        </p:nvSpPr>
        <p:spPr>
          <a:xfrm>
            <a:off x="365760" y="91440"/>
            <a:ext cx="8412480" cy="621792"/>
          </a:xfrm>
          <a:prstGeom prst="rect">
            <a:avLst/>
          </a:prstGeom>
          <a:noFill/>
          <a:ln/>
        </p:spPr>
        <p:txBody>
          <a:bodyPr wrap="square" lIns="0" tIns="0" rIns="0" bIns="0" rtlCol="0" anchor="ctr"/>
          <a:lstStyle/>
          <a:p>
            <a:pPr marL="0" indent="0">
              <a:buNone/>
            </a:pPr>
            <a:r>
              <a:rPr lang="en-US" sz="2400" b="1" dirty="0">
                <a:solidFill>
                  <a:srgbClr val="FFFFFF"/>
                </a:solidFill>
              </a:rPr>
              <a:t>🎯  QUICK CHECK — Spot the Phish!</a:t>
            </a:r>
            <a:endParaRPr lang="en-US" sz="2400" dirty="0"/>
          </a:p>
        </p:txBody>
      </p:sp>
      <p:sp>
        <p:nvSpPr>
          <p:cNvPr id="4" name="Text 2"/>
          <p:cNvSpPr/>
          <p:nvPr/>
        </p:nvSpPr>
        <p:spPr>
          <a:xfrm>
            <a:off x="365760" y="914400"/>
            <a:ext cx="8412480" cy="365760"/>
          </a:xfrm>
          <a:prstGeom prst="rect">
            <a:avLst/>
          </a:prstGeom>
          <a:noFill/>
          <a:ln/>
        </p:spPr>
        <p:txBody>
          <a:bodyPr wrap="square" lIns="0" tIns="0" rIns="0" bIns="0" rtlCol="0" anchor="ctr"/>
          <a:lstStyle/>
          <a:p>
            <a:pPr marL="0" indent="0">
              <a:buNone/>
            </a:pPr>
            <a:r>
              <a:rPr lang="en-US" sz="1300" dirty="0">
                <a:solidFill>
                  <a:srgbClr val="CDD3DC"/>
                </a:solidFill>
              </a:rPr>
              <a:t>Read this email excerpt. How many red flags can you find?  (Share your answers with a neighbor!)</a:t>
            </a:r>
            <a:endParaRPr lang="en-US" sz="1300" dirty="0"/>
          </a:p>
        </p:txBody>
      </p:sp>
      <p:sp>
        <p:nvSpPr>
          <p:cNvPr id="5" name="Shape 3"/>
          <p:cNvSpPr/>
          <p:nvPr/>
        </p:nvSpPr>
        <p:spPr>
          <a:xfrm>
            <a:off x="365760" y="1371600"/>
            <a:ext cx="8412480" cy="2697480"/>
          </a:xfrm>
          <a:prstGeom prst="rect">
            <a:avLst/>
          </a:prstGeom>
          <a:solidFill>
            <a:srgbClr val="1A2B3C"/>
          </a:solidFill>
          <a:ln/>
          <a:effectLst>
            <a:outerShdw blurRad="101600" dist="38100" dir="8100000" algn="bl" rotWithShape="0">
              <a:srgbClr val="000000">
                <a:alpha val="18000"/>
              </a:srgbClr>
            </a:outerShdw>
          </a:effectLst>
        </p:spPr>
      </p:sp>
      <p:sp>
        <p:nvSpPr>
          <p:cNvPr id="6" name="Shape 4"/>
          <p:cNvSpPr/>
          <p:nvPr/>
        </p:nvSpPr>
        <p:spPr>
          <a:xfrm>
            <a:off x="365760" y="1371600"/>
            <a:ext cx="8412480" cy="420624"/>
          </a:xfrm>
          <a:prstGeom prst="rect">
            <a:avLst/>
          </a:prstGeom>
          <a:solidFill>
            <a:srgbClr val="1B4F72"/>
          </a:solidFill>
          <a:ln/>
        </p:spPr>
      </p:sp>
      <p:sp>
        <p:nvSpPr>
          <p:cNvPr id="7" name="Text 5"/>
          <p:cNvSpPr/>
          <p:nvPr/>
        </p:nvSpPr>
        <p:spPr>
          <a:xfrm>
            <a:off x="502920" y="1417320"/>
            <a:ext cx="8046720" cy="320040"/>
          </a:xfrm>
          <a:prstGeom prst="rect">
            <a:avLst/>
          </a:prstGeom>
          <a:noFill/>
          <a:ln/>
        </p:spPr>
        <p:txBody>
          <a:bodyPr wrap="square" lIns="0" tIns="0" rIns="0" bIns="0" rtlCol="0" anchor="ctr"/>
          <a:lstStyle/>
          <a:p>
            <a:pPr marL="0" indent="0">
              <a:buNone/>
            </a:pPr>
            <a:r>
              <a:rPr lang="en-US" sz="1050" dirty="0">
                <a:solidFill>
                  <a:srgbClr val="FFFFFF"/>
                </a:solidFill>
              </a:rPr>
              <a:t>From: IT-Support &lt;helpdesk@micros0ft-support.online&gt;    Subject: ACTION REQUIRED: Verify Your Account NOW</a:t>
            </a:r>
            <a:endParaRPr lang="en-US" sz="1050" dirty="0"/>
          </a:p>
        </p:txBody>
      </p:sp>
      <p:sp>
        <p:nvSpPr>
          <p:cNvPr id="8" name="Text 6"/>
          <p:cNvSpPr/>
          <p:nvPr/>
        </p:nvSpPr>
        <p:spPr>
          <a:xfrm>
            <a:off x="548640" y="1828800"/>
            <a:ext cx="8046720" cy="201168"/>
          </a:xfrm>
          <a:prstGeom prst="rect">
            <a:avLst/>
          </a:prstGeom>
          <a:noFill/>
          <a:ln/>
        </p:spPr>
        <p:txBody>
          <a:bodyPr wrap="square" lIns="0" tIns="0" rIns="0" bIns="0" rtlCol="0" anchor="ctr"/>
          <a:lstStyle/>
          <a:p>
            <a:pPr marL="0" indent="0">
              <a:buNone/>
            </a:pPr>
            <a:r>
              <a:rPr lang="en-US" sz="1050" dirty="0">
                <a:solidFill>
                  <a:srgbClr val="CDD3DC"/>
                </a:solidFill>
              </a:rPr>
              <a:t>Dear Employee,</a:t>
            </a:r>
            <a:endParaRPr lang="en-US" sz="1050" dirty="0"/>
          </a:p>
        </p:txBody>
      </p:sp>
      <p:sp>
        <p:nvSpPr>
          <p:cNvPr id="9" name="Text 7"/>
          <p:cNvSpPr/>
          <p:nvPr/>
        </p:nvSpPr>
        <p:spPr>
          <a:xfrm>
            <a:off x="548640" y="2029968"/>
            <a:ext cx="8046720" cy="201168"/>
          </a:xfrm>
          <a:prstGeom prst="rect">
            <a:avLst/>
          </a:prstGeom>
          <a:noFill/>
          <a:ln/>
        </p:spPr>
        <p:txBody>
          <a:bodyPr wrap="square" lIns="0" tIns="0" rIns="0" bIns="0" rtlCol="0" anchor="ctr"/>
          <a:lstStyle/>
          <a:p>
            <a:pPr marL="0" indent="0">
              <a:buNone/>
            </a:pPr>
            <a:endParaRPr lang="en-US" sz="1050" dirty="0"/>
          </a:p>
        </p:txBody>
      </p:sp>
      <p:sp>
        <p:nvSpPr>
          <p:cNvPr id="10" name="Text 8"/>
          <p:cNvSpPr/>
          <p:nvPr/>
        </p:nvSpPr>
        <p:spPr>
          <a:xfrm>
            <a:off x="548640" y="2231136"/>
            <a:ext cx="8046720" cy="201168"/>
          </a:xfrm>
          <a:prstGeom prst="rect">
            <a:avLst/>
          </a:prstGeom>
          <a:noFill/>
          <a:ln/>
        </p:spPr>
        <p:txBody>
          <a:bodyPr wrap="square" lIns="0" tIns="0" rIns="0" bIns="0" rtlCol="0" anchor="ctr"/>
          <a:lstStyle/>
          <a:p>
            <a:pPr marL="0" indent="0">
              <a:buNone/>
            </a:pPr>
            <a:r>
              <a:rPr lang="en-US" sz="1050" dirty="0">
                <a:solidFill>
                  <a:srgbClr val="CDD3DC"/>
                </a:solidFill>
              </a:rPr>
              <a:t>We have detected suspicious activity on your account. Your access will be PERMANENTLY DELETED</a:t>
            </a:r>
            <a:endParaRPr lang="en-US" sz="1050" dirty="0"/>
          </a:p>
        </p:txBody>
      </p:sp>
      <p:sp>
        <p:nvSpPr>
          <p:cNvPr id="11" name="Text 9"/>
          <p:cNvSpPr/>
          <p:nvPr/>
        </p:nvSpPr>
        <p:spPr>
          <a:xfrm>
            <a:off x="548640" y="2432304"/>
            <a:ext cx="8046720" cy="201168"/>
          </a:xfrm>
          <a:prstGeom prst="rect">
            <a:avLst/>
          </a:prstGeom>
          <a:noFill/>
          <a:ln/>
        </p:spPr>
        <p:txBody>
          <a:bodyPr wrap="square" lIns="0" tIns="0" rIns="0" bIns="0" rtlCol="0" anchor="ctr"/>
          <a:lstStyle/>
          <a:p>
            <a:pPr marL="0" indent="0">
              <a:buNone/>
            </a:pPr>
            <a:r>
              <a:rPr lang="en-US" sz="1050" dirty="0">
                <a:solidFill>
                  <a:srgbClr val="CDD3DC"/>
                </a:solidFill>
              </a:rPr>
              <a:t>within 24 hours unless you verify your identity immediately.</a:t>
            </a:r>
            <a:endParaRPr lang="en-US" sz="1050" dirty="0"/>
          </a:p>
        </p:txBody>
      </p:sp>
      <p:sp>
        <p:nvSpPr>
          <p:cNvPr id="12" name="Text 10"/>
          <p:cNvSpPr/>
          <p:nvPr/>
        </p:nvSpPr>
        <p:spPr>
          <a:xfrm>
            <a:off x="548640" y="2633472"/>
            <a:ext cx="8046720" cy="201168"/>
          </a:xfrm>
          <a:prstGeom prst="rect">
            <a:avLst/>
          </a:prstGeom>
          <a:noFill/>
          <a:ln/>
        </p:spPr>
        <p:txBody>
          <a:bodyPr wrap="square" lIns="0" tIns="0" rIns="0" bIns="0" rtlCol="0" anchor="ctr"/>
          <a:lstStyle/>
          <a:p>
            <a:pPr marL="0" indent="0">
              <a:buNone/>
            </a:pPr>
            <a:endParaRPr lang="en-US" sz="1050" dirty="0"/>
          </a:p>
        </p:txBody>
      </p:sp>
      <p:sp>
        <p:nvSpPr>
          <p:cNvPr id="13" name="Text 11"/>
          <p:cNvSpPr/>
          <p:nvPr/>
        </p:nvSpPr>
        <p:spPr>
          <a:xfrm>
            <a:off x="548640" y="2834640"/>
            <a:ext cx="8046720" cy="201168"/>
          </a:xfrm>
          <a:prstGeom prst="rect">
            <a:avLst/>
          </a:prstGeom>
          <a:noFill/>
          <a:ln/>
        </p:spPr>
        <p:txBody>
          <a:bodyPr wrap="square" lIns="0" tIns="0" rIns="0" bIns="0" rtlCol="0" anchor="ctr"/>
          <a:lstStyle/>
          <a:p>
            <a:pPr marL="0" indent="0">
              <a:buNone/>
            </a:pPr>
            <a:r>
              <a:rPr lang="en-US" sz="1050" dirty="0">
                <a:solidFill>
                  <a:srgbClr val="CDD3DC"/>
                </a:solidFill>
              </a:rPr>
              <a:t>Click here to verify: http://bit.ly/verifyACC0UNT-now</a:t>
            </a:r>
            <a:endParaRPr lang="en-US" sz="1050" dirty="0"/>
          </a:p>
        </p:txBody>
      </p:sp>
      <p:sp>
        <p:nvSpPr>
          <p:cNvPr id="14" name="Text 12"/>
          <p:cNvSpPr/>
          <p:nvPr/>
        </p:nvSpPr>
        <p:spPr>
          <a:xfrm>
            <a:off x="548640" y="3035808"/>
            <a:ext cx="8046720" cy="201168"/>
          </a:xfrm>
          <a:prstGeom prst="rect">
            <a:avLst/>
          </a:prstGeom>
          <a:noFill/>
          <a:ln/>
        </p:spPr>
        <p:txBody>
          <a:bodyPr wrap="square" lIns="0" tIns="0" rIns="0" bIns="0" rtlCol="0" anchor="ctr"/>
          <a:lstStyle/>
          <a:p>
            <a:pPr marL="0" indent="0">
              <a:buNone/>
            </a:pPr>
            <a:endParaRPr lang="en-US" sz="1050" dirty="0"/>
          </a:p>
        </p:txBody>
      </p:sp>
      <p:sp>
        <p:nvSpPr>
          <p:cNvPr id="15" name="Text 13"/>
          <p:cNvSpPr/>
          <p:nvPr/>
        </p:nvSpPr>
        <p:spPr>
          <a:xfrm>
            <a:off x="548640" y="3236976"/>
            <a:ext cx="8046720" cy="201168"/>
          </a:xfrm>
          <a:prstGeom prst="rect">
            <a:avLst/>
          </a:prstGeom>
          <a:noFill/>
          <a:ln/>
        </p:spPr>
        <p:txBody>
          <a:bodyPr wrap="square" lIns="0" tIns="0" rIns="0" bIns="0" rtlCol="0" anchor="ctr"/>
          <a:lstStyle/>
          <a:p>
            <a:pPr marL="0" indent="0">
              <a:buNone/>
            </a:pPr>
            <a:r>
              <a:rPr lang="en-US" sz="1050" dirty="0">
                <a:solidFill>
                  <a:srgbClr val="CDD3DC"/>
                </a:solidFill>
              </a:rPr>
              <a:t>Enter your username, password, and security question answer to restore access.</a:t>
            </a:r>
            <a:endParaRPr lang="en-US" sz="1050" dirty="0"/>
          </a:p>
        </p:txBody>
      </p:sp>
      <p:sp>
        <p:nvSpPr>
          <p:cNvPr id="16" name="Text 14"/>
          <p:cNvSpPr/>
          <p:nvPr/>
        </p:nvSpPr>
        <p:spPr>
          <a:xfrm>
            <a:off x="548640" y="3438144"/>
            <a:ext cx="8046720" cy="201168"/>
          </a:xfrm>
          <a:prstGeom prst="rect">
            <a:avLst/>
          </a:prstGeom>
          <a:noFill/>
          <a:ln/>
        </p:spPr>
        <p:txBody>
          <a:bodyPr wrap="square" lIns="0" tIns="0" rIns="0" bIns="0" rtlCol="0" anchor="ctr"/>
          <a:lstStyle/>
          <a:p>
            <a:pPr marL="0" indent="0">
              <a:buNone/>
            </a:pPr>
            <a:endParaRPr lang="en-US" sz="1050" dirty="0"/>
          </a:p>
        </p:txBody>
      </p:sp>
      <p:sp>
        <p:nvSpPr>
          <p:cNvPr id="17" name="Text 15"/>
          <p:cNvSpPr/>
          <p:nvPr/>
        </p:nvSpPr>
        <p:spPr>
          <a:xfrm>
            <a:off x="548640" y="3639312"/>
            <a:ext cx="8046720" cy="201168"/>
          </a:xfrm>
          <a:prstGeom prst="rect">
            <a:avLst/>
          </a:prstGeom>
          <a:noFill/>
          <a:ln/>
        </p:spPr>
        <p:txBody>
          <a:bodyPr wrap="square" lIns="0" tIns="0" rIns="0" bIns="0" rtlCol="0" anchor="ctr"/>
          <a:lstStyle/>
          <a:p>
            <a:pPr marL="0" indent="0">
              <a:buNone/>
            </a:pPr>
            <a:r>
              <a:rPr lang="en-US" sz="1050" dirty="0">
                <a:solidFill>
                  <a:srgbClr val="CDD3DC"/>
                </a:solidFill>
              </a:rPr>
              <a:t>Failure to act will result in permanent suspension and legal consequences.</a:t>
            </a:r>
            <a:endParaRPr lang="en-US" sz="1050" dirty="0"/>
          </a:p>
        </p:txBody>
      </p:sp>
      <p:sp>
        <p:nvSpPr>
          <p:cNvPr id="18" name="Text 16"/>
          <p:cNvSpPr/>
          <p:nvPr/>
        </p:nvSpPr>
        <p:spPr>
          <a:xfrm>
            <a:off x="548640" y="3840480"/>
            <a:ext cx="8046720" cy="201168"/>
          </a:xfrm>
          <a:prstGeom prst="rect">
            <a:avLst/>
          </a:prstGeom>
          <a:noFill/>
          <a:ln/>
        </p:spPr>
        <p:txBody>
          <a:bodyPr wrap="square" lIns="0" tIns="0" rIns="0" bIns="0" rtlCol="0" anchor="ctr"/>
          <a:lstStyle/>
          <a:p>
            <a:pPr marL="0" indent="0">
              <a:buNone/>
            </a:pPr>
            <a:endParaRPr lang="en-US" sz="1050" dirty="0"/>
          </a:p>
        </p:txBody>
      </p:sp>
      <p:sp>
        <p:nvSpPr>
          <p:cNvPr id="19" name="Text 17"/>
          <p:cNvSpPr/>
          <p:nvPr/>
        </p:nvSpPr>
        <p:spPr>
          <a:xfrm>
            <a:off x="548640" y="4041648"/>
            <a:ext cx="8046720" cy="201168"/>
          </a:xfrm>
          <a:prstGeom prst="rect">
            <a:avLst/>
          </a:prstGeom>
          <a:noFill/>
          <a:ln/>
        </p:spPr>
        <p:txBody>
          <a:bodyPr wrap="square" lIns="0" tIns="0" rIns="0" bIns="0" rtlCol="0" anchor="ctr"/>
          <a:lstStyle/>
          <a:p>
            <a:pPr marL="0" indent="0">
              <a:buNone/>
            </a:pPr>
            <a:r>
              <a:rPr lang="en-US" sz="1050" dirty="0">
                <a:solidFill>
                  <a:srgbClr val="CDD3DC"/>
                </a:solidFill>
              </a:rPr>
              <a:t>— Microsoft IT Security Team</a:t>
            </a:r>
            <a:endParaRPr lang="en-US" sz="1050" dirty="0"/>
          </a:p>
        </p:txBody>
      </p:sp>
      <p:sp>
        <p:nvSpPr>
          <p:cNvPr id="20" name="Text 18"/>
          <p:cNvSpPr/>
          <p:nvPr/>
        </p:nvSpPr>
        <p:spPr>
          <a:xfrm>
            <a:off x="365760" y="4160520"/>
            <a:ext cx="3657600" cy="365760"/>
          </a:xfrm>
          <a:prstGeom prst="rect">
            <a:avLst/>
          </a:prstGeom>
          <a:noFill/>
          <a:ln/>
        </p:spPr>
        <p:txBody>
          <a:bodyPr wrap="square" lIns="0" tIns="0" rIns="0" bIns="0" rtlCol="0" anchor="ctr"/>
          <a:lstStyle/>
          <a:p>
            <a:pPr marL="0" indent="0">
              <a:buNone/>
            </a:pPr>
            <a:r>
              <a:rPr lang="en-US" sz="1300" b="1" dirty="0">
                <a:solidFill>
                  <a:srgbClr val="F4D03F"/>
                </a:solidFill>
              </a:rPr>
              <a:t>Count: ___  Red flags found</a:t>
            </a:r>
            <a:endParaRPr lang="en-US" sz="1300" dirty="0"/>
          </a:p>
        </p:txBody>
      </p:sp>
      <p:sp>
        <p:nvSpPr>
          <p:cNvPr id="21" name="Text 19"/>
          <p:cNvSpPr/>
          <p:nvPr/>
        </p:nvSpPr>
        <p:spPr>
          <a:xfrm>
            <a:off x="6400800" y="4160520"/>
            <a:ext cx="2560320" cy="365760"/>
          </a:xfrm>
          <a:prstGeom prst="rect">
            <a:avLst/>
          </a:prstGeom>
          <a:noFill/>
          <a:ln/>
        </p:spPr>
        <p:txBody>
          <a:bodyPr wrap="square" lIns="0" tIns="0" rIns="0" bIns="0" rtlCol="0" anchor="ctr"/>
          <a:lstStyle/>
          <a:p>
            <a:pPr marL="0" indent="0">
              <a:buNone/>
            </a:pPr>
            <a:r>
              <a:rPr lang="en-US" sz="1100" i="1" dirty="0">
                <a:solidFill>
                  <a:srgbClr val="7F8C8D"/>
                </a:solidFill>
              </a:rPr>
              <a:t>(Answer: 7+ — see next slide)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E74C3C"/>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  Answers: Red Flags Revealed</a:t>
            </a:r>
            <a:endParaRPr lang="en-US" sz="2400" dirty="0"/>
          </a:p>
        </p:txBody>
      </p:sp>
      <p:sp>
        <p:nvSpPr>
          <p:cNvPr id="4" name="Shape 2"/>
          <p:cNvSpPr/>
          <p:nvPr/>
        </p:nvSpPr>
        <p:spPr>
          <a:xfrm>
            <a:off x="274320" y="868680"/>
            <a:ext cx="8595360" cy="438912"/>
          </a:xfrm>
          <a:prstGeom prst="rect">
            <a:avLst/>
          </a:prstGeom>
          <a:solidFill>
            <a:srgbClr val="FFFFFF"/>
          </a:solidFill>
          <a:ln/>
          <a:effectLst>
            <a:outerShdw blurRad="101600" dist="38100" dir="8100000" algn="bl" rotWithShape="0">
              <a:srgbClr val="000000">
                <a:alpha val="18000"/>
              </a:srgbClr>
            </a:outerShdw>
          </a:effectLst>
        </p:spPr>
      </p:sp>
      <p:pic>
        <p:nvPicPr>
          <p:cNvPr id="5" name="Image 0" descr="preencoded.png"/>
          <p:cNvPicPr>
            <a:picLocks noChangeAspect="1"/>
          </p:cNvPicPr>
          <p:nvPr/>
        </p:nvPicPr>
        <p:blipFill>
          <a:blip r:embed="rId3"/>
          <a:stretch>
            <a:fillRect/>
          </a:stretch>
        </p:blipFill>
        <p:spPr>
          <a:xfrm>
            <a:off x="347472" y="941832"/>
            <a:ext cx="274320" cy="274320"/>
          </a:xfrm>
          <a:prstGeom prst="rect">
            <a:avLst/>
          </a:prstGeom>
        </p:spPr>
      </p:pic>
      <p:sp>
        <p:nvSpPr>
          <p:cNvPr id="6" name="Text 3"/>
          <p:cNvSpPr/>
          <p:nvPr/>
        </p:nvSpPr>
        <p:spPr>
          <a:xfrm>
            <a:off x="685800" y="923544"/>
            <a:ext cx="8046720" cy="320040"/>
          </a:xfrm>
          <a:prstGeom prst="rect">
            <a:avLst/>
          </a:prstGeom>
          <a:noFill/>
          <a:ln/>
        </p:spPr>
        <p:txBody>
          <a:bodyPr wrap="square" lIns="0" tIns="0" rIns="0" bIns="0" rtlCol="0" anchor="ctr"/>
          <a:lstStyle/>
          <a:p>
            <a:pPr marL="0" indent="0">
              <a:buNone/>
            </a:pPr>
            <a:r>
              <a:rPr lang="en-US" sz="1200" dirty="0">
                <a:solidFill>
                  <a:srgbClr val="2C3E50"/>
                </a:solidFill>
              </a:rPr>
              <a:t>1.  Fake sender domain: 'micros0ft-support.online' — not microsoft.com</a:t>
            </a:r>
            <a:endParaRPr lang="en-US" sz="1200" dirty="0"/>
          </a:p>
        </p:txBody>
      </p:sp>
      <p:sp>
        <p:nvSpPr>
          <p:cNvPr id="7" name="Shape 4"/>
          <p:cNvSpPr/>
          <p:nvPr/>
        </p:nvSpPr>
        <p:spPr>
          <a:xfrm>
            <a:off x="274320" y="1380744"/>
            <a:ext cx="8595360" cy="438912"/>
          </a:xfrm>
          <a:prstGeom prst="rect">
            <a:avLst/>
          </a:prstGeom>
          <a:solidFill>
            <a:srgbClr val="FDEDED"/>
          </a:solidFill>
          <a:ln/>
          <a:effectLst>
            <a:outerShdw blurRad="101600" dist="38100" dir="8100000" algn="bl" rotWithShape="0">
              <a:srgbClr val="000000">
                <a:alpha val="18000"/>
              </a:srgbClr>
            </a:outerShdw>
          </a:effectLst>
        </p:spPr>
      </p:sp>
      <p:pic>
        <p:nvPicPr>
          <p:cNvPr id="8" name="Image 1" descr="preencoded.png"/>
          <p:cNvPicPr>
            <a:picLocks noChangeAspect="1"/>
          </p:cNvPicPr>
          <p:nvPr/>
        </p:nvPicPr>
        <p:blipFill>
          <a:blip r:embed="rId3"/>
          <a:stretch>
            <a:fillRect/>
          </a:stretch>
        </p:blipFill>
        <p:spPr>
          <a:xfrm>
            <a:off x="347472" y="1453896"/>
            <a:ext cx="274320" cy="274320"/>
          </a:xfrm>
          <a:prstGeom prst="rect">
            <a:avLst/>
          </a:prstGeom>
        </p:spPr>
      </p:pic>
      <p:sp>
        <p:nvSpPr>
          <p:cNvPr id="9" name="Text 5"/>
          <p:cNvSpPr/>
          <p:nvPr/>
        </p:nvSpPr>
        <p:spPr>
          <a:xfrm>
            <a:off x="685800" y="1435608"/>
            <a:ext cx="8046720" cy="320040"/>
          </a:xfrm>
          <a:prstGeom prst="rect">
            <a:avLst/>
          </a:prstGeom>
          <a:noFill/>
          <a:ln/>
        </p:spPr>
        <p:txBody>
          <a:bodyPr wrap="square" lIns="0" tIns="0" rIns="0" bIns="0" rtlCol="0" anchor="ctr"/>
          <a:lstStyle/>
          <a:p>
            <a:pPr marL="0" indent="0">
              <a:buNone/>
            </a:pPr>
            <a:r>
              <a:rPr lang="en-US" sz="1200" dirty="0">
                <a:solidFill>
                  <a:srgbClr val="2C3E50"/>
                </a:solidFill>
              </a:rPr>
              <a:t>2.  Urgent, threatening subject line designed to panic you</a:t>
            </a:r>
            <a:endParaRPr lang="en-US" sz="1200" dirty="0"/>
          </a:p>
        </p:txBody>
      </p:sp>
      <p:sp>
        <p:nvSpPr>
          <p:cNvPr id="10" name="Shape 6"/>
          <p:cNvSpPr/>
          <p:nvPr/>
        </p:nvSpPr>
        <p:spPr>
          <a:xfrm>
            <a:off x="274320" y="1892808"/>
            <a:ext cx="8595360" cy="438912"/>
          </a:xfrm>
          <a:prstGeom prst="rect">
            <a:avLst/>
          </a:prstGeom>
          <a:solidFill>
            <a:srgbClr val="FFFFFF"/>
          </a:solidFill>
          <a:ln/>
          <a:effectLst>
            <a:outerShdw blurRad="101600" dist="38100" dir="8100000" algn="bl" rotWithShape="0">
              <a:srgbClr val="000000">
                <a:alpha val="18000"/>
              </a:srgbClr>
            </a:outerShdw>
          </a:effectLst>
        </p:spPr>
      </p:sp>
      <p:pic>
        <p:nvPicPr>
          <p:cNvPr id="11" name="Image 2" descr="preencoded.png"/>
          <p:cNvPicPr>
            <a:picLocks noChangeAspect="1"/>
          </p:cNvPicPr>
          <p:nvPr/>
        </p:nvPicPr>
        <p:blipFill>
          <a:blip r:embed="rId3"/>
          <a:stretch>
            <a:fillRect/>
          </a:stretch>
        </p:blipFill>
        <p:spPr>
          <a:xfrm>
            <a:off x="347472" y="1965960"/>
            <a:ext cx="274320" cy="274320"/>
          </a:xfrm>
          <a:prstGeom prst="rect">
            <a:avLst/>
          </a:prstGeom>
        </p:spPr>
      </p:pic>
      <p:sp>
        <p:nvSpPr>
          <p:cNvPr id="12" name="Text 7"/>
          <p:cNvSpPr/>
          <p:nvPr/>
        </p:nvSpPr>
        <p:spPr>
          <a:xfrm>
            <a:off x="685800" y="1947672"/>
            <a:ext cx="8046720" cy="320040"/>
          </a:xfrm>
          <a:prstGeom prst="rect">
            <a:avLst/>
          </a:prstGeom>
          <a:noFill/>
          <a:ln/>
        </p:spPr>
        <p:txBody>
          <a:bodyPr wrap="square" lIns="0" tIns="0" rIns="0" bIns="0" rtlCol="0" anchor="ctr"/>
          <a:lstStyle/>
          <a:p>
            <a:pPr marL="0" indent="0">
              <a:buNone/>
            </a:pPr>
            <a:r>
              <a:rPr lang="en-US" sz="1200" dirty="0">
                <a:solidFill>
                  <a:srgbClr val="2C3E50"/>
                </a:solidFill>
              </a:rPr>
              <a:t>3.  Generic greeting — 'Dear Employee,' not your actual name</a:t>
            </a:r>
            <a:endParaRPr lang="en-US" sz="1200" dirty="0"/>
          </a:p>
        </p:txBody>
      </p:sp>
      <p:sp>
        <p:nvSpPr>
          <p:cNvPr id="13" name="Shape 8"/>
          <p:cNvSpPr/>
          <p:nvPr/>
        </p:nvSpPr>
        <p:spPr>
          <a:xfrm>
            <a:off x="274320" y="2404872"/>
            <a:ext cx="8595360" cy="438912"/>
          </a:xfrm>
          <a:prstGeom prst="rect">
            <a:avLst/>
          </a:prstGeom>
          <a:solidFill>
            <a:srgbClr val="FDEDED"/>
          </a:solidFill>
          <a:ln/>
          <a:effectLst>
            <a:outerShdw blurRad="101600" dist="38100" dir="8100000" algn="bl" rotWithShape="0">
              <a:srgbClr val="000000">
                <a:alpha val="18000"/>
              </a:srgbClr>
            </a:outerShdw>
          </a:effectLst>
        </p:spPr>
      </p:sp>
      <p:pic>
        <p:nvPicPr>
          <p:cNvPr id="14" name="Image 3" descr="preencoded.png"/>
          <p:cNvPicPr>
            <a:picLocks noChangeAspect="1"/>
          </p:cNvPicPr>
          <p:nvPr/>
        </p:nvPicPr>
        <p:blipFill>
          <a:blip r:embed="rId3"/>
          <a:stretch>
            <a:fillRect/>
          </a:stretch>
        </p:blipFill>
        <p:spPr>
          <a:xfrm>
            <a:off x="347472" y="2478024"/>
            <a:ext cx="274320" cy="274320"/>
          </a:xfrm>
          <a:prstGeom prst="rect">
            <a:avLst/>
          </a:prstGeom>
        </p:spPr>
      </p:pic>
      <p:sp>
        <p:nvSpPr>
          <p:cNvPr id="15" name="Text 9"/>
          <p:cNvSpPr/>
          <p:nvPr/>
        </p:nvSpPr>
        <p:spPr>
          <a:xfrm>
            <a:off x="685800" y="2459736"/>
            <a:ext cx="8046720" cy="320040"/>
          </a:xfrm>
          <a:prstGeom prst="rect">
            <a:avLst/>
          </a:prstGeom>
          <a:noFill/>
          <a:ln/>
        </p:spPr>
        <p:txBody>
          <a:bodyPr wrap="square" lIns="0" tIns="0" rIns="0" bIns="0" rtlCol="0" anchor="ctr"/>
          <a:lstStyle/>
          <a:p>
            <a:pPr marL="0" indent="0">
              <a:buNone/>
            </a:pPr>
            <a:r>
              <a:rPr lang="en-US" sz="1200" dirty="0">
                <a:solidFill>
                  <a:srgbClr val="2C3E50"/>
                </a:solidFill>
              </a:rPr>
              <a:t>4.  Threat of 'PERMANENT DELETION' — scare tactics</a:t>
            </a:r>
            <a:endParaRPr lang="en-US" sz="1200" dirty="0"/>
          </a:p>
        </p:txBody>
      </p:sp>
      <p:sp>
        <p:nvSpPr>
          <p:cNvPr id="16" name="Shape 10"/>
          <p:cNvSpPr/>
          <p:nvPr/>
        </p:nvSpPr>
        <p:spPr>
          <a:xfrm>
            <a:off x="274320" y="2916936"/>
            <a:ext cx="8595360" cy="438912"/>
          </a:xfrm>
          <a:prstGeom prst="rect">
            <a:avLst/>
          </a:prstGeom>
          <a:solidFill>
            <a:srgbClr val="FFFFFF"/>
          </a:solidFill>
          <a:ln/>
          <a:effectLst>
            <a:outerShdw blurRad="101600" dist="38100" dir="8100000" algn="bl" rotWithShape="0">
              <a:srgbClr val="000000">
                <a:alpha val="18000"/>
              </a:srgbClr>
            </a:outerShdw>
          </a:effectLst>
        </p:spPr>
      </p:sp>
      <p:pic>
        <p:nvPicPr>
          <p:cNvPr id="17" name="Image 4" descr="preencoded.png"/>
          <p:cNvPicPr>
            <a:picLocks noChangeAspect="1"/>
          </p:cNvPicPr>
          <p:nvPr/>
        </p:nvPicPr>
        <p:blipFill>
          <a:blip r:embed="rId3"/>
          <a:stretch>
            <a:fillRect/>
          </a:stretch>
        </p:blipFill>
        <p:spPr>
          <a:xfrm>
            <a:off x="347472" y="2990088"/>
            <a:ext cx="274320" cy="274320"/>
          </a:xfrm>
          <a:prstGeom prst="rect">
            <a:avLst/>
          </a:prstGeom>
        </p:spPr>
      </p:pic>
      <p:sp>
        <p:nvSpPr>
          <p:cNvPr id="18" name="Text 11"/>
          <p:cNvSpPr/>
          <p:nvPr/>
        </p:nvSpPr>
        <p:spPr>
          <a:xfrm>
            <a:off x="685800" y="2971800"/>
            <a:ext cx="8046720" cy="320040"/>
          </a:xfrm>
          <a:prstGeom prst="rect">
            <a:avLst/>
          </a:prstGeom>
          <a:noFill/>
          <a:ln/>
        </p:spPr>
        <p:txBody>
          <a:bodyPr wrap="square" lIns="0" tIns="0" rIns="0" bIns="0" rtlCol="0" anchor="ctr"/>
          <a:lstStyle/>
          <a:p>
            <a:pPr marL="0" indent="0">
              <a:buNone/>
            </a:pPr>
            <a:r>
              <a:rPr lang="en-US" sz="1200" dirty="0">
                <a:solidFill>
                  <a:srgbClr val="2C3E50"/>
                </a:solidFill>
              </a:rPr>
              <a:t>5.  HTTP link (not HTTPS) — unsecured and suspicious</a:t>
            </a:r>
            <a:endParaRPr lang="en-US" sz="1200" dirty="0"/>
          </a:p>
        </p:txBody>
      </p:sp>
      <p:sp>
        <p:nvSpPr>
          <p:cNvPr id="19" name="Shape 12"/>
          <p:cNvSpPr/>
          <p:nvPr/>
        </p:nvSpPr>
        <p:spPr>
          <a:xfrm>
            <a:off x="274320" y="3429000"/>
            <a:ext cx="8595360" cy="438912"/>
          </a:xfrm>
          <a:prstGeom prst="rect">
            <a:avLst/>
          </a:prstGeom>
          <a:solidFill>
            <a:srgbClr val="FDEDED"/>
          </a:solidFill>
          <a:ln/>
          <a:effectLst>
            <a:outerShdw blurRad="101600" dist="38100" dir="8100000" algn="bl" rotWithShape="0">
              <a:srgbClr val="000000">
                <a:alpha val="18000"/>
              </a:srgbClr>
            </a:outerShdw>
          </a:effectLst>
        </p:spPr>
      </p:sp>
      <p:pic>
        <p:nvPicPr>
          <p:cNvPr id="20" name="Image 5" descr="preencoded.png"/>
          <p:cNvPicPr>
            <a:picLocks noChangeAspect="1"/>
          </p:cNvPicPr>
          <p:nvPr/>
        </p:nvPicPr>
        <p:blipFill>
          <a:blip r:embed="rId3"/>
          <a:stretch>
            <a:fillRect/>
          </a:stretch>
        </p:blipFill>
        <p:spPr>
          <a:xfrm>
            <a:off x="347472" y="3502152"/>
            <a:ext cx="274320" cy="274320"/>
          </a:xfrm>
          <a:prstGeom prst="rect">
            <a:avLst/>
          </a:prstGeom>
        </p:spPr>
      </p:pic>
      <p:sp>
        <p:nvSpPr>
          <p:cNvPr id="21" name="Text 13"/>
          <p:cNvSpPr/>
          <p:nvPr/>
        </p:nvSpPr>
        <p:spPr>
          <a:xfrm>
            <a:off x="685800" y="3483864"/>
            <a:ext cx="8046720" cy="320040"/>
          </a:xfrm>
          <a:prstGeom prst="rect">
            <a:avLst/>
          </a:prstGeom>
          <a:noFill/>
          <a:ln/>
        </p:spPr>
        <p:txBody>
          <a:bodyPr wrap="square" lIns="0" tIns="0" rIns="0" bIns="0" rtlCol="0" anchor="ctr"/>
          <a:lstStyle/>
          <a:p>
            <a:pPr marL="0" indent="0">
              <a:buNone/>
            </a:pPr>
            <a:r>
              <a:rPr lang="en-US" sz="1200" dirty="0">
                <a:solidFill>
                  <a:srgbClr val="2C3E50"/>
                </a:solidFill>
              </a:rPr>
              <a:t>6.  Shortened URL (bit.ly) — hides the real destination</a:t>
            </a:r>
            <a:endParaRPr lang="en-US" sz="1200" dirty="0"/>
          </a:p>
        </p:txBody>
      </p:sp>
      <p:sp>
        <p:nvSpPr>
          <p:cNvPr id="22" name="Shape 14"/>
          <p:cNvSpPr/>
          <p:nvPr/>
        </p:nvSpPr>
        <p:spPr>
          <a:xfrm>
            <a:off x="274320" y="3941064"/>
            <a:ext cx="8595360" cy="438912"/>
          </a:xfrm>
          <a:prstGeom prst="rect">
            <a:avLst/>
          </a:prstGeom>
          <a:solidFill>
            <a:srgbClr val="FFFFFF"/>
          </a:solidFill>
          <a:ln/>
          <a:effectLst>
            <a:outerShdw blurRad="101600" dist="38100" dir="8100000" algn="bl" rotWithShape="0">
              <a:srgbClr val="000000">
                <a:alpha val="18000"/>
              </a:srgbClr>
            </a:outerShdw>
          </a:effectLst>
        </p:spPr>
      </p:sp>
      <p:pic>
        <p:nvPicPr>
          <p:cNvPr id="23" name="Image 6" descr="preencoded.png"/>
          <p:cNvPicPr>
            <a:picLocks noChangeAspect="1"/>
          </p:cNvPicPr>
          <p:nvPr/>
        </p:nvPicPr>
        <p:blipFill>
          <a:blip r:embed="rId3"/>
          <a:stretch>
            <a:fillRect/>
          </a:stretch>
        </p:blipFill>
        <p:spPr>
          <a:xfrm>
            <a:off x="347472" y="4014216"/>
            <a:ext cx="274320" cy="274320"/>
          </a:xfrm>
          <a:prstGeom prst="rect">
            <a:avLst/>
          </a:prstGeom>
        </p:spPr>
      </p:pic>
      <p:sp>
        <p:nvSpPr>
          <p:cNvPr id="24" name="Text 15"/>
          <p:cNvSpPr/>
          <p:nvPr/>
        </p:nvSpPr>
        <p:spPr>
          <a:xfrm>
            <a:off x="685800" y="3995928"/>
            <a:ext cx="8046720" cy="320040"/>
          </a:xfrm>
          <a:prstGeom prst="rect">
            <a:avLst/>
          </a:prstGeom>
          <a:noFill/>
          <a:ln/>
        </p:spPr>
        <p:txBody>
          <a:bodyPr wrap="square" lIns="0" tIns="0" rIns="0" bIns="0" rtlCol="0" anchor="ctr"/>
          <a:lstStyle/>
          <a:p>
            <a:pPr marL="0" indent="0">
              <a:buNone/>
            </a:pPr>
            <a:r>
              <a:rPr lang="en-US" sz="1200" dirty="0">
                <a:solidFill>
                  <a:srgbClr val="2C3E50"/>
                </a:solidFill>
              </a:rPr>
              <a:t>7.  Requests for password — no legitimate company does this</a:t>
            </a:r>
            <a:endParaRPr lang="en-US" sz="1200" dirty="0"/>
          </a:p>
        </p:txBody>
      </p:sp>
      <p:sp>
        <p:nvSpPr>
          <p:cNvPr id="25" name="Shape 16"/>
          <p:cNvSpPr/>
          <p:nvPr/>
        </p:nvSpPr>
        <p:spPr>
          <a:xfrm>
            <a:off x="274320" y="4453128"/>
            <a:ext cx="8595360" cy="438912"/>
          </a:xfrm>
          <a:prstGeom prst="rect">
            <a:avLst/>
          </a:prstGeom>
          <a:solidFill>
            <a:srgbClr val="FDEDED"/>
          </a:solidFill>
          <a:ln/>
          <a:effectLst>
            <a:outerShdw blurRad="101600" dist="38100" dir="8100000" algn="bl" rotWithShape="0">
              <a:srgbClr val="000000">
                <a:alpha val="18000"/>
              </a:srgbClr>
            </a:outerShdw>
          </a:effectLst>
        </p:spPr>
      </p:sp>
      <p:pic>
        <p:nvPicPr>
          <p:cNvPr id="26" name="Image 7" descr="preencoded.png"/>
          <p:cNvPicPr>
            <a:picLocks noChangeAspect="1"/>
          </p:cNvPicPr>
          <p:nvPr/>
        </p:nvPicPr>
        <p:blipFill>
          <a:blip r:embed="rId3"/>
          <a:stretch>
            <a:fillRect/>
          </a:stretch>
        </p:blipFill>
        <p:spPr>
          <a:xfrm>
            <a:off x="347472" y="4526280"/>
            <a:ext cx="274320" cy="274320"/>
          </a:xfrm>
          <a:prstGeom prst="rect">
            <a:avLst/>
          </a:prstGeom>
        </p:spPr>
      </p:pic>
      <p:sp>
        <p:nvSpPr>
          <p:cNvPr id="27" name="Text 17"/>
          <p:cNvSpPr/>
          <p:nvPr/>
        </p:nvSpPr>
        <p:spPr>
          <a:xfrm>
            <a:off x="685800" y="4507992"/>
            <a:ext cx="8046720" cy="320040"/>
          </a:xfrm>
          <a:prstGeom prst="rect">
            <a:avLst/>
          </a:prstGeom>
          <a:noFill/>
          <a:ln/>
        </p:spPr>
        <p:txBody>
          <a:bodyPr wrap="square" lIns="0" tIns="0" rIns="0" bIns="0" rtlCol="0" anchor="ctr"/>
          <a:lstStyle/>
          <a:p>
            <a:pPr marL="0" indent="0">
              <a:buNone/>
            </a:pPr>
            <a:r>
              <a:rPr lang="en-US" sz="1200" dirty="0">
                <a:solidFill>
                  <a:srgbClr val="2C3E50"/>
                </a:solidFill>
              </a:rPr>
              <a:t>8.  Threatens 'legal consequences' — classic fear tactic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8449"/>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  Best Practices &amp; Immediate Actions</a:t>
            </a:r>
            <a:endParaRPr lang="en-US" sz="2400" dirty="0"/>
          </a:p>
        </p:txBody>
      </p:sp>
      <p:sp>
        <p:nvSpPr>
          <p:cNvPr id="4" name="Text 2"/>
          <p:cNvSpPr/>
          <p:nvPr/>
        </p:nvSpPr>
        <p:spPr>
          <a:xfrm>
            <a:off x="7772400" y="128016"/>
            <a:ext cx="1280160" cy="365760"/>
          </a:xfrm>
          <a:prstGeom prst="rect">
            <a:avLst/>
          </a:prstGeom>
          <a:noFill/>
          <a:ln/>
        </p:spPr>
        <p:txBody>
          <a:bodyPr wrap="square" lIns="0" tIns="0" rIns="0" bIns="0" rtlCol="0" anchor="ctr"/>
          <a:lstStyle/>
          <a:p>
            <a:pPr marL="0" indent="0" algn="r">
              <a:buNone/>
            </a:pPr>
            <a:r>
              <a:rPr lang="en-US" sz="1000" dirty="0">
                <a:solidFill>
                  <a:srgbClr val="FFFFFF"/>
                </a:solidFill>
              </a:rPr>
              <a:t>Section 4 of 6</a:t>
            </a:r>
            <a:endParaRPr lang="en-US" sz="1000" dirty="0"/>
          </a:p>
        </p:txBody>
      </p:sp>
      <p:sp>
        <p:nvSpPr>
          <p:cNvPr id="5" name="Shape 3"/>
          <p:cNvSpPr/>
          <p:nvPr/>
        </p:nvSpPr>
        <p:spPr>
          <a:xfrm>
            <a:off x="228600" y="868680"/>
            <a:ext cx="4206240" cy="1261872"/>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28600" y="868680"/>
            <a:ext cx="109728" cy="1261872"/>
          </a:xfrm>
          <a:prstGeom prst="rect">
            <a:avLst/>
          </a:prstGeom>
          <a:solidFill>
            <a:srgbClr val="E74C3C"/>
          </a:solidFill>
          <a:ln/>
        </p:spPr>
      </p:sp>
      <p:pic>
        <p:nvPicPr>
          <p:cNvPr id="7" name="Image 0" descr="preencoded.png"/>
          <p:cNvPicPr>
            <a:picLocks noChangeAspect="1"/>
          </p:cNvPicPr>
          <p:nvPr/>
        </p:nvPicPr>
        <p:blipFill>
          <a:blip r:embed="rId3"/>
          <a:stretch>
            <a:fillRect/>
          </a:stretch>
        </p:blipFill>
        <p:spPr>
          <a:xfrm>
            <a:off x="429768" y="1188720"/>
            <a:ext cx="457200" cy="457200"/>
          </a:xfrm>
          <a:prstGeom prst="rect">
            <a:avLst/>
          </a:prstGeom>
        </p:spPr>
      </p:pic>
      <p:sp>
        <p:nvSpPr>
          <p:cNvPr id="8" name="Text 5"/>
          <p:cNvSpPr/>
          <p:nvPr/>
        </p:nvSpPr>
        <p:spPr>
          <a:xfrm>
            <a:off x="1014984" y="960120"/>
            <a:ext cx="3246120" cy="411480"/>
          </a:xfrm>
          <a:prstGeom prst="rect">
            <a:avLst/>
          </a:prstGeom>
          <a:noFill/>
          <a:ln/>
        </p:spPr>
        <p:txBody>
          <a:bodyPr wrap="square" lIns="0" tIns="0" rIns="0" bIns="0" rtlCol="0" anchor="ctr"/>
          <a:lstStyle/>
          <a:p>
            <a:pPr marL="0" indent="0">
              <a:buNone/>
            </a:pPr>
            <a:r>
              <a:rPr lang="en-US" sz="1300" b="1" dirty="0">
                <a:solidFill>
                  <a:srgbClr val="2C3E50"/>
                </a:solidFill>
              </a:rPr>
              <a:t>Never click unsolicited links</a:t>
            </a:r>
            <a:endParaRPr lang="en-US" sz="1300" dirty="0"/>
          </a:p>
        </p:txBody>
      </p:sp>
      <p:sp>
        <p:nvSpPr>
          <p:cNvPr id="9" name="Text 6"/>
          <p:cNvSpPr/>
          <p:nvPr/>
        </p:nvSpPr>
        <p:spPr>
          <a:xfrm>
            <a:off x="1014984" y="1399032"/>
            <a:ext cx="3246120" cy="621792"/>
          </a:xfrm>
          <a:prstGeom prst="rect">
            <a:avLst/>
          </a:prstGeom>
          <a:noFill/>
          <a:ln/>
        </p:spPr>
        <p:txBody>
          <a:bodyPr wrap="square" lIns="0" tIns="0" rIns="0" bIns="0" rtlCol="0" anchor="ctr"/>
          <a:lstStyle/>
          <a:p>
            <a:pPr marL="0" indent="0">
              <a:buNone/>
            </a:pPr>
            <a:r>
              <a:rPr lang="en-US" sz="1050" dirty="0">
                <a:solidFill>
                  <a:srgbClr val="7F8C8D"/>
                </a:solidFill>
              </a:rPr>
              <a:t>Go directly to the website by typing the URL yourself</a:t>
            </a:r>
            <a:endParaRPr lang="en-US" sz="1050" dirty="0"/>
          </a:p>
        </p:txBody>
      </p:sp>
      <p:sp>
        <p:nvSpPr>
          <p:cNvPr id="10" name="Shape 7"/>
          <p:cNvSpPr/>
          <p:nvPr/>
        </p:nvSpPr>
        <p:spPr>
          <a:xfrm>
            <a:off x="4690872" y="868680"/>
            <a:ext cx="4206240" cy="1261872"/>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4690872" y="868680"/>
            <a:ext cx="109728" cy="1261872"/>
          </a:xfrm>
          <a:prstGeom prst="rect">
            <a:avLst/>
          </a:prstGeom>
          <a:solidFill>
            <a:srgbClr val="1B4F72"/>
          </a:solidFill>
          <a:ln/>
        </p:spPr>
      </p:sp>
      <p:pic>
        <p:nvPicPr>
          <p:cNvPr id="12" name="Image 1" descr="preencoded.png"/>
          <p:cNvPicPr>
            <a:picLocks noChangeAspect="1"/>
          </p:cNvPicPr>
          <p:nvPr/>
        </p:nvPicPr>
        <p:blipFill>
          <a:blip r:embed="rId4"/>
          <a:stretch>
            <a:fillRect/>
          </a:stretch>
        </p:blipFill>
        <p:spPr>
          <a:xfrm>
            <a:off x="4892040" y="1188720"/>
            <a:ext cx="457200" cy="457200"/>
          </a:xfrm>
          <a:prstGeom prst="rect">
            <a:avLst/>
          </a:prstGeom>
        </p:spPr>
      </p:pic>
      <p:sp>
        <p:nvSpPr>
          <p:cNvPr id="13" name="Text 9"/>
          <p:cNvSpPr/>
          <p:nvPr/>
        </p:nvSpPr>
        <p:spPr>
          <a:xfrm>
            <a:off x="5477256" y="960120"/>
            <a:ext cx="3246120" cy="411480"/>
          </a:xfrm>
          <a:prstGeom prst="rect">
            <a:avLst/>
          </a:prstGeom>
          <a:noFill/>
          <a:ln/>
        </p:spPr>
        <p:txBody>
          <a:bodyPr wrap="square" lIns="0" tIns="0" rIns="0" bIns="0" rtlCol="0" anchor="ctr"/>
          <a:lstStyle/>
          <a:p>
            <a:pPr marL="0" indent="0">
              <a:buNone/>
            </a:pPr>
            <a:r>
              <a:rPr lang="en-US" sz="1300" b="1" dirty="0">
                <a:solidFill>
                  <a:srgbClr val="2C3E50"/>
                </a:solidFill>
              </a:rPr>
              <a:t>Verify the sender independently</a:t>
            </a:r>
            <a:endParaRPr lang="en-US" sz="1300" dirty="0"/>
          </a:p>
        </p:txBody>
      </p:sp>
      <p:sp>
        <p:nvSpPr>
          <p:cNvPr id="14" name="Text 10"/>
          <p:cNvSpPr/>
          <p:nvPr/>
        </p:nvSpPr>
        <p:spPr>
          <a:xfrm>
            <a:off x="5477256" y="1399032"/>
            <a:ext cx="3246120" cy="621792"/>
          </a:xfrm>
          <a:prstGeom prst="rect">
            <a:avLst/>
          </a:prstGeom>
          <a:noFill/>
          <a:ln/>
        </p:spPr>
        <p:txBody>
          <a:bodyPr wrap="square" lIns="0" tIns="0" rIns="0" bIns="0" rtlCol="0" anchor="ctr"/>
          <a:lstStyle/>
          <a:p>
            <a:pPr marL="0" indent="0">
              <a:buNone/>
            </a:pPr>
            <a:r>
              <a:rPr lang="en-US" sz="1050" dirty="0">
                <a:solidFill>
                  <a:srgbClr val="7F8C8D"/>
                </a:solidFill>
              </a:rPr>
              <a:t>Call the person/company using a known phone number — not one in the email</a:t>
            </a:r>
            <a:endParaRPr lang="en-US" sz="1050" dirty="0"/>
          </a:p>
        </p:txBody>
      </p:sp>
      <p:sp>
        <p:nvSpPr>
          <p:cNvPr id="15" name="Shape 11"/>
          <p:cNvSpPr/>
          <p:nvPr/>
        </p:nvSpPr>
        <p:spPr>
          <a:xfrm>
            <a:off x="228600" y="2286000"/>
            <a:ext cx="4206240" cy="1261872"/>
          </a:xfrm>
          <a:prstGeom prst="rect">
            <a:avLst/>
          </a:prstGeom>
          <a:solidFill>
            <a:srgbClr val="FFFFFF"/>
          </a:solidFill>
          <a:ln/>
          <a:effectLst>
            <a:outerShdw blurRad="101600" dist="38100" dir="8100000" algn="bl" rotWithShape="0">
              <a:srgbClr val="000000">
                <a:alpha val="18000"/>
              </a:srgbClr>
            </a:outerShdw>
          </a:effectLst>
        </p:spPr>
      </p:sp>
      <p:sp>
        <p:nvSpPr>
          <p:cNvPr id="16" name="Shape 12"/>
          <p:cNvSpPr/>
          <p:nvPr/>
        </p:nvSpPr>
        <p:spPr>
          <a:xfrm>
            <a:off x="228600" y="2286000"/>
            <a:ext cx="109728" cy="1261872"/>
          </a:xfrm>
          <a:prstGeom prst="rect">
            <a:avLst/>
          </a:prstGeom>
          <a:solidFill>
            <a:srgbClr val="148F77"/>
          </a:solidFill>
          <a:ln/>
        </p:spPr>
      </p:sp>
      <p:pic>
        <p:nvPicPr>
          <p:cNvPr id="17" name="Image 2" descr="preencoded.png"/>
          <p:cNvPicPr>
            <a:picLocks noChangeAspect="1"/>
          </p:cNvPicPr>
          <p:nvPr/>
        </p:nvPicPr>
        <p:blipFill>
          <a:blip r:embed="rId5"/>
          <a:stretch>
            <a:fillRect/>
          </a:stretch>
        </p:blipFill>
        <p:spPr>
          <a:xfrm>
            <a:off x="429768" y="2606040"/>
            <a:ext cx="457200" cy="457200"/>
          </a:xfrm>
          <a:prstGeom prst="rect">
            <a:avLst/>
          </a:prstGeom>
        </p:spPr>
      </p:pic>
      <p:sp>
        <p:nvSpPr>
          <p:cNvPr id="18" name="Text 13"/>
          <p:cNvSpPr/>
          <p:nvPr/>
        </p:nvSpPr>
        <p:spPr>
          <a:xfrm>
            <a:off x="1014984" y="2377440"/>
            <a:ext cx="3246120" cy="411480"/>
          </a:xfrm>
          <a:prstGeom prst="rect">
            <a:avLst/>
          </a:prstGeom>
          <a:noFill/>
          <a:ln/>
        </p:spPr>
        <p:txBody>
          <a:bodyPr wrap="square" lIns="0" tIns="0" rIns="0" bIns="0" rtlCol="0" anchor="ctr"/>
          <a:lstStyle/>
          <a:p>
            <a:pPr marL="0" indent="0">
              <a:buNone/>
            </a:pPr>
            <a:r>
              <a:rPr lang="en-US" sz="1300" b="1" dirty="0">
                <a:solidFill>
                  <a:srgbClr val="2C3E50"/>
                </a:solidFill>
              </a:rPr>
              <a:t>Enable Multi-Factor Authentication</a:t>
            </a:r>
            <a:endParaRPr lang="en-US" sz="1300" dirty="0"/>
          </a:p>
        </p:txBody>
      </p:sp>
      <p:sp>
        <p:nvSpPr>
          <p:cNvPr id="19" name="Text 14"/>
          <p:cNvSpPr/>
          <p:nvPr/>
        </p:nvSpPr>
        <p:spPr>
          <a:xfrm>
            <a:off x="1014984" y="2816352"/>
            <a:ext cx="3246120" cy="621792"/>
          </a:xfrm>
          <a:prstGeom prst="rect">
            <a:avLst/>
          </a:prstGeom>
          <a:noFill/>
          <a:ln/>
        </p:spPr>
        <p:txBody>
          <a:bodyPr wrap="square" lIns="0" tIns="0" rIns="0" bIns="0" rtlCol="0" anchor="ctr"/>
          <a:lstStyle/>
          <a:p>
            <a:pPr marL="0" indent="0">
              <a:buNone/>
            </a:pPr>
            <a:r>
              <a:rPr lang="en-US" sz="1050" dirty="0">
                <a:solidFill>
                  <a:srgbClr val="7F8C8D"/>
                </a:solidFill>
              </a:rPr>
              <a:t>Even if your password is stolen, MFA stops attackers in their tracks</a:t>
            </a:r>
            <a:endParaRPr lang="en-US" sz="1050" dirty="0"/>
          </a:p>
        </p:txBody>
      </p:sp>
      <p:sp>
        <p:nvSpPr>
          <p:cNvPr id="20" name="Shape 15"/>
          <p:cNvSpPr/>
          <p:nvPr/>
        </p:nvSpPr>
        <p:spPr>
          <a:xfrm>
            <a:off x="4690872" y="2286000"/>
            <a:ext cx="4206240" cy="1261872"/>
          </a:xfrm>
          <a:prstGeom prst="rect">
            <a:avLst/>
          </a:prstGeom>
          <a:solidFill>
            <a:srgbClr val="FFFFFF"/>
          </a:solidFill>
          <a:ln/>
          <a:effectLst>
            <a:outerShdw blurRad="101600" dist="38100" dir="8100000" algn="bl" rotWithShape="0">
              <a:srgbClr val="000000">
                <a:alpha val="18000"/>
              </a:srgbClr>
            </a:outerShdw>
          </a:effectLst>
        </p:spPr>
      </p:sp>
      <p:sp>
        <p:nvSpPr>
          <p:cNvPr id="21" name="Shape 16"/>
          <p:cNvSpPr/>
          <p:nvPr/>
        </p:nvSpPr>
        <p:spPr>
          <a:xfrm>
            <a:off x="4690872" y="2286000"/>
            <a:ext cx="109728" cy="1261872"/>
          </a:xfrm>
          <a:prstGeom prst="rect">
            <a:avLst/>
          </a:prstGeom>
          <a:solidFill>
            <a:srgbClr val="1E8449"/>
          </a:solidFill>
          <a:ln/>
        </p:spPr>
      </p:sp>
      <p:pic>
        <p:nvPicPr>
          <p:cNvPr id="22" name="Image 3" descr="preencoded.png"/>
          <p:cNvPicPr>
            <a:picLocks noChangeAspect="1"/>
          </p:cNvPicPr>
          <p:nvPr/>
        </p:nvPicPr>
        <p:blipFill>
          <a:blip r:embed="rId6"/>
          <a:stretch>
            <a:fillRect/>
          </a:stretch>
        </p:blipFill>
        <p:spPr>
          <a:xfrm>
            <a:off x="4892040" y="2606040"/>
            <a:ext cx="457200" cy="457200"/>
          </a:xfrm>
          <a:prstGeom prst="rect">
            <a:avLst/>
          </a:prstGeom>
        </p:spPr>
      </p:pic>
      <p:sp>
        <p:nvSpPr>
          <p:cNvPr id="23" name="Text 17"/>
          <p:cNvSpPr/>
          <p:nvPr/>
        </p:nvSpPr>
        <p:spPr>
          <a:xfrm>
            <a:off x="5477256" y="2377440"/>
            <a:ext cx="3246120" cy="411480"/>
          </a:xfrm>
          <a:prstGeom prst="rect">
            <a:avLst/>
          </a:prstGeom>
          <a:noFill/>
          <a:ln/>
        </p:spPr>
        <p:txBody>
          <a:bodyPr wrap="square" lIns="0" tIns="0" rIns="0" bIns="0" rtlCol="0" anchor="ctr"/>
          <a:lstStyle/>
          <a:p>
            <a:pPr marL="0" indent="0">
              <a:buNone/>
            </a:pPr>
            <a:r>
              <a:rPr lang="en-US" sz="1300" b="1" dirty="0">
                <a:solidFill>
                  <a:srgbClr val="2C3E50"/>
                </a:solidFill>
              </a:rPr>
              <a:t>Use email filtering &amp; spam tools</a:t>
            </a:r>
            <a:endParaRPr lang="en-US" sz="1300" dirty="0"/>
          </a:p>
        </p:txBody>
      </p:sp>
      <p:sp>
        <p:nvSpPr>
          <p:cNvPr id="24" name="Text 18"/>
          <p:cNvSpPr/>
          <p:nvPr/>
        </p:nvSpPr>
        <p:spPr>
          <a:xfrm>
            <a:off x="5477256" y="2816352"/>
            <a:ext cx="3246120" cy="621792"/>
          </a:xfrm>
          <a:prstGeom prst="rect">
            <a:avLst/>
          </a:prstGeom>
          <a:noFill/>
          <a:ln/>
        </p:spPr>
        <p:txBody>
          <a:bodyPr wrap="square" lIns="0" tIns="0" rIns="0" bIns="0" rtlCol="0" anchor="ctr"/>
          <a:lstStyle/>
          <a:p>
            <a:pPr marL="0" indent="0">
              <a:buNone/>
            </a:pPr>
            <a:r>
              <a:rPr lang="en-US" sz="1050" dirty="0">
                <a:solidFill>
                  <a:srgbClr val="7F8C8D"/>
                </a:solidFill>
              </a:rPr>
              <a:t>Report phishing so your IT team can block similar attacks company-wide</a:t>
            </a:r>
            <a:endParaRPr lang="en-US" sz="1050" dirty="0"/>
          </a:p>
        </p:txBody>
      </p:sp>
      <p:sp>
        <p:nvSpPr>
          <p:cNvPr id="25" name="Shape 19"/>
          <p:cNvSpPr/>
          <p:nvPr/>
        </p:nvSpPr>
        <p:spPr>
          <a:xfrm>
            <a:off x="228600" y="3703320"/>
            <a:ext cx="4206240" cy="1261872"/>
          </a:xfrm>
          <a:prstGeom prst="rect">
            <a:avLst/>
          </a:prstGeom>
          <a:solidFill>
            <a:srgbClr val="FFFFFF"/>
          </a:solidFill>
          <a:ln/>
          <a:effectLst>
            <a:outerShdw blurRad="101600" dist="38100" dir="8100000" algn="bl" rotWithShape="0">
              <a:srgbClr val="000000">
                <a:alpha val="18000"/>
              </a:srgbClr>
            </a:outerShdw>
          </a:effectLst>
        </p:spPr>
      </p:sp>
      <p:sp>
        <p:nvSpPr>
          <p:cNvPr id="26" name="Shape 20"/>
          <p:cNvSpPr/>
          <p:nvPr/>
        </p:nvSpPr>
        <p:spPr>
          <a:xfrm>
            <a:off x="228600" y="3703320"/>
            <a:ext cx="109728" cy="1261872"/>
          </a:xfrm>
          <a:prstGeom prst="rect">
            <a:avLst/>
          </a:prstGeom>
          <a:solidFill>
            <a:srgbClr val="E67E22"/>
          </a:solidFill>
          <a:ln/>
        </p:spPr>
      </p:sp>
      <p:pic>
        <p:nvPicPr>
          <p:cNvPr id="27" name="Image 4" descr="preencoded.png"/>
          <p:cNvPicPr>
            <a:picLocks noChangeAspect="1"/>
          </p:cNvPicPr>
          <p:nvPr/>
        </p:nvPicPr>
        <p:blipFill>
          <a:blip r:embed="rId7"/>
          <a:stretch>
            <a:fillRect/>
          </a:stretch>
        </p:blipFill>
        <p:spPr>
          <a:xfrm>
            <a:off x="429768" y="4023360"/>
            <a:ext cx="457200" cy="457200"/>
          </a:xfrm>
          <a:prstGeom prst="rect">
            <a:avLst/>
          </a:prstGeom>
        </p:spPr>
      </p:pic>
      <p:sp>
        <p:nvSpPr>
          <p:cNvPr id="28" name="Text 21"/>
          <p:cNvSpPr/>
          <p:nvPr/>
        </p:nvSpPr>
        <p:spPr>
          <a:xfrm>
            <a:off x="1014984" y="3794760"/>
            <a:ext cx="3246120" cy="411480"/>
          </a:xfrm>
          <a:prstGeom prst="rect">
            <a:avLst/>
          </a:prstGeom>
          <a:noFill/>
          <a:ln/>
        </p:spPr>
        <p:txBody>
          <a:bodyPr wrap="square" lIns="0" tIns="0" rIns="0" bIns="0" rtlCol="0" anchor="ctr"/>
          <a:lstStyle/>
          <a:p>
            <a:pPr marL="0" indent="0">
              <a:buNone/>
            </a:pPr>
            <a:r>
              <a:rPr lang="en-US" sz="1300" b="1" dirty="0">
                <a:solidFill>
                  <a:srgbClr val="2C3E50"/>
                </a:solidFill>
              </a:rPr>
              <a:t>Keep software up to date</a:t>
            </a:r>
            <a:endParaRPr lang="en-US" sz="1300" dirty="0"/>
          </a:p>
        </p:txBody>
      </p:sp>
      <p:sp>
        <p:nvSpPr>
          <p:cNvPr id="29" name="Text 22"/>
          <p:cNvSpPr/>
          <p:nvPr/>
        </p:nvSpPr>
        <p:spPr>
          <a:xfrm>
            <a:off x="1014984" y="4233672"/>
            <a:ext cx="3246120" cy="621792"/>
          </a:xfrm>
          <a:prstGeom prst="rect">
            <a:avLst/>
          </a:prstGeom>
          <a:noFill/>
          <a:ln/>
        </p:spPr>
        <p:txBody>
          <a:bodyPr wrap="square" lIns="0" tIns="0" rIns="0" bIns="0" rtlCol="0" anchor="ctr"/>
          <a:lstStyle/>
          <a:p>
            <a:pPr marL="0" indent="0">
              <a:buNone/>
            </a:pPr>
            <a:r>
              <a:rPr lang="en-US" sz="1050" dirty="0">
                <a:solidFill>
                  <a:srgbClr val="7F8C8D"/>
                </a:solidFill>
              </a:rPr>
              <a:t>Patches close vulnerabilities attackers use to install malware automatically</a:t>
            </a:r>
            <a:endParaRPr lang="en-US" sz="1050" dirty="0"/>
          </a:p>
        </p:txBody>
      </p:sp>
      <p:sp>
        <p:nvSpPr>
          <p:cNvPr id="30" name="Shape 23"/>
          <p:cNvSpPr/>
          <p:nvPr/>
        </p:nvSpPr>
        <p:spPr>
          <a:xfrm>
            <a:off x="4690872" y="3703320"/>
            <a:ext cx="4206240" cy="1261872"/>
          </a:xfrm>
          <a:prstGeom prst="rect">
            <a:avLst/>
          </a:prstGeom>
          <a:solidFill>
            <a:srgbClr val="FFFFFF"/>
          </a:solidFill>
          <a:ln/>
          <a:effectLst>
            <a:outerShdw blurRad="101600" dist="38100" dir="8100000" algn="bl" rotWithShape="0">
              <a:srgbClr val="000000">
                <a:alpha val="18000"/>
              </a:srgbClr>
            </a:outerShdw>
          </a:effectLst>
        </p:spPr>
      </p:sp>
      <p:sp>
        <p:nvSpPr>
          <p:cNvPr id="31" name="Shape 24"/>
          <p:cNvSpPr/>
          <p:nvPr/>
        </p:nvSpPr>
        <p:spPr>
          <a:xfrm>
            <a:off x="4690872" y="3703320"/>
            <a:ext cx="109728" cy="1261872"/>
          </a:xfrm>
          <a:prstGeom prst="rect">
            <a:avLst/>
          </a:prstGeom>
          <a:solidFill>
            <a:srgbClr val="F4D03F"/>
          </a:solidFill>
          <a:ln/>
        </p:spPr>
      </p:sp>
      <p:pic>
        <p:nvPicPr>
          <p:cNvPr id="32" name="Image 5" descr="preencoded.png"/>
          <p:cNvPicPr>
            <a:picLocks noChangeAspect="1"/>
          </p:cNvPicPr>
          <p:nvPr/>
        </p:nvPicPr>
        <p:blipFill>
          <a:blip r:embed="rId8"/>
          <a:stretch>
            <a:fillRect/>
          </a:stretch>
        </p:blipFill>
        <p:spPr>
          <a:xfrm>
            <a:off x="4892040" y="4023360"/>
            <a:ext cx="457200" cy="457200"/>
          </a:xfrm>
          <a:prstGeom prst="rect">
            <a:avLst/>
          </a:prstGeom>
        </p:spPr>
      </p:pic>
      <p:sp>
        <p:nvSpPr>
          <p:cNvPr id="33" name="Text 25"/>
          <p:cNvSpPr/>
          <p:nvPr/>
        </p:nvSpPr>
        <p:spPr>
          <a:xfrm>
            <a:off x="5477256" y="3794760"/>
            <a:ext cx="3246120" cy="411480"/>
          </a:xfrm>
          <a:prstGeom prst="rect">
            <a:avLst/>
          </a:prstGeom>
          <a:noFill/>
          <a:ln/>
        </p:spPr>
        <p:txBody>
          <a:bodyPr wrap="square" lIns="0" tIns="0" rIns="0" bIns="0" rtlCol="0" anchor="ctr"/>
          <a:lstStyle/>
          <a:p>
            <a:pPr marL="0" indent="0">
              <a:buNone/>
            </a:pPr>
            <a:r>
              <a:rPr lang="en-US" sz="1300" b="1" dirty="0">
                <a:solidFill>
                  <a:srgbClr val="2C3E50"/>
                </a:solidFill>
              </a:rPr>
              <a:t>Healthy skepticism is your superpower</a:t>
            </a:r>
            <a:endParaRPr lang="en-US" sz="1300" dirty="0"/>
          </a:p>
        </p:txBody>
      </p:sp>
      <p:sp>
        <p:nvSpPr>
          <p:cNvPr id="34" name="Text 26"/>
          <p:cNvSpPr/>
          <p:nvPr/>
        </p:nvSpPr>
        <p:spPr>
          <a:xfrm>
            <a:off x="5477256" y="4233672"/>
            <a:ext cx="3246120" cy="621792"/>
          </a:xfrm>
          <a:prstGeom prst="rect">
            <a:avLst/>
          </a:prstGeom>
          <a:noFill/>
          <a:ln/>
        </p:spPr>
        <p:txBody>
          <a:bodyPr wrap="square" lIns="0" tIns="0" rIns="0" bIns="0" rtlCol="0" anchor="ctr"/>
          <a:lstStyle/>
          <a:p>
            <a:pPr marL="0" indent="0">
              <a:buNone/>
            </a:pPr>
            <a:r>
              <a:rPr lang="en-US" sz="1050" dirty="0">
                <a:solidFill>
                  <a:srgbClr val="7F8C8D"/>
                </a:solidFill>
              </a:rPr>
              <a:t>If something feels off — even slightly — pause, verify, then decide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C3E50"/>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  Real-World Examples</a:t>
            </a:r>
            <a:endParaRPr lang="en-US" sz="2400" dirty="0"/>
          </a:p>
        </p:txBody>
      </p:sp>
      <p:sp>
        <p:nvSpPr>
          <p:cNvPr id="4" name="Text 2"/>
          <p:cNvSpPr/>
          <p:nvPr/>
        </p:nvSpPr>
        <p:spPr>
          <a:xfrm>
            <a:off x="7772400" y="128016"/>
            <a:ext cx="1280160" cy="365760"/>
          </a:xfrm>
          <a:prstGeom prst="rect">
            <a:avLst/>
          </a:prstGeom>
          <a:noFill/>
          <a:ln/>
        </p:spPr>
        <p:txBody>
          <a:bodyPr wrap="square" lIns="0" tIns="0" rIns="0" bIns="0" rtlCol="0" anchor="ctr"/>
          <a:lstStyle/>
          <a:p>
            <a:pPr marL="0" indent="0" algn="r">
              <a:buNone/>
            </a:pPr>
            <a:r>
              <a:rPr lang="en-US" sz="1000" dirty="0">
                <a:solidFill>
                  <a:srgbClr val="148F77"/>
                </a:solidFill>
              </a:rPr>
              <a:t>Section 5 of 6</a:t>
            </a:r>
            <a:endParaRPr lang="en-US" sz="1000" dirty="0"/>
          </a:p>
        </p:txBody>
      </p:sp>
      <p:sp>
        <p:nvSpPr>
          <p:cNvPr id="5" name="Text 3"/>
          <p:cNvSpPr/>
          <p:nvPr/>
        </p:nvSpPr>
        <p:spPr>
          <a:xfrm>
            <a:off x="365760" y="841248"/>
            <a:ext cx="8229600" cy="548640"/>
          </a:xfrm>
          <a:prstGeom prst="rect">
            <a:avLst/>
          </a:prstGeom>
          <a:noFill/>
          <a:ln/>
        </p:spPr>
        <p:txBody>
          <a:bodyPr wrap="square" lIns="0" tIns="0" rIns="0" bIns="0" rtlCol="0" anchor="ctr"/>
          <a:lstStyle/>
          <a:p>
            <a:pPr marL="0" indent="0">
              <a:buNone/>
            </a:pPr>
            <a:r>
              <a:rPr lang="en-US" sz="1400" i="1" dirty="0">
                <a:solidFill>
                  <a:srgbClr val="CDD3DC"/>
                </a:solidFill>
              </a:rPr>
              <a:t>These scenarios are based on real attack patterns.</a:t>
            </a:r>
            <a:endParaRPr lang="en-US" sz="1400" dirty="0"/>
          </a:p>
          <a:p>
            <a:pPr marL="0" indent="0">
              <a:buNone/>
            </a:pPr>
            <a:r>
              <a:rPr lang="en-US" sz="1400" i="1" dirty="0">
                <a:solidFill>
                  <a:srgbClr val="CDD3DC"/>
                </a:solidFill>
              </a:rPr>
              <a:t>Names and details have been anonymized.</a:t>
            </a:r>
            <a:endParaRPr lang="en-US" sz="1400" dirty="0"/>
          </a:p>
        </p:txBody>
      </p:sp>
      <p:sp>
        <p:nvSpPr>
          <p:cNvPr id="6" name="Shape 4"/>
          <p:cNvSpPr/>
          <p:nvPr/>
        </p:nvSpPr>
        <p:spPr>
          <a:xfrm>
            <a:off x="228600" y="1508760"/>
            <a:ext cx="2743200" cy="1417320"/>
          </a:xfrm>
          <a:prstGeom prst="rect">
            <a:avLst/>
          </a:prstGeom>
          <a:solidFill>
            <a:srgbClr val="1B4F72"/>
          </a:solidFill>
          <a:ln/>
          <a:effectLst>
            <a:outerShdw blurRad="101600" dist="38100" dir="8100000" algn="bl" rotWithShape="0">
              <a:srgbClr val="000000">
                <a:alpha val="18000"/>
              </a:srgbClr>
            </a:outerShdw>
          </a:effectLst>
        </p:spPr>
      </p:sp>
      <p:sp>
        <p:nvSpPr>
          <p:cNvPr id="7" name="Shape 5"/>
          <p:cNvSpPr/>
          <p:nvPr/>
        </p:nvSpPr>
        <p:spPr>
          <a:xfrm>
            <a:off x="228600" y="1508760"/>
            <a:ext cx="2743200" cy="91440"/>
          </a:xfrm>
          <a:prstGeom prst="rect">
            <a:avLst/>
          </a:prstGeom>
          <a:solidFill>
            <a:srgbClr val="148F77"/>
          </a:solidFill>
          <a:ln/>
        </p:spPr>
      </p:sp>
      <p:sp>
        <p:nvSpPr>
          <p:cNvPr id="8" name="Text 6"/>
          <p:cNvSpPr/>
          <p:nvPr/>
        </p:nvSpPr>
        <p:spPr>
          <a:xfrm>
            <a:off x="365760" y="1618488"/>
            <a:ext cx="502920" cy="347472"/>
          </a:xfrm>
          <a:prstGeom prst="rect">
            <a:avLst/>
          </a:prstGeom>
          <a:noFill/>
          <a:ln/>
        </p:spPr>
        <p:txBody>
          <a:bodyPr wrap="square" lIns="0" tIns="0" rIns="0" bIns="0" rtlCol="0" anchor="ctr"/>
          <a:lstStyle/>
          <a:p>
            <a:pPr marL="0" indent="0">
              <a:buNone/>
            </a:pPr>
            <a:r>
              <a:rPr lang="en-US" sz="2000" b="1" dirty="0">
                <a:solidFill>
                  <a:srgbClr val="148F77"/>
                </a:solidFill>
              </a:rPr>
              <a:t>01</a:t>
            </a:r>
            <a:endParaRPr lang="en-US" sz="2000" dirty="0"/>
          </a:p>
        </p:txBody>
      </p:sp>
      <p:sp>
        <p:nvSpPr>
          <p:cNvPr id="9" name="Text 7"/>
          <p:cNvSpPr/>
          <p:nvPr/>
        </p:nvSpPr>
        <p:spPr>
          <a:xfrm>
            <a:off x="365760" y="1947672"/>
            <a:ext cx="2468880" cy="475488"/>
          </a:xfrm>
          <a:prstGeom prst="rect">
            <a:avLst/>
          </a:prstGeom>
          <a:noFill/>
          <a:ln/>
        </p:spPr>
        <p:txBody>
          <a:bodyPr wrap="square" lIns="0" tIns="0" rIns="0" bIns="0" rtlCol="0" anchor="ctr"/>
          <a:lstStyle/>
          <a:p>
            <a:pPr marL="0" indent="0">
              <a:buNone/>
            </a:pPr>
            <a:r>
              <a:rPr lang="en-US" sz="1300" b="1" dirty="0">
                <a:solidFill>
                  <a:srgbClr val="FFFFFF"/>
                </a:solidFill>
              </a:rPr>
              <a:t>The Fake IT Reset</a:t>
            </a:r>
            <a:endParaRPr lang="en-US" sz="1300" dirty="0"/>
          </a:p>
        </p:txBody>
      </p:sp>
      <p:sp>
        <p:nvSpPr>
          <p:cNvPr id="10" name="Text 8"/>
          <p:cNvSpPr/>
          <p:nvPr/>
        </p:nvSpPr>
        <p:spPr>
          <a:xfrm>
            <a:off x="365760" y="2423160"/>
            <a:ext cx="2468880" cy="384048"/>
          </a:xfrm>
          <a:prstGeom prst="rect">
            <a:avLst/>
          </a:prstGeom>
          <a:noFill/>
          <a:ln/>
        </p:spPr>
        <p:txBody>
          <a:bodyPr wrap="square" lIns="0" tIns="0" rIns="0" bIns="0" rtlCol="0" anchor="ctr"/>
          <a:lstStyle/>
          <a:p>
            <a:pPr marL="0" indent="0">
              <a:buNone/>
            </a:pPr>
            <a:r>
              <a:rPr lang="en-US" sz="1050" i="1" dirty="0">
                <a:solidFill>
                  <a:srgbClr val="CDD3DC"/>
                </a:solidFill>
              </a:rPr>
              <a:t>Internal impersonation attack</a:t>
            </a:r>
            <a:endParaRPr lang="en-US" sz="1050" dirty="0"/>
          </a:p>
        </p:txBody>
      </p:sp>
      <p:sp>
        <p:nvSpPr>
          <p:cNvPr id="11" name="Shape 9"/>
          <p:cNvSpPr/>
          <p:nvPr/>
        </p:nvSpPr>
        <p:spPr>
          <a:xfrm>
            <a:off x="3136392" y="1508760"/>
            <a:ext cx="2743200" cy="1417320"/>
          </a:xfrm>
          <a:prstGeom prst="rect">
            <a:avLst/>
          </a:prstGeom>
          <a:solidFill>
            <a:srgbClr val="1B4F72"/>
          </a:solidFill>
          <a:ln/>
          <a:effectLst>
            <a:outerShdw blurRad="101600" dist="38100" dir="8100000" algn="bl" rotWithShape="0">
              <a:srgbClr val="000000">
                <a:alpha val="18000"/>
              </a:srgbClr>
            </a:outerShdw>
          </a:effectLst>
        </p:spPr>
      </p:sp>
      <p:sp>
        <p:nvSpPr>
          <p:cNvPr id="12" name="Shape 10"/>
          <p:cNvSpPr/>
          <p:nvPr/>
        </p:nvSpPr>
        <p:spPr>
          <a:xfrm>
            <a:off x="3136392" y="1508760"/>
            <a:ext cx="2743200" cy="91440"/>
          </a:xfrm>
          <a:prstGeom prst="rect">
            <a:avLst/>
          </a:prstGeom>
          <a:solidFill>
            <a:srgbClr val="148F77"/>
          </a:solidFill>
          <a:ln/>
        </p:spPr>
      </p:sp>
      <p:sp>
        <p:nvSpPr>
          <p:cNvPr id="13" name="Text 11"/>
          <p:cNvSpPr/>
          <p:nvPr/>
        </p:nvSpPr>
        <p:spPr>
          <a:xfrm>
            <a:off x="3273552" y="1618488"/>
            <a:ext cx="502920" cy="347472"/>
          </a:xfrm>
          <a:prstGeom prst="rect">
            <a:avLst/>
          </a:prstGeom>
          <a:noFill/>
          <a:ln/>
        </p:spPr>
        <p:txBody>
          <a:bodyPr wrap="square" lIns="0" tIns="0" rIns="0" bIns="0" rtlCol="0" anchor="ctr"/>
          <a:lstStyle/>
          <a:p>
            <a:pPr marL="0" indent="0">
              <a:buNone/>
            </a:pPr>
            <a:r>
              <a:rPr lang="en-US" sz="2000" b="1" dirty="0">
                <a:solidFill>
                  <a:srgbClr val="148F77"/>
                </a:solidFill>
              </a:rPr>
              <a:t>02</a:t>
            </a:r>
            <a:endParaRPr lang="en-US" sz="2000" dirty="0"/>
          </a:p>
        </p:txBody>
      </p:sp>
      <p:sp>
        <p:nvSpPr>
          <p:cNvPr id="14" name="Text 12"/>
          <p:cNvSpPr/>
          <p:nvPr/>
        </p:nvSpPr>
        <p:spPr>
          <a:xfrm>
            <a:off x="3273552" y="1947672"/>
            <a:ext cx="2468880" cy="475488"/>
          </a:xfrm>
          <a:prstGeom prst="rect">
            <a:avLst/>
          </a:prstGeom>
          <a:noFill/>
          <a:ln/>
        </p:spPr>
        <p:txBody>
          <a:bodyPr wrap="square" lIns="0" tIns="0" rIns="0" bIns="0" rtlCol="0" anchor="ctr"/>
          <a:lstStyle/>
          <a:p>
            <a:pPr marL="0" indent="0">
              <a:buNone/>
            </a:pPr>
            <a:r>
              <a:rPr lang="en-US" sz="1300" b="1" dirty="0">
                <a:solidFill>
                  <a:srgbClr val="FFFFFF"/>
                </a:solidFill>
              </a:rPr>
              <a:t>The CEO Wire Transfer</a:t>
            </a:r>
            <a:endParaRPr lang="en-US" sz="1300" dirty="0"/>
          </a:p>
        </p:txBody>
      </p:sp>
      <p:sp>
        <p:nvSpPr>
          <p:cNvPr id="15" name="Text 13"/>
          <p:cNvSpPr/>
          <p:nvPr/>
        </p:nvSpPr>
        <p:spPr>
          <a:xfrm>
            <a:off x="3273552" y="2423160"/>
            <a:ext cx="2468880" cy="384048"/>
          </a:xfrm>
          <a:prstGeom prst="rect">
            <a:avLst/>
          </a:prstGeom>
          <a:noFill/>
          <a:ln/>
        </p:spPr>
        <p:txBody>
          <a:bodyPr wrap="square" lIns="0" tIns="0" rIns="0" bIns="0" rtlCol="0" anchor="ctr"/>
          <a:lstStyle/>
          <a:p>
            <a:pPr marL="0" indent="0">
              <a:buNone/>
            </a:pPr>
            <a:r>
              <a:rPr lang="en-US" sz="1050" i="1" dirty="0">
                <a:solidFill>
                  <a:srgbClr val="CDD3DC"/>
                </a:solidFill>
              </a:rPr>
              <a:t>Business email compromise (BEC)</a:t>
            </a:r>
            <a:endParaRPr lang="en-US" sz="1050" dirty="0"/>
          </a:p>
        </p:txBody>
      </p:sp>
      <p:sp>
        <p:nvSpPr>
          <p:cNvPr id="16" name="Shape 14"/>
          <p:cNvSpPr/>
          <p:nvPr/>
        </p:nvSpPr>
        <p:spPr>
          <a:xfrm>
            <a:off x="6044184" y="1508760"/>
            <a:ext cx="2743200" cy="1417320"/>
          </a:xfrm>
          <a:prstGeom prst="rect">
            <a:avLst/>
          </a:prstGeom>
          <a:solidFill>
            <a:srgbClr val="1B4F72"/>
          </a:solidFill>
          <a:ln/>
          <a:effectLst>
            <a:outerShdw blurRad="101600" dist="38100" dir="8100000" algn="bl" rotWithShape="0">
              <a:srgbClr val="000000">
                <a:alpha val="18000"/>
              </a:srgbClr>
            </a:outerShdw>
          </a:effectLst>
        </p:spPr>
      </p:sp>
      <p:sp>
        <p:nvSpPr>
          <p:cNvPr id="17" name="Shape 15"/>
          <p:cNvSpPr/>
          <p:nvPr/>
        </p:nvSpPr>
        <p:spPr>
          <a:xfrm>
            <a:off x="6044184" y="1508760"/>
            <a:ext cx="2743200" cy="91440"/>
          </a:xfrm>
          <a:prstGeom prst="rect">
            <a:avLst/>
          </a:prstGeom>
          <a:solidFill>
            <a:srgbClr val="148F77"/>
          </a:solidFill>
          <a:ln/>
        </p:spPr>
      </p:sp>
      <p:sp>
        <p:nvSpPr>
          <p:cNvPr id="18" name="Text 16"/>
          <p:cNvSpPr/>
          <p:nvPr/>
        </p:nvSpPr>
        <p:spPr>
          <a:xfrm>
            <a:off x="6181344" y="1618488"/>
            <a:ext cx="502920" cy="347472"/>
          </a:xfrm>
          <a:prstGeom prst="rect">
            <a:avLst/>
          </a:prstGeom>
          <a:noFill/>
          <a:ln/>
        </p:spPr>
        <p:txBody>
          <a:bodyPr wrap="square" lIns="0" tIns="0" rIns="0" bIns="0" rtlCol="0" anchor="ctr"/>
          <a:lstStyle/>
          <a:p>
            <a:pPr marL="0" indent="0">
              <a:buNone/>
            </a:pPr>
            <a:r>
              <a:rPr lang="en-US" sz="2000" b="1" dirty="0">
                <a:solidFill>
                  <a:srgbClr val="148F77"/>
                </a:solidFill>
              </a:rPr>
              <a:t>03</a:t>
            </a:r>
            <a:endParaRPr lang="en-US" sz="2000" dirty="0"/>
          </a:p>
        </p:txBody>
      </p:sp>
      <p:sp>
        <p:nvSpPr>
          <p:cNvPr id="19" name="Text 17"/>
          <p:cNvSpPr/>
          <p:nvPr/>
        </p:nvSpPr>
        <p:spPr>
          <a:xfrm>
            <a:off x="6181344" y="1947672"/>
            <a:ext cx="2468880" cy="475488"/>
          </a:xfrm>
          <a:prstGeom prst="rect">
            <a:avLst/>
          </a:prstGeom>
          <a:noFill/>
          <a:ln/>
        </p:spPr>
        <p:txBody>
          <a:bodyPr wrap="square" lIns="0" tIns="0" rIns="0" bIns="0" rtlCol="0" anchor="ctr"/>
          <a:lstStyle/>
          <a:p>
            <a:pPr marL="0" indent="0">
              <a:buNone/>
            </a:pPr>
            <a:r>
              <a:rPr lang="en-US" sz="1300" b="1" dirty="0">
                <a:solidFill>
                  <a:srgbClr val="FFFFFF"/>
                </a:solidFill>
              </a:rPr>
              <a:t>The Delivery Notification</a:t>
            </a:r>
            <a:endParaRPr lang="en-US" sz="1300" dirty="0"/>
          </a:p>
        </p:txBody>
      </p:sp>
      <p:sp>
        <p:nvSpPr>
          <p:cNvPr id="20" name="Text 18"/>
          <p:cNvSpPr/>
          <p:nvPr/>
        </p:nvSpPr>
        <p:spPr>
          <a:xfrm>
            <a:off x="6181344" y="2423160"/>
            <a:ext cx="2468880" cy="384048"/>
          </a:xfrm>
          <a:prstGeom prst="rect">
            <a:avLst/>
          </a:prstGeom>
          <a:noFill/>
          <a:ln/>
        </p:spPr>
        <p:txBody>
          <a:bodyPr wrap="square" lIns="0" tIns="0" rIns="0" bIns="0" rtlCol="0" anchor="ctr"/>
          <a:lstStyle/>
          <a:p>
            <a:pPr marL="0" indent="0">
              <a:buNone/>
            </a:pPr>
            <a:r>
              <a:rPr lang="en-US" sz="1050" i="1" dirty="0">
                <a:solidFill>
                  <a:srgbClr val="CDD3DC"/>
                </a:solidFill>
              </a:rPr>
              <a:t>Package tracking phish</a:t>
            </a:r>
            <a:endParaRPr lang="en-US" sz="1050" dirty="0"/>
          </a:p>
        </p:txBody>
      </p:sp>
      <p:sp>
        <p:nvSpPr>
          <p:cNvPr id="21" name="Shape 19"/>
          <p:cNvSpPr/>
          <p:nvPr/>
        </p:nvSpPr>
        <p:spPr>
          <a:xfrm>
            <a:off x="228600" y="3108960"/>
            <a:ext cx="2743200" cy="1417320"/>
          </a:xfrm>
          <a:prstGeom prst="rect">
            <a:avLst/>
          </a:prstGeom>
          <a:solidFill>
            <a:srgbClr val="1B4F72"/>
          </a:solidFill>
          <a:ln/>
          <a:effectLst>
            <a:outerShdw blurRad="101600" dist="38100" dir="8100000" algn="bl" rotWithShape="0">
              <a:srgbClr val="000000">
                <a:alpha val="18000"/>
              </a:srgbClr>
            </a:outerShdw>
          </a:effectLst>
        </p:spPr>
      </p:sp>
      <p:sp>
        <p:nvSpPr>
          <p:cNvPr id="22" name="Shape 20"/>
          <p:cNvSpPr/>
          <p:nvPr/>
        </p:nvSpPr>
        <p:spPr>
          <a:xfrm>
            <a:off x="228600" y="3108960"/>
            <a:ext cx="2743200" cy="91440"/>
          </a:xfrm>
          <a:prstGeom prst="rect">
            <a:avLst/>
          </a:prstGeom>
          <a:solidFill>
            <a:srgbClr val="148F77"/>
          </a:solidFill>
          <a:ln/>
        </p:spPr>
      </p:sp>
      <p:sp>
        <p:nvSpPr>
          <p:cNvPr id="23" name="Text 21"/>
          <p:cNvSpPr/>
          <p:nvPr/>
        </p:nvSpPr>
        <p:spPr>
          <a:xfrm>
            <a:off x="365760" y="3218688"/>
            <a:ext cx="502920" cy="347472"/>
          </a:xfrm>
          <a:prstGeom prst="rect">
            <a:avLst/>
          </a:prstGeom>
          <a:noFill/>
          <a:ln/>
        </p:spPr>
        <p:txBody>
          <a:bodyPr wrap="square" lIns="0" tIns="0" rIns="0" bIns="0" rtlCol="0" anchor="ctr"/>
          <a:lstStyle/>
          <a:p>
            <a:pPr marL="0" indent="0">
              <a:buNone/>
            </a:pPr>
            <a:r>
              <a:rPr lang="en-US" sz="2000" b="1" dirty="0">
                <a:solidFill>
                  <a:srgbClr val="148F77"/>
                </a:solidFill>
              </a:rPr>
              <a:t>04</a:t>
            </a:r>
            <a:endParaRPr lang="en-US" sz="2000" dirty="0"/>
          </a:p>
        </p:txBody>
      </p:sp>
      <p:sp>
        <p:nvSpPr>
          <p:cNvPr id="24" name="Text 22"/>
          <p:cNvSpPr/>
          <p:nvPr/>
        </p:nvSpPr>
        <p:spPr>
          <a:xfrm>
            <a:off x="365760" y="3547872"/>
            <a:ext cx="2468880" cy="475488"/>
          </a:xfrm>
          <a:prstGeom prst="rect">
            <a:avLst/>
          </a:prstGeom>
          <a:noFill/>
          <a:ln/>
        </p:spPr>
        <p:txBody>
          <a:bodyPr wrap="square" lIns="0" tIns="0" rIns="0" bIns="0" rtlCol="0" anchor="ctr"/>
          <a:lstStyle/>
          <a:p>
            <a:pPr marL="0" indent="0">
              <a:buNone/>
            </a:pPr>
            <a:r>
              <a:rPr lang="en-US" sz="1300" b="1" dirty="0">
                <a:solidFill>
                  <a:srgbClr val="FFFFFF"/>
                </a:solidFill>
              </a:rPr>
              <a:t>The Shared Document</a:t>
            </a:r>
            <a:endParaRPr lang="en-US" sz="1300" dirty="0"/>
          </a:p>
        </p:txBody>
      </p:sp>
      <p:sp>
        <p:nvSpPr>
          <p:cNvPr id="25" name="Text 23"/>
          <p:cNvSpPr/>
          <p:nvPr/>
        </p:nvSpPr>
        <p:spPr>
          <a:xfrm>
            <a:off x="365760" y="4023360"/>
            <a:ext cx="2468880" cy="384048"/>
          </a:xfrm>
          <a:prstGeom prst="rect">
            <a:avLst/>
          </a:prstGeom>
          <a:noFill/>
          <a:ln/>
        </p:spPr>
        <p:txBody>
          <a:bodyPr wrap="square" lIns="0" tIns="0" rIns="0" bIns="0" rtlCol="0" anchor="ctr"/>
          <a:lstStyle/>
          <a:p>
            <a:pPr marL="0" indent="0">
              <a:buNone/>
            </a:pPr>
            <a:r>
              <a:rPr lang="en-US" sz="1050" i="1" dirty="0">
                <a:solidFill>
                  <a:srgbClr val="CDD3DC"/>
                </a:solidFill>
              </a:rPr>
              <a:t>Google/OneDrive spear phish</a:t>
            </a:r>
            <a:endParaRPr lang="en-US" sz="1050" dirty="0"/>
          </a:p>
        </p:txBody>
      </p:sp>
      <p:sp>
        <p:nvSpPr>
          <p:cNvPr id="26" name="Shape 24"/>
          <p:cNvSpPr/>
          <p:nvPr/>
        </p:nvSpPr>
        <p:spPr>
          <a:xfrm>
            <a:off x="3136392" y="3108960"/>
            <a:ext cx="2743200" cy="1417320"/>
          </a:xfrm>
          <a:prstGeom prst="rect">
            <a:avLst/>
          </a:prstGeom>
          <a:solidFill>
            <a:srgbClr val="1B4F72"/>
          </a:solidFill>
          <a:ln/>
          <a:effectLst>
            <a:outerShdw blurRad="101600" dist="38100" dir="8100000" algn="bl" rotWithShape="0">
              <a:srgbClr val="000000">
                <a:alpha val="18000"/>
              </a:srgbClr>
            </a:outerShdw>
          </a:effectLst>
        </p:spPr>
      </p:sp>
      <p:sp>
        <p:nvSpPr>
          <p:cNvPr id="27" name="Shape 25"/>
          <p:cNvSpPr/>
          <p:nvPr/>
        </p:nvSpPr>
        <p:spPr>
          <a:xfrm>
            <a:off x="3136392" y="3108960"/>
            <a:ext cx="2743200" cy="91440"/>
          </a:xfrm>
          <a:prstGeom prst="rect">
            <a:avLst/>
          </a:prstGeom>
          <a:solidFill>
            <a:srgbClr val="148F77"/>
          </a:solidFill>
          <a:ln/>
        </p:spPr>
      </p:sp>
      <p:sp>
        <p:nvSpPr>
          <p:cNvPr id="28" name="Text 26"/>
          <p:cNvSpPr/>
          <p:nvPr/>
        </p:nvSpPr>
        <p:spPr>
          <a:xfrm>
            <a:off x="3273552" y="3218688"/>
            <a:ext cx="502920" cy="347472"/>
          </a:xfrm>
          <a:prstGeom prst="rect">
            <a:avLst/>
          </a:prstGeom>
          <a:noFill/>
          <a:ln/>
        </p:spPr>
        <p:txBody>
          <a:bodyPr wrap="square" lIns="0" tIns="0" rIns="0" bIns="0" rtlCol="0" anchor="ctr"/>
          <a:lstStyle/>
          <a:p>
            <a:pPr marL="0" indent="0">
              <a:buNone/>
            </a:pPr>
            <a:r>
              <a:rPr lang="en-US" sz="2000" b="1" dirty="0">
                <a:solidFill>
                  <a:srgbClr val="148F77"/>
                </a:solidFill>
              </a:rPr>
              <a:t>05</a:t>
            </a:r>
            <a:endParaRPr lang="en-US" sz="2000" dirty="0"/>
          </a:p>
        </p:txBody>
      </p:sp>
      <p:sp>
        <p:nvSpPr>
          <p:cNvPr id="29" name="Text 27"/>
          <p:cNvSpPr/>
          <p:nvPr/>
        </p:nvSpPr>
        <p:spPr>
          <a:xfrm>
            <a:off x="3273552" y="3547872"/>
            <a:ext cx="2468880" cy="475488"/>
          </a:xfrm>
          <a:prstGeom prst="rect">
            <a:avLst/>
          </a:prstGeom>
          <a:noFill/>
          <a:ln/>
        </p:spPr>
        <p:txBody>
          <a:bodyPr wrap="square" lIns="0" tIns="0" rIns="0" bIns="0" rtlCol="0" anchor="ctr"/>
          <a:lstStyle/>
          <a:p>
            <a:pPr marL="0" indent="0">
              <a:buNone/>
            </a:pPr>
            <a:r>
              <a:rPr lang="en-US" sz="1300" b="1" dirty="0">
                <a:solidFill>
                  <a:srgbClr val="FFFFFF"/>
                </a:solidFill>
              </a:rPr>
              <a:t>The Tax Season Lure</a:t>
            </a:r>
            <a:endParaRPr lang="en-US" sz="1300" dirty="0"/>
          </a:p>
        </p:txBody>
      </p:sp>
      <p:sp>
        <p:nvSpPr>
          <p:cNvPr id="30" name="Text 28"/>
          <p:cNvSpPr/>
          <p:nvPr/>
        </p:nvSpPr>
        <p:spPr>
          <a:xfrm>
            <a:off x="3273552" y="4023360"/>
            <a:ext cx="2468880" cy="384048"/>
          </a:xfrm>
          <a:prstGeom prst="rect">
            <a:avLst/>
          </a:prstGeom>
          <a:noFill/>
          <a:ln/>
        </p:spPr>
        <p:txBody>
          <a:bodyPr wrap="square" lIns="0" tIns="0" rIns="0" bIns="0" rtlCol="0" anchor="ctr"/>
          <a:lstStyle/>
          <a:p>
            <a:pPr marL="0" indent="0">
              <a:buNone/>
            </a:pPr>
            <a:r>
              <a:rPr lang="en-US" sz="1050" i="1" dirty="0">
                <a:solidFill>
                  <a:srgbClr val="CDD3DC"/>
                </a:solidFill>
              </a:rPr>
              <a:t>Seasonal social engineering</a:t>
            </a:r>
            <a:endParaRPr lang="en-US" sz="1050" dirty="0"/>
          </a:p>
        </p:txBody>
      </p:sp>
      <p:sp>
        <p:nvSpPr>
          <p:cNvPr id="31" name="Shape 29"/>
          <p:cNvSpPr/>
          <p:nvPr/>
        </p:nvSpPr>
        <p:spPr>
          <a:xfrm>
            <a:off x="6044184" y="3108960"/>
            <a:ext cx="2743200" cy="1417320"/>
          </a:xfrm>
          <a:prstGeom prst="rect">
            <a:avLst/>
          </a:prstGeom>
          <a:solidFill>
            <a:srgbClr val="1B4F72"/>
          </a:solidFill>
          <a:ln/>
          <a:effectLst>
            <a:outerShdw blurRad="101600" dist="38100" dir="8100000" algn="bl" rotWithShape="0">
              <a:srgbClr val="000000">
                <a:alpha val="18000"/>
              </a:srgbClr>
            </a:outerShdw>
          </a:effectLst>
        </p:spPr>
      </p:sp>
      <p:sp>
        <p:nvSpPr>
          <p:cNvPr id="32" name="Shape 30"/>
          <p:cNvSpPr/>
          <p:nvPr/>
        </p:nvSpPr>
        <p:spPr>
          <a:xfrm>
            <a:off x="6044184" y="3108960"/>
            <a:ext cx="2743200" cy="91440"/>
          </a:xfrm>
          <a:prstGeom prst="rect">
            <a:avLst/>
          </a:prstGeom>
          <a:solidFill>
            <a:srgbClr val="148F77"/>
          </a:solidFill>
          <a:ln/>
        </p:spPr>
      </p:sp>
      <p:sp>
        <p:nvSpPr>
          <p:cNvPr id="33" name="Text 31"/>
          <p:cNvSpPr/>
          <p:nvPr/>
        </p:nvSpPr>
        <p:spPr>
          <a:xfrm>
            <a:off x="6181344" y="3218688"/>
            <a:ext cx="502920" cy="347472"/>
          </a:xfrm>
          <a:prstGeom prst="rect">
            <a:avLst/>
          </a:prstGeom>
          <a:noFill/>
          <a:ln/>
        </p:spPr>
        <p:txBody>
          <a:bodyPr wrap="square" lIns="0" tIns="0" rIns="0" bIns="0" rtlCol="0" anchor="ctr"/>
          <a:lstStyle/>
          <a:p>
            <a:pPr marL="0" indent="0">
              <a:buNone/>
            </a:pPr>
            <a:r>
              <a:rPr lang="en-US" sz="2000" b="1" dirty="0">
                <a:solidFill>
                  <a:srgbClr val="148F77"/>
                </a:solidFill>
              </a:rPr>
              <a:t>06</a:t>
            </a:r>
            <a:endParaRPr lang="en-US" sz="2000" dirty="0"/>
          </a:p>
        </p:txBody>
      </p:sp>
      <p:sp>
        <p:nvSpPr>
          <p:cNvPr id="34" name="Text 32"/>
          <p:cNvSpPr/>
          <p:nvPr/>
        </p:nvSpPr>
        <p:spPr>
          <a:xfrm>
            <a:off x="6181344" y="3547872"/>
            <a:ext cx="2468880" cy="475488"/>
          </a:xfrm>
          <a:prstGeom prst="rect">
            <a:avLst/>
          </a:prstGeom>
          <a:noFill/>
          <a:ln/>
        </p:spPr>
        <p:txBody>
          <a:bodyPr wrap="square" lIns="0" tIns="0" rIns="0" bIns="0" rtlCol="0" anchor="ctr"/>
          <a:lstStyle/>
          <a:p>
            <a:pPr marL="0" indent="0">
              <a:buNone/>
            </a:pPr>
            <a:r>
              <a:rPr lang="en-US" sz="1300" b="1" dirty="0">
                <a:solidFill>
                  <a:srgbClr val="FFFFFF"/>
                </a:solidFill>
              </a:rPr>
              <a:t>The Fake Job Offer</a:t>
            </a:r>
            <a:endParaRPr lang="en-US" sz="1300" dirty="0"/>
          </a:p>
        </p:txBody>
      </p:sp>
      <p:sp>
        <p:nvSpPr>
          <p:cNvPr id="35" name="Text 33"/>
          <p:cNvSpPr/>
          <p:nvPr/>
        </p:nvSpPr>
        <p:spPr>
          <a:xfrm>
            <a:off x="6181344" y="4023360"/>
            <a:ext cx="2468880" cy="384048"/>
          </a:xfrm>
          <a:prstGeom prst="rect">
            <a:avLst/>
          </a:prstGeom>
          <a:noFill/>
          <a:ln/>
        </p:spPr>
        <p:txBody>
          <a:bodyPr wrap="square" lIns="0" tIns="0" rIns="0" bIns="0" rtlCol="0" anchor="ctr"/>
          <a:lstStyle/>
          <a:p>
            <a:pPr marL="0" indent="0">
              <a:buNone/>
            </a:pPr>
            <a:r>
              <a:rPr lang="en-US" sz="1050" i="1" dirty="0">
                <a:solidFill>
                  <a:srgbClr val="CDD3DC"/>
                </a:solidFill>
              </a:rPr>
              <a:t>LinkedIn / recruitment phish</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74C3C"/>
          </a:solidFill>
          <a:ln/>
        </p:spPr>
      </p:sp>
      <p:sp>
        <p:nvSpPr>
          <p:cNvPr id="3" name="Text 1"/>
          <p:cNvSpPr/>
          <p:nvPr/>
        </p:nvSpPr>
        <p:spPr>
          <a:xfrm>
            <a:off x="365760" y="73152"/>
            <a:ext cx="8229600" cy="502920"/>
          </a:xfrm>
          <a:prstGeom prst="rect">
            <a:avLst/>
          </a:prstGeom>
          <a:noFill/>
          <a:ln/>
        </p:spPr>
        <p:txBody>
          <a:bodyPr wrap="square" lIns="0" tIns="0" rIns="0" bIns="0" rtlCol="0" anchor="ctr"/>
          <a:lstStyle/>
          <a:p>
            <a:pPr marL="0" indent="0">
              <a:buNone/>
            </a:pPr>
            <a:r>
              <a:rPr lang="en-US" sz="2000" b="1" dirty="0">
                <a:solidFill>
                  <a:srgbClr val="FFFFFF"/>
                </a:solidFill>
              </a:rPr>
              <a:t>Example 1: The Fake IT Password Reset</a:t>
            </a:r>
            <a:endParaRPr lang="en-US" sz="2000" dirty="0"/>
          </a:p>
        </p:txBody>
      </p:sp>
      <p:sp>
        <p:nvSpPr>
          <p:cNvPr id="4" name="Shape 2"/>
          <p:cNvSpPr/>
          <p:nvPr/>
        </p:nvSpPr>
        <p:spPr>
          <a:xfrm>
            <a:off x="228600" y="749808"/>
            <a:ext cx="5303520" cy="3383280"/>
          </a:xfrm>
          <a:prstGeom prst="rect">
            <a:avLst/>
          </a:prstGeom>
          <a:solidFill>
            <a:srgbClr val="0D1B2A"/>
          </a:solidFill>
          <a:ln/>
          <a:effectLst>
            <a:outerShdw blurRad="101600" dist="38100" dir="8100000" algn="bl" rotWithShape="0">
              <a:srgbClr val="000000">
                <a:alpha val="18000"/>
              </a:srgbClr>
            </a:outerShdw>
          </a:effectLst>
        </p:spPr>
      </p:sp>
      <p:sp>
        <p:nvSpPr>
          <p:cNvPr id="5" name="Shape 3"/>
          <p:cNvSpPr/>
          <p:nvPr/>
        </p:nvSpPr>
        <p:spPr>
          <a:xfrm>
            <a:off x="228600" y="749808"/>
            <a:ext cx="5303520" cy="365760"/>
          </a:xfrm>
          <a:prstGeom prst="rect">
            <a:avLst/>
          </a:prstGeom>
          <a:solidFill>
            <a:srgbClr val="1B4F72"/>
          </a:solidFill>
          <a:ln/>
        </p:spPr>
      </p:sp>
      <p:sp>
        <p:nvSpPr>
          <p:cNvPr id="6" name="Text 4"/>
          <p:cNvSpPr/>
          <p:nvPr/>
        </p:nvSpPr>
        <p:spPr>
          <a:xfrm>
            <a:off x="320040" y="786384"/>
            <a:ext cx="5120640" cy="292608"/>
          </a:xfrm>
          <a:prstGeom prst="rect">
            <a:avLst/>
          </a:prstGeom>
          <a:noFill/>
          <a:ln/>
        </p:spPr>
        <p:txBody>
          <a:bodyPr wrap="square" lIns="0" tIns="0" rIns="0" bIns="0" rtlCol="0" anchor="ctr"/>
          <a:lstStyle/>
          <a:p>
            <a:pPr marL="0" indent="0">
              <a:buNone/>
            </a:pPr>
            <a:r>
              <a:rPr lang="en-US" sz="900" dirty="0">
                <a:solidFill>
                  <a:srgbClr val="FFFFFF"/>
                </a:solidFill>
              </a:rPr>
              <a:t>From: IT-helpdesk@corp-support.net  |  To: j.smith@yourcompany.com</a:t>
            </a:r>
            <a:endParaRPr lang="en-US" sz="900" dirty="0"/>
          </a:p>
        </p:txBody>
      </p:sp>
      <p:sp>
        <p:nvSpPr>
          <p:cNvPr id="7" name="Text 5"/>
          <p:cNvSpPr/>
          <p:nvPr/>
        </p:nvSpPr>
        <p:spPr>
          <a:xfrm>
            <a:off x="365760" y="1170432"/>
            <a:ext cx="5029200" cy="219456"/>
          </a:xfrm>
          <a:prstGeom prst="rect">
            <a:avLst/>
          </a:prstGeom>
          <a:noFill/>
          <a:ln/>
        </p:spPr>
        <p:txBody>
          <a:bodyPr wrap="square" lIns="0" tIns="0" rIns="0" bIns="0" rtlCol="0" anchor="ctr"/>
          <a:lstStyle/>
          <a:p>
            <a:pPr marL="0" indent="0">
              <a:buNone/>
            </a:pPr>
            <a:r>
              <a:rPr lang="en-US" sz="1050" dirty="0">
                <a:solidFill>
                  <a:srgbClr val="CDD3DC"/>
                </a:solidFill>
              </a:rPr>
              <a:t>Subject: [URGENT] Password Expiry — Action Required</a:t>
            </a:r>
            <a:endParaRPr lang="en-US" sz="1050" dirty="0"/>
          </a:p>
        </p:txBody>
      </p:sp>
      <p:sp>
        <p:nvSpPr>
          <p:cNvPr id="8" name="Text 6"/>
          <p:cNvSpPr/>
          <p:nvPr/>
        </p:nvSpPr>
        <p:spPr>
          <a:xfrm>
            <a:off x="365760" y="1389888"/>
            <a:ext cx="5029200" cy="219456"/>
          </a:xfrm>
          <a:prstGeom prst="rect">
            <a:avLst/>
          </a:prstGeom>
          <a:noFill/>
          <a:ln/>
        </p:spPr>
        <p:txBody>
          <a:bodyPr wrap="square" lIns="0" tIns="0" rIns="0" bIns="0" rtlCol="0" anchor="ctr"/>
          <a:lstStyle/>
          <a:p>
            <a:pPr marL="0" indent="0">
              <a:buNone/>
            </a:pPr>
            <a:endParaRPr lang="en-US" sz="1050" dirty="0"/>
          </a:p>
        </p:txBody>
      </p:sp>
      <p:sp>
        <p:nvSpPr>
          <p:cNvPr id="9" name="Text 7"/>
          <p:cNvSpPr/>
          <p:nvPr/>
        </p:nvSpPr>
        <p:spPr>
          <a:xfrm>
            <a:off x="365760" y="1609344"/>
            <a:ext cx="5029200" cy="219456"/>
          </a:xfrm>
          <a:prstGeom prst="rect">
            <a:avLst/>
          </a:prstGeom>
          <a:noFill/>
          <a:ln/>
        </p:spPr>
        <p:txBody>
          <a:bodyPr wrap="square" lIns="0" tIns="0" rIns="0" bIns="0" rtlCol="0" anchor="ctr"/>
          <a:lstStyle/>
          <a:p>
            <a:pPr marL="0" indent="0">
              <a:buNone/>
            </a:pPr>
            <a:r>
              <a:rPr lang="en-US" sz="1050" dirty="0">
                <a:solidFill>
                  <a:srgbClr val="CDD3DC"/>
                </a:solidFill>
              </a:rPr>
              <a:t>Hi John,</a:t>
            </a:r>
            <a:endParaRPr lang="en-US" sz="1050" dirty="0"/>
          </a:p>
        </p:txBody>
      </p:sp>
      <p:sp>
        <p:nvSpPr>
          <p:cNvPr id="10" name="Text 8"/>
          <p:cNvSpPr/>
          <p:nvPr/>
        </p:nvSpPr>
        <p:spPr>
          <a:xfrm>
            <a:off x="365760" y="1828800"/>
            <a:ext cx="5029200" cy="219456"/>
          </a:xfrm>
          <a:prstGeom prst="rect">
            <a:avLst/>
          </a:prstGeom>
          <a:noFill/>
          <a:ln/>
        </p:spPr>
        <p:txBody>
          <a:bodyPr wrap="square" lIns="0" tIns="0" rIns="0" bIns="0" rtlCol="0" anchor="ctr"/>
          <a:lstStyle/>
          <a:p>
            <a:pPr marL="0" indent="0">
              <a:buNone/>
            </a:pPr>
            <a:endParaRPr lang="en-US" sz="1050" dirty="0"/>
          </a:p>
        </p:txBody>
      </p:sp>
      <p:sp>
        <p:nvSpPr>
          <p:cNvPr id="11" name="Text 9"/>
          <p:cNvSpPr/>
          <p:nvPr/>
        </p:nvSpPr>
        <p:spPr>
          <a:xfrm>
            <a:off x="365760" y="2048256"/>
            <a:ext cx="5029200" cy="219456"/>
          </a:xfrm>
          <a:prstGeom prst="rect">
            <a:avLst/>
          </a:prstGeom>
          <a:noFill/>
          <a:ln/>
        </p:spPr>
        <p:txBody>
          <a:bodyPr wrap="square" lIns="0" tIns="0" rIns="0" bIns="0" rtlCol="0" anchor="ctr"/>
          <a:lstStyle/>
          <a:p>
            <a:pPr marL="0" indent="0">
              <a:buNone/>
            </a:pPr>
            <a:r>
              <a:rPr lang="en-US" sz="1050" dirty="0">
                <a:solidFill>
                  <a:srgbClr val="CDD3DC"/>
                </a:solidFill>
              </a:rPr>
              <a:t>Your network password expires today. To prevent</a:t>
            </a:r>
            <a:endParaRPr lang="en-US" sz="1050" dirty="0"/>
          </a:p>
        </p:txBody>
      </p:sp>
      <p:sp>
        <p:nvSpPr>
          <p:cNvPr id="12" name="Text 10"/>
          <p:cNvSpPr/>
          <p:nvPr/>
        </p:nvSpPr>
        <p:spPr>
          <a:xfrm>
            <a:off x="365760" y="2267712"/>
            <a:ext cx="5029200" cy="219456"/>
          </a:xfrm>
          <a:prstGeom prst="rect">
            <a:avLst/>
          </a:prstGeom>
          <a:noFill/>
          <a:ln/>
        </p:spPr>
        <p:txBody>
          <a:bodyPr wrap="square" lIns="0" tIns="0" rIns="0" bIns="0" rtlCol="0" anchor="ctr"/>
          <a:lstStyle/>
          <a:p>
            <a:pPr marL="0" indent="0">
              <a:buNone/>
            </a:pPr>
            <a:r>
              <a:rPr lang="en-US" sz="1050" dirty="0">
                <a:solidFill>
                  <a:srgbClr val="CDD3DC"/>
                </a:solidFill>
              </a:rPr>
              <a:t>losing access, please reset it immediately:</a:t>
            </a:r>
            <a:endParaRPr lang="en-US" sz="1050" dirty="0"/>
          </a:p>
        </p:txBody>
      </p:sp>
      <p:sp>
        <p:nvSpPr>
          <p:cNvPr id="13" name="Text 11"/>
          <p:cNvSpPr/>
          <p:nvPr/>
        </p:nvSpPr>
        <p:spPr>
          <a:xfrm>
            <a:off x="365760" y="2487168"/>
            <a:ext cx="5029200" cy="219456"/>
          </a:xfrm>
          <a:prstGeom prst="rect">
            <a:avLst/>
          </a:prstGeom>
          <a:noFill/>
          <a:ln/>
        </p:spPr>
        <p:txBody>
          <a:bodyPr wrap="square" lIns="0" tIns="0" rIns="0" bIns="0" rtlCol="0" anchor="ctr"/>
          <a:lstStyle/>
          <a:p>
            <a:pPr marL="0" indent="0">
              <a:buNone/>
            </a:pPr>
            <a:endParaRPr lang="en-US" sz="1050" dirty="0"/>
          </a:p>
        </p:txBody>
      </p:sp>
      <p:sp>
        <p:nvSpPr>
          <p:cNvPr id="14" name="Text 12"/>
          <p:cNvSpPr/>
          <p:nvPr/>
        </p:nvSpPr>
        <p:spPr>
          <a:xfrm>
            <a:off x="365760" y="2706624"/>
            <a:ext cx="5029200" cy="219456"/>
          </a:xfrm>
          <a:prstGeom prst="rect">
            <a:avLst/>
          </a:prstGeom>
          <a:noFill/>
          <a:ln/>
        </p:spPr>
        <p:txBody>
          <a:bodyPr wrap="square" lIns="0" tIns="0" rIns="0" bIns="0" rtlCol="0" anchor="ctr"/>
          <a:lstStyle/>
          <a:p>
            <a:pPr marL="0" indent="0">
              <a:buNone/>
            </a:pPr>
            <a:r>
              <a:rPr lang="en-US" sz="1050" dirty="0">
                <a:solidFill>
                  <a:srgbClr val="CDD3DC"/>
                </a:solidFill>
              </a:rPr>
              <a:t>➜  http://it-portal.corp-support.net/reset</a:t>
            </a:r>
            <a:endParaRPr lang="en-US" sz="1050" dirty="0"/>
          </a:p>
        </p:txBody>
      </p:sp>
      <p:sp>
        <p:nvSpPr>
          <p:cNvPr id="15" name="Text 13"/>
          <p:cNvSpPr/>
          <p:nvPr/>
        </p:nvSpPr>
        <p:spPr>
          <a:xfrm>
            <a:off x="365760" y="2926080"/>
            <a:ext cx="5029200" cy="219456"/>
          </a:xfrm>
          <a:prstGeom prst="rect">
            <a:avLst/>
          </a:prstGeom>
          <a:noFill/>
          <a:ln/>
        </p:spPr>
        <p:txBody>
          <a:bodyPr wrap="square" lIns="0" tIns="0" rIns="0" bIns="0" rtlCol="0" anchor="ctr"/>
          <a:lstStyle/>
          <a:p>
            <a:pPr marL="0" indent="0">
              <a:buNone/>
            </a:pPr>
            <a:endParaRPr lang="en-US" sz="1050" dirty="0"/>
          </a:p>
        </p:txBody>
      </p:sp>
      <p:sp>
        <p:nvSpPr>
          <p:cNvPr id="16" name="Text 14"/>
          <p:cNvSpPr/>
          <p:nvPr/>
        </p:nvSpPr>
        <p:spPr>
          <a:xfrm>
            <a:off x="365760" y="3145536"/>
            <a:ext cx="5029200" cy="219456"/>
          </a:xfrm>
          <a:prstGeom prst="rect">
            <a:avLst/>
          </a:prstGeom>
          <a:noFill/>
          <a:ln/>
        </p:spPr>
        <p:txBody>
          <a:bodyPr wrap="square" lIns="0" tIns="0" rIns="0" bIns="0" rtlCol="0" anchor="ctr"/>
          <a:lstStyle/>
          <a:p>
            <a:pPr marL="0" indent="0">
              <a:buNone/>
            </a:pPr>
            <a:r>
              <a:rPr lang="en-US" sz="1050" dirty="0">
                <a:solidFill>
                  <a:srgbClr val="CDD3DC"/>
                </a:solidFill>
              </a:rPr>
              <a:t>Enter your current credentials to continue.</a:t>
            </a:r>
            <a:endParaRPr lang="en-US" sz="1050" dirty="0"/>
          </a:p>
        </p:txBody>
      </p:sp>
      <p:sp>
        <p:nvSpPr>
          <p:cNvPr id="17" name="Text 15"/>
          <p:cNvSpPr/>
          <p:nvPr/>
        </p:nvSpPr>
        <p:spPr>
          <a:xfrm>
            <a:off x="365760" y="3364992"/>
            <a:ext cx="5029200" cy="219456"/>
          </a:xfrm>
          <a:prstGeom prst="rect">
            <a:avLst/>
          </a:prstGeom>
          <a:noFill/>
          <a:ln/>
        </p:spPr>
        <p:txBody>
          <a:bodyPr wrap="square" lIns="0" tIns="0" rIns="0" bIns="0" rtlCol="0" anchor="ctr"/>
          <a:lstStyle/>
          <a:p>
            <a:pPr marL="0" indent="0">
              <a:buNone/>
            </a:pPr>
            <a:endParaRPr lang="en-US" sz="1050" dirty="0"/>
          </a:p>
        </p:txBody>
      </p:sp>
      <p:sp>
        <p:nvSpPr>
          <p:cNvPr id="18" name="Text 16"/>
          <p:cNvSpPr/>
          <p:nvPr/>
        </p:nvSpPr>
        <p:spPr>
          <a:xfrm>
            <a:off x="365760" y="3584448"/>
            <a:ext cx="5029200" cy="219456"/>
          </a:xfrm>
          <a:prstGeom prst="rect">
            <a:avLst/>
          </a:prstGeom>
          <a:noFill/>
          <a:ln/>
        </p:spPr>
        <p:txBody>
          <a:bodyPr wrap="square" lIns="0" tIns="0" rIns="0" bIns="0" rtlCol="0" anchor="ctr"/>
          <a:lstStyle/>
          <a:p>
            <a:pPr marL="0" indent="0">
              <a:buNone/>
            </a:pPr>
            <a:r>
              <a:rPr lang="en-US" sz="1050" dirty="0">
                <a:solidFill>
                  <a:srgbClr val="CDD3DC"/>
                </a:solidFill>
              </a:rPr>
              <a:t>— IT Help Desk</a:t>
            </a:r>
            <a:endParaRPr lang="en-US" sz="1050" dirty="0"/>
          </a:p>
        </p:txBody>
      </p:sp>
      <p:sp>
        <p:nvSpPr>
          <p:cNvPr id="19" name="Shape 17"/>
          <p:cNvSpPr/>
          <p:nvPr/>
        </p:nvSpPr>
        <p:spPr>
          <a:xfrm>
            <a:off x="5669280" y="868680"/>
            <a:ext cx="3246120" cy="384048"/>
          </a:xfrm>
          <a:prstGeom prst="rect">
            <a:avLst/>
          </a:prstGeom>
          <a:solidFill>
            <a:srgbClr val="E74C3C"/>
          </a:solidFill>
          <a:ln/>
          <a:effectLst>
            <a:outerShdw blurRad="101600" dist="38100" dir="8100000" algn="bl" rotWithShape="0">
              <a:srgbClr val="000000">
                <a:alpha val="18000"/>
              </a:srgbClr>
            </a:outerShdw>
          </a:effectLst>
        </p:spPr>
      </p:sp>
      <p:sp>
        <p:nvSpPr>
          <p:cNvPr id="20" name="Text 18"/>
          <p:cNvSpPr/>
          <p:nvPr/>
        </p:nvSpPr>
        <p:spPr>
          <a:xfrm>
            <a:off x="5742432" y="923544"/>
            <a:ext cx="3108960" cy="274320"/>
          </a:xfrm>
          <a:prstGeom prst="rect">
            <a:avLst/>
          </a:prstGeom>
          <a:noFill/>
          <a:ln/>
        </p:spPr>
        <p:txBody>
          <a:bodyPr wrap="square" lIns="0" tIns="0" rIns="0" bIns="0" rtlCol="0" anchor="ctr"/>
          <a:lstStyle/>
          <a:p>
            <a:pPr marL="0" indent="0">
              <a:buNone/>
            </a:pPr>
            <a:r>
              <a:rPr lang="en-US" sz="1050" dirty="0">
                <a:solidFill>
                  <a:srgbClr val="FFFFFF"/>
                </a:solidFill>
              </a:rPr>
              <a:t>🚩 Spoofed domain — not your real IT dept</a:t>
            </a:r>
            <a:endParaRPr lang="en-US" sz="1050" dirty="0"/>
          </a:p>
        </p:txBody>
      </p:sp>
      <p:sp>
        <p:nvSpPr>
          <p:cNvPr id="21" name="Shape 19"/>
          <p:cNvSpPr/>
          <p:nvPr/>
        </p:nvSpPr>
        <p:spPr>
          <a:xfrm>
            <a:off x="5669280" y="1389888"/>
            <a:ext cx="3246120" cy="384048"/>
          </a:xfrm>
          <a:prstGeom prst="rect">
            <a:avLst/>
          </a:prstGeom>
          <a:solidFill>
            <a:srgbClr val="E74C3C"/>
          </a:solidFill>
          <a:ln/>
          <a:effectLst>
            <a:outerShdw blurRad="101600" dist="38100" dir="8100000" algn="bl" rotWithShape="0">
              <a:srgbClr val="000000">
                <a:alpha val="18000"/>
              </a:srgbClr>
            </a:outerShdw>
          </a:effectLst>
        </p:spPr>
      </p:sp>
      <p:sp>
        <p:nvSpPr>
          <p:cNvPr id="22" name="Text 20"/>
          <p:cNvSpPr/>
          <p:nvPr/>
        </p:nvSpPr>
        <p:spPr>
          <a:xfrm>
            <a:off x="5737860" y="1456001"/>
            <a:ext cx="3108960" cy="274320"/>
          </a:xfrm>
          <a:prstGeom prst="rect">
            <a:avLst/>
          </a:prstGeom>
          <a:noFill/>
          <a:ln/>
        </p:spPr>
        <p:txBody>
          <a:bodyPr wrap="square" lIns="0" tIns="0" rIns="0" bIns="0" rtlCol="0" anchor="ctr"/>
          <a:lstStyle/>
          <a:p>
            <a:pPr marL="0" indent="0">
              <a:buNone/>
            </a:pPr>
            <a:r>
              <a:rPr lang="en-US" sz="1050" dirty="0">
                <a:solidFill>
                  <a:srgbClr val="FFFFFF"/>
                </a:solidFill>
              </a:rPr>
              <a:t>🚩 Urgent subject to create panic</a:t>
            </a:r>
            <a:endParaRPr lang="en-US" sz="1050" dirty="0"/>
          </a:p>
        </p:txBody>
      </p:sp>
      <p:sp>
        <p:nvSpPr>
          <p:cNvPr id="23" name="Shape 21"/>
          <p:cNvSpPr/>
          <p:nvPr/>
        </p:nvSpPr>
        <p:spPr>
          <a:xfrm>
            <a:off x="5669280" y="1828800"/>
            <a:ext cx="3246120" cy="384048"/>
          </a:xfrm>
          <a:prstGeom prst="rect">
            <a:avLst/>
          </a:prstGeom>
          <a:solidFill>
            <a:srgbClr val="E74C3C"/>
          </a:solidFill>
          <a:ln/>
          <a:effectLst>
            <a:outerShdw blurRad="101600" dist="38100" dir="8100000" algn="bl" rotWithShape="0">
              <a:srgbClr val="000000">
                <a:alpha val="18000"/>
              </a:srgbClr>
            </a:outerShdw>
          </a:effectLst>
        </p:spPr>
      </p:sp>
      <p:sp>
        <p:nvSpPr>
          <p:cNvPr id="24" name="Text 22"/>
          <p:cNvSpPr/>
          <p:nvPr/>
        </p:nvSpPr>
        <p:spPr>
          <a:xfrm>
            <a:off x="5737860" y="1900241"/>
            <a:ext cx="3108960" cy="274320"/>
          </a:xfrm>
          <a:prstGeom prst="rect">
            <a:avLst/>
          </a:prstGeom>
          <a:noFill/>
          <a:ln/>
        </p:spPr>
        <p:txBody>
          <a:bodyPr wrap="square" lIns="0" tIns="0" rIns="0" bIns="0" rtlCol="0" anchor="ctr"/>
          <a:lstStyle/>
          <a:p>
            <a:pPr marL="0" indent="0">
              <a:buNone/>
            </a:pPr>
            <a:r>
              <a:rPr lang="en-US" sz="1050" dirty="0">
                <a:solidFill>
                  <a:srgbClr val="FFFFFF"/>
                </a:solidFill>
              </a:rPr>
              <a:t>🚩 HTTP link — no encryption</a:t>
            </a:r>
            <a:endParaRPr lang="en-US" sz="1050" dirty="0"/>
          </a:p>
        </p:txBody>
      </p:sp>
      <p:sp>
        <p:nvSpPr>
          <p:cNvPr id="25" name="Shape 23"/>
          <p:cNvSpPr/>
          <p:nvPr/>
        </p:nvSpPr>
        <p:spPr>
          <a:xfrm>
            <a:off x="5669280" y="2284289"/>
            <a:ext cx="3246120" cy="384048"/>
          </a:xfrm>
          <a:prstGeom prst="rect">
            <a:avLst/>
          </a:prstGeom>
          <a:solidFill>
            <a:srgbClr val="E74C3C"/>
          </a:solidFill>
          <a:ln/>
          <a:effectLst>
            <a:outerShdw blurRad="101600" dist="38100" dir="8100000" algn="bl" rotWithShape="0">
              <a:srgbClr val="000000">
                <a:alpha val="18000"/>
              </a:srgbClr>
            </a:outerShdw>
          </a:effectLst>
        </p:spPr>
      </p:sp>
      <p:sp>
        <p:nvSpPr>
          <p:cNvPr id="26" name="Text 24"/>
          <p:cNvSpPr/>
          <p:nvPr/>
        </p:nvSpPr>
        <p:spPr>
          <a:xfrm>
            <a:off x="5742432" y="2339153"/>
            <a:ext cx="3108960" cy="274320"/>
          </a:xfrm>
          <a:prstGeom prst="rect">
            <a:avLst/>
          </a:prstGeom>
          <a:noFill/>
          <a:ln/>
        </p:spPr>
        <p:txBody>
          <a:bodyPr wrap="square" lIns="0" tIns="0" rIns="0" bIns="0" rtlCol="0" anchor="ctr"/>
          <a:lstStyle/>
          <a:p>
            <a:pPr marL="0" indent="0">
              <a:buNone/>
            </a:pPr>
            <a:r>
              <a:rPr lang="en-US" sz="1050" dirty="0">
                <a:solidFill>
                  <a:srgbClr val="FFFFFF"/>
                </a:solidFill>
              </a:rPr>
              <a:t>🚩 External domain for 'internal' IT</a:t>
            </a:r>
            <a:endParaRPr lang="en-US" sz="1050" dirty="0"/>
          </a:p>
        </p:txBody>
      </p:sp>
      <p:sp>
        <p:nvSpPr>
          <p:cNvPr id="27" name="Shape 25"/>
          <p:cNvSpPr/>
          <p:nvPr/>
        </p:nvSpPr>
        <p:spPr>
          <a:xfrm>
            <a:off x="5669280" y="2808919"/>
            <a:ext cx="3246120" cy="384048"/>
          </a:xfrm>
          <a:prstGeom prst="rect">
            <a:avLst/>
          </a:prstGeom>
          <a:solidFill>
            <a:srgbClr val="E74C3C"/>
          </a:solidFill>
          <a:ln/>
          <a:effectLst>
            <a:outerShdw blurRad="101600" dist="38100" dir="8100000" algn="bl" rotWithShape="0">
              <a:srgbClr val="000000">
                <a:alpha val="18000"/>
              </a:srgbClr>
            </a:outerShdw>
          </a:effectLst>
        </p:spPr>
      </p:sp>
      <p:sp>
        <p:nvSpPr>
          <p:cNvPr id="28" name="Text 26"/>
          <p:cNvSpPr/>
          <p:nvPr/>
        </p:nvSpPr>
        <p:spPr>
          <a:xfrm>
            <a:off x="5742432" y="2863783"/>
            <a:ext cx="3108960" cy="274320"/>
          </a:xfrm>
          <a:prstGeom prst="rect">
            <a:avLst/>
          </a:prstGeom>
          <a:noFill/>
          <a:ln/>
        </p:spPr>
        <p:txBody>
          <a:bodyPr wrap="square" lIns="0" tIns="0" rIns="0" bIns="0" rtlCol="0" anchor="ctr"/>
          <a:lstStyle/>
          <a:p>
            <a:pPr marL="0" indent="0">
              <a:buNone/>
            </a:pPr>
            <a:r>
              <a:rPr lang="en-US" sz="1050" dirty="0">
                <a:solidFill>
                  <a:srgbClr val="FFFFFF"/>
                </a:solidFill>
              </a:rPr>
              <a:t>🚩 Asks for current credentials</a:t>
            </a:r>
            <a:endParaRPr lang="en-US" sz="1050" dirty="0"/>
          </a:p>
        </p:txBody>
      </p:sp>
      <p:sp>
        <p:nvSpPr>
          <p:cNvPr id="29" name="Text 27"/>
          <p:cNvSpPr/>
          <p:nvPr/>
        </p:nvSpPr>
        <p:spPr>
          <a:xfrm>
            <a:off x="228600" y="4224528"/>
            <a:ext cx="8686800" cy="411480"/>
          </a:xfrm>
          <a:prstGeom prst="rect">
            <a:avLst/>
          </a:prstGeom>
          <a:noFill/>
          <a:ln/>
        </p:spPr>
        <p:txBody>
          <a:bodyPr wrap="square" lIns="0" tIns="0" rIns="0" bIns="0" rtlCol="0" anchor="ctr"/>
          <a:lstStyle/>
          <a:p>
            <a:pPr marL="0" indent="0">
              <a:buNone/>
            </a:pPr>
            <a:r>
              <a:rPr lang="en-US" sz="1200" b="1" dirty="0">
                <a:solidFill>
                  <a:srgbClr val="2C3E50"/>
                </a:solidFill>
              </a:rPr>
              <a:t>What to do: Forward to your real IT team via your internal ticketing system. Never click the link.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0392B"/>
          </a:solidFill>
          <a:ln/>
        </p:spPr>
      </p:sp>
      <p:sp>
        <p:nvSpPr>
          <p:cNvPr id="3" name="Text 1"/>
          <p:cNvSpPr/>
          <p:nvPr/>
        </p:nvSpPr>
        <p:spPr>
          <a:xfrm>
            <a:off x="365760" y="73152"/>
            <a:ext cx="8229600" cy="502920"/>
          </a:xfrm>
          <a:prstGeom prst="rect">
            <a:avLst/>
          </a:prstGeom>
          <a:noFill/>
          <a:ln/>
        </p:spPr>
        <p:txBody>
          <a:bodyPr wrap="square" lIns="0" tIns="0" rIns="0" bIns="0" rtlCol="0" anchor="ctr"/>
          <a:lstStyle/>
          <a:p>
            <a:pPr marL="0" indent="0">
              <a:buNone/>
            </a:pPr>
            <a:r>
              <a:rPr lang="en-US" sz="2000" b="1" dirty="0">
                <a:solidFill>
                  <a:srgbClr val="FFFFFF"/>
                </a:solidFill>
              </a:rPr>
              <a:t>Example 2: The CEO Wire Transfer (BEC)</a:t>
            </a:r>
            <a:endParaRPr lang="en-US" sz="2000" dirty="0"/>
          </a:p>
        </p:txBody>
      </p:sp>
      <p:sp>
        <p:nvSpPr>
          <p:cNvPr id="4" name="Shape 2"/>
          <p:cNvSpPr/>
          <p:nvPr/>
        </p:nvSpPr>
        <p:spPr>
          <a:xfrm>
            <a:off x="228600" y="749808"/>
            <a:ext cx="5303520" cy="3017520"/>
          </a:xfrm>
          <a:prstGeom prst="rect">
            <a:avLst/>
          </a:prstGeom>
          <a:solidFill>
            <a:srgbClr val="0D1B2A"/>
          </a:solidFill>
          <a:ln/>
          <a:effectLst>
            <a:outerShdw blurRad="101600" dist="38100" dir="8100000" algn="bl" rotWithShape="0">
              <a:srgbClr val="000000">
                <a:alpha val="18000"/>
              </a:srgbClr>
            </a:outerShdw>
          </a:effectLst>
        </p:spPr>
      </p:sp>
      <p:sp>
        <p:nvSpPr>
          <p:cNvPr id="5" name="Shape 3"/>
          <p:cNvSpPr/>
          <p:nvPr/>
        </p:nvSpPr>
        <p:spPr>
          <a:xfrm>
            <a:off x="228600" y="749808"/>
            <a:ext cx="5303520" cy="365760"/>
          </a:xfrm>
          <a:prstGeom prst="rect">
            <a:avLst/>
          </a:prstGeom>
          <a:solidFill>
            <a:srgbClr val="1B4F72"/>
          </a:solidFill>
          <a:ln/>
        </p:spPr>
      </p:sp>
      <p:sp>
        <p:nvSpPr>
          <p:cNvPr id="6" name="Text 4"/>
          <p:cNvSpPr/>
          <p:nvPr/>
        </p:nvSpPr>
        <p:spPr>
          <a:xfrm>
            <a:off x="320040" y="786384"/>
            <a:ext cx="5120640" cy="292608"/>
          </a:xfrm>
          <a:prstGeom prst="rect">
            <a:avLst/>
          </a:prstGeom>
          <a:noFill/>
          <a:ln/>
        </p:spPr>
        <p:txBody>
          <a:bodyPr wrap="square" lIns="0" tIns="0" rIns="0" bIns="0" rtlCol="0" anchor="ctr"/>
          <a:lstStyle/>
          <a:p>
            <a:pPr marL="0" indent="0">
              <a:buNone/>
            </a:pPr>
            <a:r>
              <a:rPr lang="en-US" sz="900" dirty="0">
                <a:solidFill>
                  <a:srgbClr val="FFFFFF"/>
                </a:solidFill>
              </a:rPr>
              <a:t>From: ceo-roberts@yourcompany-exec.com  |  To: sarah.finance@yourcompany.com</a:t>
            </a:r>
            <a:endParaRPr lang="en-US" sz="900" dirty="0"/>
          </a:p>
        </p:txBody>
      </p:sp>
      <p:sp>
        <p:nvSpPr>
          <p:cNvPr id="7" name="Text 5"/>
          <p:cNvSpPr/>
          <p:nvPr/>
        </p:nvSpPr>
        <p:spPr>
          <a:xfrm>
            <a:off x="365760" y="1170432"/>
            <a:ext cx="5029200" cy="201168"/>
          </a:xfrm>
          <a:prstGeom prst="rect">
            <a:avLst/>
          </a:prstGeom>
          <a:noFill/>
          <a:ln/>
        </p:spPr>
        <p:txBody>
          <a:bodyPr wrap="square" lIns="0" tIns="0" rIns="0" bIns="0" rtlCol="0" anchor="ctr"/>
          <a:lstStyle/>
          <a:p>
            <a:pPr marL="0" indent="0">
              <a:buNone/>
            </a:pPr>
            <a:r>
              <a:rPr lang="en-US" sz="1050" dirty="0">
                <a:solidFill>
                  <a:srgbClr val="CDD3DC"/>
                </a:solidFill>
              </a:rPr>
              <a:t>Subject: Confidential — Urgent Wire Transfer</a:t>
            </a:r>
            <a:endParaRPr lang="en-US" sz="1050" dirty="0"/>
          </a:p>
        </p:txBody>
      </p:sp>
      <p:sp>
        <p:nvSpPr>
          <p:cNvPr id="8" name="Text 6"/>
          <p:cNvSpPr/>
          <p:nvPr/>
        </p:nvSpPr>
        <p:spPr>
          <a:xfrm>
            <a:off x="365760" y="1371600"/>
            <a:ext cx="5029200" cy="201168"/>
          </a:xfrm>
          <a:prstGeom prst="rect">
            <a:avLst/>
          </a:prstGeom>
          <a:noFill/>
          <a:ln/>
        </p:spPr>
        <p:txBody>
          <a:bodyPr wrap="square" lIns="0" tIns="0" rIns="0" bIns="0" rtlCol="0" anchor="ctr"/>
          <a:lstStyle/>
          <a:p>
            <a:pPr marL="0" indent="0">
              <a:buNone/>
            </a:pPr>
            <a:endParaRPr lang="en-US" sz="1050" dirty="0"/>
          </a:p>
        </p:txBody>
      </p:sp>
      <p:sp>
        <p:nvSpPr>
          <p:cNvPr id="9" name="Text 7"/>
          <p:cNvSpPr/>
          <p:nvPr/>
        </p:nvSpPr>
        <p:spPr>
          <a:xfrm>
            <a:off x="365760" y="1572768"/>
            <a:ext cx="5029200" cy="201168"/>
          </a:xfrm>
          <a:prstGeom prst="rect">
            <a:avLst/>
          </a:prstGeom>
          <a:noFill/>
          <a:ln/>
        </p:spPr>
        <p:txBody>
          <a:bodyPr wrap="square" lIns="0" tIns="0" rIns="0" bIns="0" rtlCol="0" anchor="ctr"/>
          <a:lstStyle/>
          <a:p>
            <a:pPr marL="0" indent="0">
              <a:buNone/>
            </a:pPr>
            <a:r>
              <a:rPr lang="en-US" sz="1050" dirty="0">
                <a:solidFill>
                  <a:srgbClr val="CDD3DC"/>
                </a:solidFill>
              </a:rPr>
              <a:t>Sarah,</a:t>
            </a:r>
            <a:endParaRPr lang="en-US" sz="1050" dirty="0"/>
          </a:p>
        </p:txBody>
      </p:sp>
      <p:sp>
        <p:nvSpPr>
          <p:cNvPr id="10" name="Text 8"/>
          <p:cNvSpPr/>
          <p:nvPr/>
        </p:nvSpPr>
        <p:spPr>
          <a:xfrm>
            <a:off x="365760" y="1773936"/>
            <a:ext cx="5029200" cy="201168"/>
          </a:xfrm>
          <a:prstGeom prst="rect">
            <a:avLst/>
          </a:prstGeom>
          <a:noFill/>
          <a:ln/>
        </p:spPr>
        <p:txBody>
          <a:bodyPr wrap="square" lIns="0" tIns="0" rIns="0" bIns="0" rtlCol="0" anchor="ctr"/>
          <a:lstStyle/>
          <a:p>
            <a:pPr marL="0" indent="0">
              <a:buNone/>
            </a:pPr>
            <a:endParaRPr lang="en-US" sz="1050" dirty="0"/>
          </a:p>
        </p:txBody>
      </p:sp>
      <p:sp>
        <p:nvSpPr>
          <p:cNvPr id="11" name="Text 9"/>
          <p:cNvSpPr/>
          <p:nvPr/>
        </p:nvSpPr>
        <p:spPr>
          <a:xfrm>
            <a:off x="365760" y="1975104"/>
            <a:ext cx="5029200" cy="201168"/>
          </a:xfrm>
          <a:prstGeom prst="rect">
            <a:avLst/>
          </a:prstGeom>
          <a:noFill/>
          <a:ln/>
        </p:spPr>
        <p:txBody>
          <a:bodyPr wrap="square" lIns="0" tIns="0" rIns="0" bIns="0" rtlCol="0" anchor="ctr"/>
          <a:lstStyle/>
          <a:p>
            <a:pPr marL="0" indent="0">
              <a:buNone/>
            </a:pPr>
            <a:r>
              <a:rPr lang="en-US" sz="1050" dirty="0">
                <a:solidFill>
                  <a:srgbClr val="CDD3DC"/>
                </a:solidFill>
              </a:rPr>
              <a:t>I'm in a board meeting and can't take calls.</a:t>
            </a:r>
            <a:endParaRPr lang="en-US" sz="1050" dirty="0"/>
          </a:p>
        </p:txBody>
      </p:sp>
      <p:sp>
        <p:nvSpPr>
          <p:cNvPr id="12" name="Text 10"/>
          <p:cNvSpPr/>
          <p:nvPr/>
        </p:nvSpPr>
        <p:spPr>
          <a:xfrm>
            <a:off x="365760" y="2176272"/>
            <a:ext cx="5029200" cy="201168"/>
          </a:xfrm>
          <a:prstGeom prst="rect">
            <a:avLst/>
          </a:prstGeom>
          <a:noFill/>
          <a:ln/>
        </p:spPr>
        <p:txBody>
          <a:bodyPr wrap="square" lIns="0" tIns="0" rIns="0" bIns="0" rtlCol="0" anchor="ctr"/>
          <a:lstStyle/>
          <a:p>
            <a:pPr marL="0" indent="0">
              <a:buNone/>
            </a:pPr>
            <a:r>
              <a:rPr lang="en-US" sz="1050" dirty="0">
                <a:solidFill>
                  <a:srgbClr val="CDD3DC"/>
                </a:solidFill>
              </a:rPr>
              <a:t>Need you to process a vendor payment today.</a:t>
            </a:r>
            <a:endParaRPr lang="en-US" sz="1050" dirty="0"/>
          </a:p>
        </p:txBody>
      </p:sp>
      <p:sp>
        <p:nvSpPr>
          <p:cNvPr id="13" name="Text 11"/>
          <p:cNvSpPr/>
          <p:nvPr/>
        </p:nvSpPr>
        <p:spPr>
          <a:xfrm>
            <a:off x="365760" y="2377440"/>
            <a:ext cx="5029200" cy="201168"/>
          </a:xfrm>
          <a:prstGeom prst="rect">
            <a:avLst/>
          </a:prstGeom>
          <a:noFill/>
          <a:ln/>
        </p:spPr>
        <p:txBody>
          <a:bodyPr wrap="square" lIns="0" tIns="0" rIns="0" bIns="0" rtlCol="0" anchor="ctr"/>
          <a:lstStyle/>
          <a:p>
            <a:pPr marL="0" indent="0">
              <a:buNone/>
            </a:pPr>
            <a:endParaRPr lang="en-US" sz="1050" dirty="0"/>
          </a:p>
        </p:txBody>
      </p:sp>
      <p:sp>
        <p:nvSpPr>
          <p:cNvPr id="14" name="Text 12"/>
          <p:cNvSpPr/>
          <p:nvPr/>
        </p:nvSpPr>
        <p:spPr>
          <a:xfrm>
            <a:off x="365760" y="2578608"/>
            <a:ext cx="5029200" cy="201168"/>
          </a:xfrm>
          <a:prstGeom prst="rect">
            <a:avLst/>
          </a:prstGeom>
          <a:noFill/>
          <a:ln/>
        </p:spPr>
        <p:txBody>
          <a:bodyPr wrap="square" lIns="0" tIns="0" rIns="0" bIns="0" rtlCol="0" anchor="ctr"/>
          <a:lstStyle/>
          <a:p>
            <a:pPr marL="0" indent="0">
              <a:buNone/>
            </a:pPr>
            <a:r>
              <a:rPr lang="en-US" sz="1050" dirty="0">
                <a:solidFill>
                  <a:srgbClr val="CDD3DC"/>
                </a:solidFill>
              </a:rPr>
              <a:t>Amount: $47,500</a:t>
            </a:r>
            <a:endParaRPr lang="en-US" sz="1050" dirty="0"/>
          </a:p>
        </p:txBody>
      </p:sp>
      <p:sp>
        <p:nvSpPr>
          <p:cNvPr id="15" name="Text 13"/>
          <p:cNvSpPr/>
          <p:nvPr/>
        </p:nvSpPr>
        <p:spPr>
          <a:xfrm>
            <a:off x="365760" y="2779776"/>
            <a:ext cx="5029200" cy="201168"/>
          </a:xfrm>
          <a:prstGeom prst="rect">
            <a:avLst/>
          </a:prstGeom>
          <a:noFill/>
          <a:ln/>
        </p:spPr>
        <p:txBody>
          <a:bodyPr wrap="square" lIns="0" tIns="0" rIns="0" bIns="0" rtlCol="0" anchor="ctr"/>
          <a:lstStyle/>
          <a:p>
            <a:pPr marL="0" indent="0">
              <a:buNone/>
            </a:pPr>
            <a:r>
              <a:rPr lang="en-US" sz="1050" dirty="0">
                <a:solidFill>
                  <a:srgbClr val="CDD3DC"/>
                </a:solidFill>
              </a:rPr>
              <a:t>Account: [details in attached PDF]</a:t>
            </a:r>
            <a:endParaRPr lang="en-US" sz="1050" dirty="0"/>
          </a:p>
        </p:txBody>
      </p:sp>
      <p:sp>
        <p:nvSpPr>
          <p:cNvPr id="16" name="Text 14"/>
          <p:cNvSpPr/>
          <p:nvPr/>
        </p:nvSpPr>
        <p:spPr>
          <a:xfrm>
            <a:off x="365760" y="2980944"/>
            <a:ext cx="5029200" cy="201168"/>
          </a:xfrm>
          <a:prstGeom prst="rect">
            <a:avLst/>
          </a:prstGeom>
          <a:noFill/>
          <a:ln/>
        </p:spPr>
        <p:txBody>
          <a:bodyPr wrap="square" lIns="0" tIns="0" rIns="0" bIns="0" rtlCol="0" anchor="ctr"/>
          <a:lstStyle/>
          <a:p>
            <a:pPr marL="0" indent="0">
              <a:buNone/>
            </a:pPr>
            <a:endParaRPr lang="en-US" sz="1050" dirty="0"/>
          </a:p>
        </p:txBody>
      </p:sp>
      <p:sp>
        <p:nvSpPr>
          <p:cNvPr id="17" name="Text 15"/>
          <p:cNvSpPr/>
          <p:nvPr/>
        </p:nvSpPr>
        <p:spPr>
          <a:xfrm>
            <a:off x="365760" y="3182112"/>
            <a:ext cx="5029200" cy="201168"/>
          </a:xfrm>
          <a:prstGeom prst="rect">
            <a:avLst/>
          </a:prstGeom>
          <a:noFill/>
          <a:ln/>
        </p:spPr>
        <p:txBody>
          <a:bodyPr wrap="square" lIns="0" tIns="0" rIns="0" bIns="0" rtlCol="0" anchor="ctr"/>
          <a:lstStyle/>
          <a:p>
            <a:pPr marL="0" indent="0">
              <a:buNone/>
            </a:pPr>
            <a:r>
              <a:rPr lang="en-US" sz="1050" dirty="0">
                <a:solidFill>
                  <a:srgbClr val="CDD3DC"/>
                </a:solidFill>
              </a:rPr>
              <a:t>Don't discuss with others — this is time-sensitive.</a:t>
            </a:r>
            <a:endParaRPr lang="en-US" sz="1050" dirty="0"/>
          </a:p>
        </p:txBody>
      </p:sp>
      <p:sp>
        <p:nvSpPr>
          <p:cNvPr id="18" name="Text 16"/>
          <p:cNvSpPr/>
          <p:nvPr/>
        </p:nvSpPr>
        <p:spPr>
          <a:xfrm>
            <a:off x="365760" y="3383280"/>
            <a:ext cx="5029200" cy="201168"/>
          </a:xfrm>
          <a:prstGeom prst="rect">
            <a:avLst/>
          </a:prstGeom>
          <a:noFill/>
          <a:ln/>
        </p:spPr>
        <p:txBody>
          <a:bodyPr wrap="square" lIns="0" tIns="0" rIns="0" bIns="0" rtlCol="0" anchor="ctr"/>
          <a:lstStyle/>
          <a:p>
            <a:pPr marL="0" indent="0">
              <a:buNone/>
            </a:pPr>
            <a:r>
              <a:rPr lang="en-US" sz="1050" dirty="0">
                <a:solidFill>
                  <a:srgbClr val="CDD3DC"/>
                </a:solidFill>
              </a:rPr>
              <a:t>Will explain when I'm back.</a:t>
            </a:r>
            <a:endParaRPr lang="en-US" sz="1050" dirty="0"/>
          </a:p>
        </p:txBody>
      </p:sp>
      <p:sp>
        <p:nvSpPr>
          <p:cNvPr id="19" name="Text 17"/>
          <p:cNvSpPr/>
          <p:nvPr/>
        </p:nvSpPr>
        <p:spPr>
          <a:xfrm>
            <a:off x="365760" y="3584448"/>
            <a:ext cx="5029200" cy="201168"/>
          </a:xfrm>
          <a:prstGeom prst="rect">
            <a:avLst/>
          </a:prstGeom>
          <a:noFill/>
          <a:ln/>
        </p:spPr>
        <p:txBody>
          <a:bodyPr wrap="square" lIns="0" tIns="0" rIns="0" bIns="0" rtlCol="0" anchor="ctr"/>
          <a:lstStyle/>
          <a:p>
            <a:pPr marL="0" indent="0">
              <a:buNone/>
            </a:pPr>
            <a:endParaRPr lang="en-US" sz="1050" dirty="0"/>
          </a:p>
        </p:txBody>
      </p:sp>
      <p:sp>
        <p:nvSpPr>
          <p:cNvPr id="20" name="Text 18"/>
          <p:cNvSpPr/>
          <p:nvPr/>
        </p:nvSpPr>
        <p:spPr>
          <a:xfrm>
            <a:off x="365760" y="3785616"/>
            <a:ext cx="5029200" cy="201168"/>
          </a:xfrm>
          <a:prstGeom prst="rect">
            <a:avLst/>
          </a:prstGeom>
          <a:noFill/>
          <a:ln/>
        </p:spPr>
        <p:txBody>
          <a:bodyPr wrap="square" lIns="0" tIns="0" rIns="0" bIns="0" rtlCol="0" anchor="ctr"/>
          <a:lstStyle/>
          <a:p>
            <a:pPr marL="0" indent="0">
              <a:buNone/>
            </a:pPr>
            <a:r>
              <a:rPr lang="en-US" sz="1050" dirty="0">
                <a:solidFill>
                  <a:srgbClr val="CDD3DC"/>
                </a:solidFill>
              </a:rPr>
              <a:t>David Roberts, CEO</a:t>
            </a:r>
            <a:endParaRPr lang="en-US" sz="1050" dirty="0"/>
          </a:p>
        </p:txBody>
      </p:sp>
      <p:sp>
        <p:nvSpPr>
          <p:cNvPr id="21" name="Shape 19"/>
          <p:cNvSpPr/>
          <p:nvPr/>
        </p:nvSpPr>
        <p:spPr>
          <a:xfrm>
            <a:off x="5669280" y="868680"/>
            <a:ext cx="3246120" cy="475488"/>
          </a:xfrm>
          <a:prstGeom prst="rect">
            <a:avLst/>
          </a:prstGeom>
          <a:solidFill>
            <a:srgbClr val="C0392B"/>
          </a:solidFill>
          <a:ln/>
          <a:effectLst>
            <a:outerShdw blurRad="101600" dist="38100" dir="8100000" algn="bl" rotWithShape="0">
              <a:srgbClr val="000000">
                <a:alpha val="18000"/>
              </a:srgbClr>
            </a:outerShdw>
          </a:effectLst>
        </p:spPr>
      </p:sp>
      <p:sp>
        <p:nvSpPr>
          <p:cNvPr id="22" name="Text 20"/>
          <p:cNvSpPr/>
          <p:nvPr/>
        </p:nvSpPr>
        <p:spPr>
          <a:xfrm>
            <a:off x="5742432" y="932688"/>
            <a:ext cx="3090672" cy="347472"/>
          </a:xfrm>
          <a:prstGeom prst="rect">
            <a:avLst/>
          </a:prstGeom>
          <a:noFill/>
          <a:ln/>
        </p:spPr>
        <p:txBody>
          <a:bodyPr wrap="square" lIns="0" tIns="0" rIns="0" bIns="0" rtlCol="0" anchor="ctr"/>
          <a:lstStyle/>
          <a:p>
            <a:pPr marL="0" indent="0">
              <a:buNone/>
            </a:pPr>
            <a:r>
              <a:rPr lang="en-US" sz="1000" dirty="0">
                <a:solidFill>
                  <a:srgbClr val="FFFFFF"/>
                </a:solidFill>
              </a:rPr>
              <a:t>🚩 Domain looks real but isn't — 'yourcompany-exec.com'</a:t>
            </a:r>
            <a:endParaRPr lang="en-US" sz="1000" dirty="0"/>
          </a:p>
        </p:txBody>
      </p:sp>
      <p:sp>
        <p:nvSpPr>
          <p:cNvPr id="23" name="Shape 21"/>
          <p:cNvSpPr/>
          <p:nvPr/>
        </p:nvSpPr>
        <p:spPr>
          <a:xfrm>
            <a:off x="5669280" y="1389888"/>
            <a:ext cx="3246120" cy="475488"/>
          </a:xfrm>
          <a:prstGeom prst="rect">
            <a:avLst/>
          </a:prstGeom>
          <a:solidFill>
            <a:srgbClr val="C0392B"/>
          </a:solidFill>
          <a:ln/>
          <a:effectLst>
            <a:outerShdw blurRad="101600" dist="38100" dir="8100000" algn="bl" rotWithShape="0">
              <a:srgbClr val="000000">
                <a:alpha val="18000"/>
              </a:srgbClr>
            </a:outerShdw>
          </a:effectLst>
        </p:spPr>
      </p:sp>
      <p:sp>
        <p:nvSpPr>
          <p:cNvPr id="24" name="Text 22"/>
          <p:cNvSpPr/>
          <p:nvPr/>
        </p:nvSpPr>
        <p:spPr>
          <a:xfrm>
            <a:off x="5742432" y="1453896"/>
            <a:ext cx="3090672" cy="347472"/>
          </a:xfrm>
          <a:prstGeom prst="rect">
            <a:avLst/>
          </a:prstGeom>
          <a:noFill/>
          <a:ln/>
        </p:spPr>
        <p:txBody>
          <a:bodyPr wrap="square" lIns="0" tIns="0" rIns="0" bIns="0" rtlCol="0" anchor="ctr"/>
          <a:lstStyle/>
          <a:p>
            <a:pPr marL="0" indent="0">
              <a:buNone/>
            </a:pPr>
            <a:r>
              <a:rPr lang="en-US" sz="1000" dirty="0">
                <a:solidFill>
                  <a:srgbClr val="FFFFFF"/>
                </a:solidFill>
              </a:rPr>
              <a:t>🚩 'Can't take calls' — blocks verification</a:t>
            </a:r>
            <a:endParaRPr lang="en-US" sz="1000" dirty="0"/>
          </a:p>
        </p:txBody>
      </p:sp>
      <p:sp>
        <p:nvSpPr>
          <p:cNvPr id="25" name="Shape 23"/>
          <p:cNvSpPr/>
          <p:nvPr/>
        </p:nvSpPr>
        <p:spPr>
          <a:xfrm>
            <a:off x="5669280" y="1993392"/>
            <a:ext cx="3246120" cy="475488"/>
          </a:xfrm>
          <a:prstGeom prst="rect">
            <a:avLst/>
          </a:prstGeom>
          <a:solidFill>
            <a:srgbClr val="C0392B"/>
          </a:solidFill>
          <a:ln/>
          <a:effectLst>
            <a:outerShdw blurRad="101600" dist="38100" dir="8100000" algn="bl" rotWithShape="0">
              <a:srgbClr val="000000">
                <a:alpha val="18000"/>
              </a:srgbClr>
            </a:outerShdw>
          </a:effectLst>
        </p:spPr>
      </p:sp>
      <p:sp>
        <p:nvSpPr>
          <p:cNvPr id="26" name="Text 24"/>
          <p:cNvSpPr/>
          <p:nvPr/>
        </p:nvSpPr>
        <p:spPr>
          <a:xfrm>
            <a:off x="5742432" y="2057400"/>
            <a:ext cx="3090672" cy="347472"/>
          </a:xfrm>
          <a:prstGeom prst="rect">
            <a:avLst/>
          </a:prstGeom>
          <a:noFill/>
          <a:ln/>
        </p:spPr>
        <p:txBody>
          <a:bodyPr wrap="square" lIns="0" tIns="0" rIns="0" bIns="0" rtlCol="0" anchor="ctr"/>
          <a:lstStyle/>
          <a:p>
            <a:pPr marL="0" indent="0">
              <a:buNone/>
            </a:pPr>
            <a:r>
              <a:rPr lang="en-US" sz="1000" dirty="0">
                <a:solidFill>
                  <a:srgbClr val="FFFFFF"/>
                </a:solidFill>
              </a:rPr>
              <a:t>🚩 Unusual large payment request</a:t>
            </a:r>
            <a:endParaRPr lang="en-US" sz="1000" dirty="0"/>
          </a:p>
        </p:txBody>
      </p:sp>
      <p:sp>
        <p:nvSpPr>
          <p:cNvPr id="27" name="Shape 25"/>
          <p:cNvSpPr/>
          <p:nvPr/>
        </p:nvSpPr>
        <p:spPr>
          <a:xfrm>
            <a:off x="5669280" y="2377440"/>
            <a:ext cx="3246120" cy="475488"/>
          </a:xfrm>
          <a:prstGeom prst="rect">
            <a:avLst/>
          </a:prstGeom>
          <a:solidFill>
            <a:srgbClr val="C0392B"/>
          </a:solidFill>
          <a:ln/>
          <a:effectLst>
            <a:outerShdw blurRad="101600" dist="38100" dir="8100000" algn="bl" rotWithShape="0">
              <a:srgbClr val="000000">
                <a:alpha val="18000"/>
              </a:srgbClr>
            </a:outerShdw>
          </a:effectLst>
        </p:spPr>
      </p:sp>
      <p:sp>
        <p:nvSpPr>
          <p:cNvPr id="28" name="Text 26"/>
          <p:cNvSpPr/>
          <p:nvPr/>
        </p:nvSpPr>
        <p:spPr>
          <a:xfrm>
            <a:off x="5742432" y="2441448"/>
            <a:ext cx="3090672" cy="347472"/>
          </a:xfrm>
          <a:prstGeom prst="rect">
            <a:avLst/>
          </a:prstGeom>
          <a:noFill/>
          <a:ln/>
        </p:spPr>
        <p:txBody>
          <a:bodyPr wrap="square" lIns="0" tIns="0" rIns="0" bIns="0" rtlCol="0" anchor="ctr"/>
          <a:lstStyle/>
          <a:p>
            <a:pPr marL="0" indent="0">
              <a:buNone/>
            </a:pPr>
            <a:r>
              <a:rPr lang="en-US" sz="1000" dirty="0">
                <a:solidFill>
                  <a:srgbClr val="FFFFFF"/>
                </a:solidFill>
              </a:rPr>
              <a:t>🚩 Suspicious PDF attachment</a:t>
            </a:r>
            <a:endParaRPr lang="en-US" sz="1000" dirty="0"/>
          </a:p>
        </p:txBody>
      </p:sp>
      <p:sp>
        <p:nvSpPr>
          <p:cNvPr id="29" name="Shape 27"/>
          <p:cNvSpPr/>
          <p:nvPr/>
        </p:nvSpPr>
        <p:spPr>
          <a:xfrm>
            <a:off x="5669280" y="2578608"/>
            <a:ext cx="3246120" cy="475488"/>
          </a:xfrm>
          <a:prstGeom prst="rect">
            <a:avLst/>
          </a:prstGeom>
          <a:solidFill>
            <a:srgbClr val="C0392B"/>
          </a:solidFill>
          <a:ln/>
          <a:effectLst>
            <a:outerShdw blurRad="101600" dist="38100" dir="8100000" algn="bl" rotWithShape="0">
              <a:srgbClr val="000000">
                <a:alpha val="18000"/>
              </a:srgbClr>
            </a:outerShdw>
          </a:effectLst>
        </p:spPr>
      </p:sp>
      <p:sp>
        <p:nvSpPr>
          <p:cNvPr id="30" name="Text 28"/>
          <p:cNvSpPr/>
          <p:nvPr/>
        </p:nvSpPr>
        <p:spPr>
          <a:xfrm>
            <a:off x="5742432" y="2642616"/>
            <a:ext cx="3090672" cy="347472"/>
          </a:xfrm>
          <a:prstGeom prst="rect">
            <a:avLst/>
          </a:prstGeom>
          <a:noFill/>
          <a:ln/>
        </p:spPr>
        <p:txBody>
          <a:bodyPr wrap="square" lIns="0" tIns="0" rIns="0" bIns="0" rtlCol="0" anchor="ctr"/>
          <a:lstStyle/>
          <a:p>
            <a:pPr marL="0" indent="0">
              <a:buNone/>
            </a:pPr>
            <a:r>
              <a:rPr lang="en-US" sz="1000" dirty="0">
                <a:solidFill>
                  <a:srgbClr val="FFFFFF"/>
                </a:solidFill>
              </a:rPr>
              <a:t>🚩 'Don't tell anyone' — classic secrecy tactic</a:t>
            </a:r>
            <a:endParaRPr lang="en-US" sz="1000" dirty="0"/>
          </a:p>
        </p:txBody>
      </p:sp>
      <p:sp>
        <p:nvSpPr>
          <p:cNvPr id="31" name="Text 29"/>
          <p:cNvSpPr/>
          <p:nvPr/>
        </p:nvSpPr>
        <p:spPr>
          <a:xfrm>
            <a:off x="228600" y="3886200"/>
            <a:ext cx="8686800" cy="475488"/>
          </a:xfrm>
          <a:prstGeom prst="rect">
            <a:avLst/>
          </a:prstGeom>
          <a:noFill/>
          <a:ln/>
        </p:spPr>
        <p:txBody>
          <a:bodyPr wrap="square" lIns="0" tIns="0" rIns="0" bIns="0" rtlCol="0" anchor="ctr"/>
          <a:lstStyle/>
          <a:p>
            <a:pPr marL="0" indent="0">
              <a:buNone/>
            </a:pPr>
            <a:r>
              <a:rPr lang="en-US" sz="1150" b="1" dirty="0">
                <a:solidFill>
                  <a:srgbClr val="2C3E50"/>
                </a:solidFill>
              </a:rPr>
              <a:t>Reality check: BEC fraud costs organizations $2.7 billion annually (FBI 2022). Always verify unusual financial requests by phone.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67E22"/>
          </a:solidFill>
          <a:ln/>
        </p:spPr>
      </p:sp>
      <p:sp>
        <p:nvSpPr>
          <p:cNvPr id="3" name="Text 1"/>
          <p:cNvSpPr/>
          <p:nvPr/>
        </p:nvSpPr>
        <p:spPr>
          <a:xfrm>
            <a:off x="365760" y="73152"/>
            <a:ext cx="8229600" cy="502920"/>
          </a:xfrm>
          <a:prstGeom prst="rect">
            <a:avLst/>
          </a:prstGeom>
          <a:noFill/>
          <a:ln/>
        </p:spPr>
        <p:txBody>
          <a:bodyPr wrap="square" lIns="0" tIns="0" rIns="0" bIns="0" rtlCol="0" anchor="ctr"/>
          <a:lstStyle/>
          <a:p>
            <a:pPr marL="0" indent="0">
              <a:buNone/>
            </a:pPr>
            <a:r>
              <a:rPr lang="en-US" sz="2000" b="1" dirty="0">
                <a:solidFill>
                  <a:srgbClr val="FFFFFF"/>
                </a:solidFill>
              </a:rPr>
              <a:t>Example 3: The Fake Delivery Notification</a:t>
            </a:r>
            <a:endParaRPr lang="en-US" sz="2000" dirty="0"/>
          </a:p>
        </p:txBody>
      </p:sp>
      <p:sp>
        <p:nvSpPr>
          <p:cNvPr id="4" name="Shape 2"/>
          <p:cNvSpPr/>
          <p:nvPr/>
        </p:nvSpPr>
        <p:spPr>
          <a:xfrm>
            <a:off x="228600" y="777240"/>
            <a:ext cx="4114800" cy="3200400"/>
          </a:xfrm>
          <a:prstGeom prst="rect">
            <a:avLst/>
          </a:prstGeom>
          <a:solidFill>
            <a:srgbClr val="0D1B2A"/>
          </a:solidFill>
          <a:ln/>
          <a:effectLst>
            <a:outerShdw blurRad="101600" dist="38100" dir="8100000" algn="bl" rotWithShape="0">
              <a:srgbClr val="000000">
                <a:alpha val="18000"/>
              </a:srgbClr>
            </a:outerShdw>
          </a:effectLst>
        </p:spPr>
      </p:sp>
      <p:sp>
        <p:nvSpPr>
          <p:cNvPr id="5" name="Text 3"/>
          <p:cNvSpPr/>
          <p:nvPr/>
        </p:nvSpPr>
        <p:spPr>
          <a:xfrm>
            <a:off x="320040" y="822960"/>
            <a:ext cx="3931920" cy="365760"/>
          </a:xfrm>
          <a:prstGeom prst="rect">
            <a:avLst/>
          </a:prstGeom>
          <a:noFill/>
          <a:ln/>
        </p:spPr>
        <p:txBody>
          <a:bodyPr wrap="square" lIns="0" tIns="0" rIns="0" bIns="0" rtlCol="0" anchor="ctr"/>
          <a:lstStyle/>
          <a:p>
            <a:pPr marL="0" indent="0">
              <a:buNone/>
            </a:pPr>
            <a:r>
              <a:rPr lang="en-US" sz="1300" b="1" dirty="0">
                <a:solidFill>
                  <a:srgbClr val="148F77"/>
                </a:solidFill>
              </a:rPr>
              <a:t>📱  SMS Version</a:t>
            </a:r>
            <a:endParaRPr lang="en-US" sz="1300" dirty="0"/>
          </a:p>
        </p:txBody>
      </p:sp>
      <p:sp>
        <p:nvSpPr>
          <p:cNvPr id="6" name="Text 4"/>
          <p:cNvSpPr/>
          <p:nvPr/>
        </p:nvSpPr>
        <p:spPr>
          <a:xfrm>
            <a:off x="320040" y="1261872"/>
            <a:ext cx="3931920" cy="310896"/>
          </a:xfrm>
          <a:prstGeom prst="rect">
            <a:avLst/>
          </a:prstGeom>
          <a:noFill/>
          <a:ln/>
        </p:spPr>
        <p:txBody>
          <a:bodyPr wrap="square" lIns="0" tIns="0" rIns="0" bIns="0" rtlCol="0" anchor="ctr"/>
          <a:lstStyle/>
          <a:p>
            <a:pPr marL="0" indent="0">
              <a:buNone/>
            </a:pPr>
            <a:r>
              <a:rPr lang="en-US" sz="1100" dirty="0">
                <a:solidFill>
                  <a:srgbClr val="CDD3DC"/>
                </a:solidFill>
              </a:rPr>
              <a:t>UPS: Your parcel #4829 is on hold due</a:t>
            </a:r>
            <a:endParaRPr lang="en-US" sz="1100" dirty="0"/>
          </a:p>
        </p:txBody>
      </p:sp>
      <p:sp>
        <p:nvSpPr>
          <p:cNvPr id="7" name="Text 5"/>
          <p:cNvSpPr/>
          <p:nvPr/>
        </p:nvSpPr>
        <p:spPr>
          <a:xfrm>
            <a:off x="320040" y="1581912"/>
            <a:ext cx="3931920" cy="310896"/>
          </a:xfrm>
          <a:prstGeom prst="rect">
            <a:avLst/>
          </a:prstGeom>
          <a:noFill/>
          <a:ln/>
        </p:spPr>
        <p:txBody>
          <a:bodyPr wrap="square" lIns="0" tIns="0" rIns="0" bIns="0" rtlCol="0" anchor="ctr"/>
          <a:lstStyle/>
          <a:p>
            <a:pPr marL="0" indent="0">
              <a:buNone/>
            </a:pPr>
            <a:r>
              <a:rPr lang="en-US" sz="1100" dirty="0">
                <a:solidFill>
                  <a:srgbClr val="CDD3DC"/>
                </a:solidFill>
              </a:rPr>
              <a:t>to unpaid customs fee ($2.99).</a:t>
            </a:r>
            <a:endParaRPr lang="en-US" sz="1100" dirty="0"/>
          </a:p>
        </p:txBody>
      </p:sp>
      <p:sp>
        <p:nvSpPr>
          <p:cNvPr id="8" name="Text 6"/>
          <p:cNvSpPr/>
          <p:nvPr/>
        </p:nvSpPr>
        <p:spPr>
          <a:xfrm>
            <a:off x="320040" y="1901952"/>
            <a:ext cx="3931920" cy="310896"/>
          </a:xfrm>
          <a:prstGeom prst="rect">
            <a:avLst/>
          </a:prstGeom>
          <a:noFill/>
          <a:ln/>
        </p:spPr>
        <p:txBody>
          <a:bodyPr wrap="square" lIns="0" tIns="0" rIns="0" bIns="0" rtlCol="0" anchor="ctr"/>
          <a:lstStyle/>
          <a:p>
            <a:pPr marL="0" indent="0">
              <a:buNone/>
            </a:pPr>
            <a:r>
              <a:rPr lang="en-US" sz="1100" dirty="0">
                <a:solidFill>
                  <a:srgbClr val="CDD3DC"/>
                </a:solidFill>
              </a:rPr>
              <a:t>Pay here to release:</a:t>
            </a:r>
            <a:endParaRPr lang="en-US" sz="1100" dirty="0"/>
          </a:p>
        </p:txBody>
      </p:sp>
      <p:sp>
        <p:nvSpPr>
          <p:cNvPr id="9" name="Text 7"/>
          <p:cNvSpPr/>
          <p:nvPr/>
        </p:nvSpPr>
        <p:spPr>
          <a:xfrm>
            <a:off x="320040" y="2221992"/>
            <a:ext cx="3931920" cy="310896"/>
          </a:xfrm>
          <a:prstGeom prst="rect">
            <a:avLst/>
          </a:prstGeom>
          <a:noFill/>
          <a:ln/>
        </p:spPr>
        <p:txBody>
          <a:bodyPr wrap="square" lIns="0" tIns="0" rIns="0" bIns="0" rtlCol="0" anchor="ctr"/>
          <a:lstStyle/>
          <a:p>
            <a:pPr marL="0" indent="0">
              <a:buNone/>
            </a:pPr>
            <a:r>
              <a:rPr lang="en-US" sz="1100" dirty="0">
                <a:solidFill>
                  <a:srgbClr val="CDD3DC"/>
                </a:solidFill>
              </a:rPr>
              <a:t>http://ups-delivery.net/pay/4829</a:t>
            </a:r>
            <a:endParaRPr lang="en-US" sz="1100" dirty="0"/>
          </a:p>
        </p:txBody>
      </p:sp>
      <p:sp>
        <p:nvSpPr>
          <p:cNvPr id="10" name="Text 8"/>
          <p:cNvSpPr/>
          <p:nvPr/>
        </p:nvSpPr>
        <p:spPr>
          <a:xfrm>
            <a:off x="320040" y="2542032"/>
            <a:ext cx="3931920" cy="310896"/>
          </a:xfrm>
          <a:prstGeom prst="rect">
            <a:avLst/>
          </a:prstGeom>
          <a:noFill/>
          <a:ln/>
        </p:spPr>
        <p:txBody>
          <a:bodyPr wrap="square" lIns="0" tIns="0" rIns="0" bIns="0" rtlCol="0" anchor="ctr"/>
          <a:lstStyle/>
          <a:p>
            <a:pPr marL="0" indent="0">
              <a:buNone/>
            </a:pPr>
            <a:endParaRPr lang="en-US" sz="1100" dirty="0"/>
          </a:p>
        </p:txBody>
      </p:sp>
      <p:sp>
        <p:nvSpPr>
          <p:cNvPr id="11" name="Text 9"/>
          <p:cNvSpPr/>
          <p:nvPr/>
        </p:nvSpPr>
        <p:spPr>
          <a:xfrm>
            <a:off x="320040" y="2862072"/>
            <a:ext cx="3931920" cy="310896"/>
          </a:xfrm>
          <a:prstGeom prst="rect">
            <a:avLst/>
          </a:prstGeom>
          <a:noFill/>
          <a:ln/>
        </p:spPr>
        <p:txBody>
          <a:bodyPr wrap="square" lIns="0" tIns="0" rIns="0" bIns="0" rtlCol="0" anchor="ctr"/>
          <a:lstStyle/>
          <a:p>
            <a:pPr marL="0" indent="0">
              <a:buNone/>
            </a:pPr>
            <a:r>
              <a:rPr lang="en-US" sz="1100" dirty="0">
                <a:solidFill>
                  <a:srgbClr val="CDD3DC"/>
                </a:solidFill>
              </a:rPr>
              <a:t>Reply STOP to opt out.</a:t>
            </a:r>
            <a:endParaRPr lang="en-US" sz="1100" dirty="0"/>
          </a:p>
        </p:txBody>
      </p:sp>
      <p:sp>
        <p:nvSpPr>
          <p:cNvPr id="12" name="Shape 10"/>
          <p:cNvSpPr/>
          <p:nvPr/>
        </p:nvSpPr>
        <p:spPr>
          <a:xfrm>
            <a:off x="4800600" y="777240"/>
            <a:ext cx="4114800" cy="3200400"/>
          </a:xfrm>
          <a:prstGeom prst="rect">
            <a:avLst/>
          </a:prstGeom>
          <a:solidFill>
            <a:srgbClr val="0D1B2A"/>
          </a:solidFill>
          <a:ln/>
          <a:effectLst>
            <a:outerShdw blurRad="101600" dist="38100" dir="8100000" algn="bl" rotWithShape="0">
              <a:srgbClr val="000000">
                <a:alpha val="18000"/>
              </a:srgbClr>
            </a:outerShdw>
          </a:effectLst>
        </p:spPr>
      </p:sp>
      <p:sp>
        <p:nvSpPr>
          <p:cNvPr id="13" name="Text 11"/>
          <p:cNvSpPr/>
          <p:nvPr/>
        </p:nvSpPr>
        <p:spPr>
          <a:xfrm>
            <a:off x="4892040" y="822960"/>
            <a:ext cx="3931920" cy="365760"/>
          </a:xfrm>
          <a:prstGeom prst="rect">
            <a:avLst/>
          </a:prstGeom>
          <a:noFill/>
          <a:ln/>
        </p:spPr>
        <p:txBody>
          <a:bodyPr wrap="square" lIns="0" tIns="0" rIns="0" bIns="0" rtlCol="0" anchor="ctr"/>
          <a:lstStyle/>
          <a:p>
            <a:pPr marL="0" indent="0">
              <a:buNone/>
            </a:pPr>
            <a:r>
              <a:rPr lang="en-US" sz="1300" b="1" dirty="0">
                <a:solidFill>
                  <a:srgbClr val="148F77"/>
                </a:solidFill>
              </a:rPr>
              <a:t>🌐  Website Version</a:t>
            </a:r>
            <a:endParaRPr lang="en-US" sz="1300" dirty="0"/>
          </a:p>
        </p:txBody>
      </p:sp>
      <p:sp>
        <p:nvSpPr>
          <p:cNvPr id="14" name="Text 12"/>
          <p:cNvSpPr/>
          <p:nvPr/>
        </p:nvSpPr>
        <p:spPr>
          <a:xfrm>
            <a:off x="4892040" y="1261872"/>
            <a:ext cx="3931920" cy="265176"/>
          </a:xfrm>
          <a:prstGeom prst="rect">
            <a:avLst/>
          </a:prstGeom>
          <a:noFill/>
          <a:ln/>
        </p:spPr>
        <p:txBody>
          <a:bodyPr wrap="square" lIns="0" tIns="0" rIns="0" bIns="0" rtlCol="0" anchor="ctr"/>
          <a:lstStyle/>
          <a:p>
            <a:pPr marL="0" indent="0">
              <a:buNone/>
            </a:pPr>
            <a:r>
              <a:rPr lang="en-US" sz="1100" b="1" dirty="0">
                <a:solidFill>
                  <a:srgbClr val="FFFFFF"/>
                </a:solidFill>
              </a:rPr>
              <a:t>Why it works:</a:t>
            </a:r>
            <a:endParaRPr lang="en-US" sz="1100" dirty="0"/>
          </a:p>
        </p:txBody>
      </p:sp>
      <p:sp>
        <p:nvSpPr>
          <p:cNvPr id="15" name="Text 13"/>
          <p:cNvSpPr/>
          <p:nvPr/>
        </p:nvSpPr>
        <p:spPr>
          <a:xfrm>
            <a:off x="4892040" y="153619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Everyone orders packages</a:t>
            </a:r>
            <a:endParaRPr lang="en-US" sz="1100" dirty="0"/>
          </a:p>
        </p:txBody>
      </p:sp>
      <p:sp>
        <p:nvSpPr>
          <p:cNvPr id="16" name="Text 14"/>
          <p:cNvSpPr/>
          <p:nvPr/>
        </p:nvSpPr>
        <p:spPr>
          <a:xfrm>
            <a:off x="4892040" y="181051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Small fee seems reasonable</a:t>
            </a:r>
            <a:endParaRPr lang="en-US" sz="1100" dirty="0"/>
          </a:p>
        </p:txBody>
      </p:sp>
      <p:sp>
        <p:nvSpPr>
          <p:cNvPr id="17" name="Text 15"/>
          <p:cNvSpPr/>
          <p:nvPr/>
        </p:nvSpPr>
        <p:spPr>
          <a:xfrm>
            <a:off x="4892040" y="208483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Creates FOMO (parcel held)</a:t>
            </a:r>
            <a:endParaRPr lang="en-US" sz="1100" dirty="0"/>
          </a:p>
        </p:txBody>
      </p:sp>
      <p:sp>
        <p:nvSpPr>
          <p:cNvPr id="18" name="Text 16"/>
          <p:cNvSpPr/>
          <p:nvPr/>
        </p:nvSpPr>
        <p:spPr>
          <a:xfrm>
            <a:off x="4892040" y="2359152"/>
            <a:ext cx="3931920" cy="265176"/>
          </a:xfrm>
          <a:prstGeom prst="rect">
            <a:avLst/>
          </a:prstGeom>
          <a:noFill/>
          <a:ln/>
        </p:spPr>
        <p:txBody>
          <a:bodyPr wrap="square" lIns="0" tIns="0" rIns="0" bIns="0" rtlCol="0" anchor="ctr"/>
          <a:lstStyle/>
          <a:p>
            <a:pPr marL="0" indent="0">
              <a:buNone/>
            </a:pPr>
            <a:endParaRPr lang="en-US" sz="1100" dirty="0"/>
          </a:p>
        </p:txBody>
      </p:sp>
      <p:sp>
        <p:nvSpPr>
          <p:cNvPr id="19" name="Text 17"/>
          <p:cNvSpPr/>
          <p:nvPr/>
        </p:nvSpPr>
        <p:spPr>
          <a:xfrm>
            <a:off x="4892040" y="2633472"/>
            <a:ext cx="3931920" cy="265176"/>
          </a:xfrm>
          <a:prstGeom prst="rect">
            <a:avLst/>
          </a:prstGeom>
          <a:noFill/>
          <a:ln/>
        </p:spPr>
        <p:txBody>
          <a:bodyPr wrap="square" lIns="0" tIns="0" rIns="0" bIns="0" rtlCol="0" anchor="ctr"/>
          <a:lstStyle/>
          <a:p>
            <a:pPr marL="0" indent="0">
              <a:buNone/>
            </a:pPr>
            <a:r>
              <a:rPr lang="en-US" sz="1100" b="1" dirty="0">
                <a:solidFill>
                  <a:srgbClr val="FFFFFF"/>
                </a:solidFill>
              </a:rPr>
              <a:t>Red flags:</a:t>
            </a:r>
            <a:endParaRPr lang="en-US" sz="1100" dirty="0"/>
          </a:p>
        </p:txBody>
      </p:sp>
      <p:sp>
        <p:nvSpPr>
          <p:cNvPr id="20" name="Text 18"/>
          <p:cNvSpPr/>
          <p:nvPr/>
        </p:nvSpPr>
        <p:spPr>
          <a:xfrm>
            <a:off x="4892040" y="290779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ups-delivery.net ≠ ups.com</a:t>
            </a:r>
            <a:endParaRPr lang="en-US" sz="1100" dirty="0"/>
          </a:p>
        </p:txBody>
      </p:sp>
      <p:sp>
        <p:nvSpPr>
          <p:cNvPr id="21" name="Text 19"/>
          <p:cNvSpPr/>
          <p:nvPr/>
        </p:nvSpPr>
        <p:spPr>
          <a:xfrm>
            <a:off x="4892040" y="318211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Real UPS uses ups.com only</a:t>
            </a:r>
            <a:endParaRPr lang="en-US" sz="1100" dirty="0"/>
          </a:p>
        </p:txBody>
      </p:sp>
      <p:sp>
        <p:nvSpPr>
          <p:cNvPr id="22" name="Text 20"/>
          <p:cNvSpPr/>
          <p:nvPr/>
        </p:nvSpPr>
        <p:spPr>
          <a:xfrm>
            <a:off x="4892040" y="345643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Never charges via text link</a:t>
            </a:r>
            <a:endParaRPr lang="en-US" sz="1100" dirty="0"/>
          </a:p>
        </p:txBody>
      </p:sp>
      <p:sp>
        <p:nvSpPr>
          <p:cNvPr id="23" name="Text 21"/>
          <p:cNvSpPr/>
          <p:nvPr/>
        </p:nvSpPr>
        <p:spPr>
          <a:xfrm>
            <a:off x="4892040" y="3730752"/>
            <a:ext cx="3931920" cy="265176"/>
          </a:xfrm>
          <a:prstGeom prst="rect">
            <a:avLst/>
          </a:prstGeom>
          <a:noFill/>
          <a:ln/>
        </p:spPr>
        <p:txBody>
          <a:bodyPr wrap="square" lIns="0" tIns="0" rIns="0" bIns="0" rtlCol="0" anchor="ctr"/>
          <a:lstStyle/>
          <a:p>
            <a:pPr marL="0" indent="0">
              <a:buNone/>
            </a:pPr>
            <a:r>
              <a:rPr lang="en-US" sz="1100" dirty="0">
                <a:solidFill>
                  <a:srgbClr val="CDD3DC"/>
                </a:solidFill>
              </a:rPr>
              <a:t>• Credit card harvesting page</a:t>
            </a:r>
            <a:endParaRPr lang="en-US" sz="1100" dirty="0"/>
          </a:p>
        </p:txBody>
      </p:sp>
      <p:sp>
        <p:nvSpPr>
          <p:cNvPr id="24" name="Text 22"/>
          <p:cNvSpPr/>
          <p:nvPr/>
        </p:nvSpPr>
        <p:spPr>
          <a:xfrm>
            <a:off x="228600" y="4041648"/>
            <a:ext cx="8686800" cy="457200"/>
          </a:xfrm>
          <a:prstGeom prst="rect">
            <a:avLst/>
          </a:prstGeom>
          <a:noFill/>
          <a:ln/>
        </p:spPr>
        <p:txBody>
          <a:bodyPr wrap="square" lIns="0" tIns="0" rIns="0" bIns="0" rtlCol="0" anchor="ctr"/>
          <a:lstStyle/>
          <a:p>
            <a:pPr marL="0" indent="0">
              <a:buNone/>
            </a:pPr>
            <a:r>
              <a:rPr lang="en-US" sz="1200" b="1" dirty="0">
                <a:solidFill>
                  <a:srgbClr val="2C3E50"/>
                </a:solidFill>
              </a:rPr>
              <a:t>Golden rule: If you receive a delivery notice, go directly to the carrier's official app or website — never the link in the text.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F72"/>
          </a:solidFill>
          <a:ln/>
        </p:spPr>
      </p:sp>
      <p:sp>
        <p:nvSpPr>
          <p:cNvPr id="3" name="Text 1"/>
          <p:cNvSpPr/>
          <p:nvPr/>
        </p:nvSpPr>
        <p:spPr>
          <a:xfrm>
            <a:off x="365760" y="73152"/>
            <a:ext cx="8229600" cy="502920"/>
          </a:xfrm>
          <a:prstGeom prst="rect">
            <a:avLst/>
          </a:prstGeom>
          <a:noFill/>
          <a:ln/>
        </p:spPr>
        <p:txBody>
          <a:bodyPr wrap="square" lIns="0" tIns="0" rIns="0" bIns="0" rtlCol="0" anchor="ctr"/>
          <a:lstStyle/>
          <a:p>
            <a:pPr marL="0" indent="0">
              <a:buNone/>
            </a:pPr>
            <a:r>
              <a:rPr lang="en-US" sz="2000" b="1" dirty="0">
                <a:solidFill>
                  <a:srgbClr val="FFFFFF"/>
                </a:solidFill>
              </a:rPr>
              <a:t>Example 4: The Fake Shared Document</a:t>
            </a:r>
            <a:endParaRPr lang="en-US" sz="2000" dirty="0"/>
          </a:p>
        </p:txBody>
      </p:sp>
      <p:sp>
        <p:nvSpPr>
          <p:cNvPr id="4" name="Shape 2"/>
          <p:cNvSpPr/>
          <p:nvPr/>
        </p:nvSpPr>
        <p:spPr>
          <a:xfrm>
            <a:off x="228600" y="749808"/>
            <a:ext cx="8686800" cy="2560320"/>
          </a:xfrm>
          <a:prstGeom prst="rect">
            <a:avLst/>
          </a:prstGeom>
          <a:solidFill>
            <a:srgbClr val="0D1B2A"/>
          </a:solidFill>
          <a:ln/>
          <a:effectLst>
            <a:outerShdw blurRad="101600" dist="38100" dir="8100000" algn="bl" rotWithShape="0">
              <a:srgbClr val="000000">
                <a:alpha val="18000"/>
              </a:srgbClr>
            </a:outerShdw>
          </a:effectLst>
        </p:spPr>
      </p:sp>
      <p:sp>
        <p:nvSpPr>
          <p:cNvPr id="5" name="Shape 3"/>
          <p:cNvSpPr/>
          <p:nvPr/>
        </p:nvSpPr>
        <p:spPr>
          <a:xfrm>
            <a:off x="228600" y="749808"/>
            <a:ext cx="8686800" cy="365760"/>
          </a:xfrm>
          <a:prstGeom prst="rect">
            <a:avLst/>
          </a:prstGeom>
          <a:solidFill>
            <a:srgbClr val="1B4F72"/>
          </a:solidFill>
          <a:ln/>
        </p:spPr>
      </p:sp>
      <p:sp>
        <p:nvSpPr>
          <p:cNvPr id="6" name="Text 4"/>
          <p:cNvSpPr/>
          <p:nvPr/>
        </p:nvSpPr>
        <p:spPr>
          <a:xfrm>
            <a:off x="365760" y="786384"/>
            <a:ext cx="8229600" cy="292608"/>
          </a:xfrm>
          <a:prstGeom prst="rect">
            <a:avLst/>
          </a:prstGeom>
          <a:noFill/>
          <a:ln/>
        </p:spPr>
        <p:txBody>
          <a:bodyPr wrap="square" lIns="0" tIns="0" rIns="0" bIns="0" rtlCol="0" anchor="ctr"/>
          <a:lstStyle/>
          <a:p>
            <a:pPr marL="0" indent="0">
              <a:buNone/>
            </a:pPr>
            <a:r>
              <a:rPr lang="en-US" sz="1000" dirty="0">
                <a:solidFill>
                  <a:srgbClr val="FFFFFF"/>
                </a:solidFill>
              </a:rPr>
              <a:t>From: no-reply@accounts.google.docs-shared.com</a:t>
            </a:r>
            <a:endParaRPr lang="en-US" sz="1000" dirty="0"/>
          </a:p>
        </p:txBody>
      </p:sp>
      <p:sp>
        <p:nvSpPr>
          <p:cNvPr id="7" name="Text 5"/>
          <p:cNvSpPr/>
          <p:nvPr/>
        </p:nvSpPr>
        <p:spPr>
          <a:xfrm>
            <a:off x="365760" y="1170432"/>
            <a:ext cx="8229600" cy="320040"/>
          </a:xfrm>
          <a:prstGeom prst="rect">
            <a:avLst/>
          </a:prstGeom>
          <a:noFill/>
          <a:ln/>
        </p:spPr>
        <p:txBody>
          <a:bodyPr wrap="square" lIns="0" tIns="0" rIns="0" bIns="0" rtlCol="0" anchor="ctr"/>
          <a:lstStyle/>
          <a:p>
            <a:pPr marL="0" indent="0">
              <a:buNone/>
            </a:pPr>
            <a:r>
              <a:rPr lang="en-US" sz="1200" dirty="0">
                <a:solidFill>
                  <a:srgbClr val="CDD3DC"/>
                </a:solidFill>
              </a:rPr>
              <a:t>Subject: [Name] shared a document with you: "Q4 Salary Review 2024.xlsx"</a:t>
            </a:r>
            <a:endParaRPr lang="en-US" sz="1200" dirty="0"/>
          </a:p>
        </p:txBody>
      </p:sp>
      <p:sp>
        <p:nvSpPr>
          <p:cNvPr id="8" name="Text 6"/>
          <p:cNvSpPr/>
          <p:nvPr/>
        </p:nvSpPr>
        <p:spPr>
          <a:xfrm>
            <a:off x="365760" y="1554480"/>
            <a:ext cx="8229600" cy="274320"/>
          </a:xfrm>
          <a:prstGeom prst="rect">
            <a:avLst/>
          </a:prstGeom>
          <a:noFill/>
          <a:ln/>
        </p:spPr>
        <p:txBody>
          <a:bodyPr wrap="square" lIns="0" tIns="0" rIns="0" bIns="0" rtlCol="0" anchor="ctr"/>
          <a:lstStyle/>
          <a:p>
            <a:pPr marL="0" indent="0">
              <a:buNone/>
            </a:pPr>
            <a:r>
              <a:rPr lang="en-US" sz="1100" dirty="0">
                <a:solidFill>
                  <a:srgbClr val="CDD3DC"/>
                </a:solidFill>
              </a:rPr>
              <a:t>Click the button below to view the document:</a:t>
            </a:r>
            <a:endParaRPr lang="en-US" sz="1100" dirty="0"/>
          </a:p>
        </p:txBody>
      </p:sp>
      <p:sp>
        <p:nvSpPr>
          <p:cNvPr id="9" name="Shape 7"/>
          <p:cNvSpPr/>
          <p:nvPr/>
        </p:nvSpPr>
        <p:spPr>
          <a:xfrm>
            <a:off x="1645920" y="1920240"/>
            <a:ext cx="2560320" cy="457200"/>
          </a:xfrm>
          <a:prstGeom prst="rect">
            <a:avLst/>
          </a:prstGeom>
          <a:solidFill>
            <a:srgbClr val="4285F4"/>
          </a:solidFill>
          <a:ln/>
        </p:spPr>
      </p:sp>
      <p:sp>
        <p:nvSpPr>
          <p:cNvPr id="10" name="Text 8"/>
          <p:cNvSpPr/>
          <p:nvPr/>
        </p:nvSpPr>
        <p:spPr>
          <a:xfrm>
            <a:off x="1645920" y="1920240"/>
            <a:ext cx="2560320" cy="457200"/>
          </a:xfrm>
          <a:prstGeom prst="rect">
            <a:avLst/>
          </a:prstGeom>
          <a:noFill/>
          <a:ln/>
        </p:spPr>
        <p:txBody>
          <a:bodyPr wrap="square" lIns="0" tIns="0" rIns="0" bIns="0" rtlCol="0" anchor="ctr"/>
          <a:lstStyle/>
          <a:p>
            <a:pPr marL="0" indent="0" algn="ctr">
              <a:buNone/>
            </a:pPr>
            <a:r>
              <a:rPr lang="en-US" sz="1300" b="1" dirty="0">
                <a:solidFill>
                  <a:srgbClr val="FFFFFF"/>
                </a:solidFill>
              </a:rPr>
              <a:t>Open in Google Docs</a:t>
            </a:r>
            <a:endParaRPr lang="en-US" sz="1300" dirty="0"/>
          </a:p>
        </p:txBody>
      </p:sp>
      <p:sp>
        <p:nvSpPr>
          <p:cNvPr id="11" name="Text 9"/>
          <p:cNvSpPr/>
          <p:nvPr/>
        </p:nvSpPr>
        <p:spPr>
          <a:xfrm>
            <a:off x="365760" y="2487168"/>
            <a:ext cx="8229600" cy="274320"/>
          </a:xfrm>
          <a:prstGeom prst="rect">
            <a:avLst/>
          </a:prstGeom>
          <a:noFill/>
          <a:ln/>
        </p:spPr>
        <p:txBody>
          <a:bodyPr wrap="square" lIns="0" tIns="0" rIns="0" bIns="0" rtlCol="0" anchor="ctr"/>
          <a:lstStyle/>
          <a:p>
            <a:pPr marL="0" indent="0">
              <a:buNone/>
            </a:pPr>
            <a:r>
              <a:rPr lang="en-US" sz="950" dirty="0">
                <a:solidFill>
                  <a:srgbClr val="7F8C8D"/>
                </a:solidFill>
              </a:rPr>
              <a:t>http://accounts.google.docs-shared.com/view?id=xkd29</a:t>
            </a:r>
            <a:endParaRPr lang="en-US" sz="950" dirty="0"/>
          </a:p>
        </p:txBody>
      </p:sp>
      <p:sp>
        <p:nvSpPr>
          <p:cNvPr id="12" name="Shape 10"/>
          <p:cNvSpPr/>
          <p:nvPr/>
        </p:nvSpPr>
        <p:spPr>
          <a:xfrm>
            <a:off x="228600" y="3364992"/>
            <a:ext cx="8686800" cy="438912"/>
          </a:xfrm>
          <a:prstGeom prst="rect">
            <a:avLst/>
          </a:prstGeom>
          <a:solidFill>
            <a:srgbClr val="FDEDED"/>
          </a:solidFill>
          <a:ln/>
        </p:spPr>
      </p:sp>
      <p:pic>
        <p:nvPicPr>
          <p:cNvPr id="13" name="Image 0" descr="preencoded.png"/>
          <p:cNvPicPr>
            <a:picLocks noChangeAspect="1"/>
          </p:cNvPicPr>
          <p:nvPr/>
        </p:nvPicPr>
        <p:blipFill>
          <a:blip r:embed="rId3"/>
          <a:stretch>
            <a:fillRect/>
          </a:stretch>
        </p:blipFill>
        <p:spPr>
          <a:xfrm>
            <a:off x="320040" y="3401568"/>
            <a:ext cx="274320" cy="274320"/>
          </a:xfrm>
          <a:prstGeom prst="rect">
            <a:avLst/>
          </a:prstGeom>
        </p:spPr>
      </p:pic>
      <p:sp>
        <p:nvSpPr>
          <p:cNvPr id="14" name="Text 11"/>
          <p:cNvSpPr/>
          <p:nvPr/>
        </p:nvSpPr>
        <p:spPr>
          <a:xfrm>
            <a:off x="685800" y="3419856"/>
            <a:ext cx="8046720" cy="320040"/>
          </a:xfrm>
          <a:prstGeom prst="rect">
            <a:avLst/>
          </a:prstGeom>
          <a:noFill/>
          <a:ln/>
        </p:spPr>
        <p:txBody>
          <a:bodyPr wrap="square" lIns="0" tIns="0" rIns="0" bIns="0" rtlCol="0" anchor="ctr"/>
          <a:lstStyle/>
          <a:p>
            <a:pPr marL="0" indent="0">
              <a:buNone/>
            </a:pPr>
            <a:r>
              <a:rPr lang="en-US" sz="1150" dirty="0">
                <a:solidFill>
                  <a:srgbClr val="2C3E50"/>
                </a:solidFill>
              </a:rPr>
              <a:t>🚩 google.docs-shared.com is NOT google.com — it's a completely different domain</a:t>
            </a:r>
            <a:endParaRPr lang="en-US" sz="1150" dirty="0"/>
          </a:p>
        </p:txBody>
      </p:sp>
      <p:sp>
        <p:nvSpPr>
          <p:cNvPr id="15" name="Shape 12"/>
          <p:cNvSpPr/>
          <p:nvPr/>
        </p:nvSpPr>
        <p:spPr>
          <a:xfrm>
            <a:off x="228600" y="3867912"/>
            <a:ext cx="8686800" cy="438912"/>
          </a:xfrm>
          <a:prstGeom prst="rect">
            <a:avLst/>
          </a:prstGeom>
          <a:solidFill>
            <a:srgbClr val="FFFFFF"/>
          </a:solidFill>
          <a:ln/>
        </p:spPr>
      </p:sp>
      <p:pic>
        <p:nvPicPr>
          <p:cNvPr id="16" name="Image 1" descr="preencoded.png"/>
          <p:cNvPicPr>
            <a:picLocks noChangeAspect="1"/>
          </p:cNvPicPr>
          <p:nvPr/>
        </p:nvPicPr>
        <p:blipFill>
          <a:blip r:embed="rId3"/>
          <a:stretch>
            <a:fillRect/>
          </a:stretch>
        </p:blipFill>
        <p:spPr>
          <a:xfrm>
            <a:off x="320040" y="3904488"/>
            <a:ext cx="274320" cy="274320"/>
          </a:xfrm>
          <a:prstGeom prst="rect">
            <a:avLst/>
          </a:prstGeom>
        </p:spPr>
      </p:pic>
      <p:sp>
        <p:nvSpPr>
          <p:cNvPr id="17" name="Text 13"/>
          <p:cNvSpPr/>
          <p:nvPr/>
        </p:nvSpPr>
        <p:spPr>
          <a:xfrm>
            <a:off x="685800" y="3922776"/>
            <a:ext cx="8046720" cy="320040"/>
          </a:xfrm>
          <a:prstGeom prst="rect">
            <a:avLst/>
          </a:prstGeom>
          <a:noFill/>
          <a:ln/>
        </p:spPr>
        <p:txBody>
          <a:bodyPr wrap="square" lIns="0" tIns="0" rIns="0" bIns="0" rtlCol="0" anchor="ctr"/>
          <a:lstStyle/>
          <a:p>
            <a:pPr marL="0" indent="0">
              <a:buNone/>
            </a:pPr>
            <a:r>
              <a:rPr lang="en-US" sz="1150" dirty="0">
                <a:solidFill>
                  <a:srgbClr val="2C3E50"/>
                </a:solidFill>
              </a:rPr>
              <a:t>🚩 File name 'Salary Review' exploits curiosity and desire to know your pay</a:t>
            </a:r>
            <a:endParaRPr lang="en-US" sz="1150" dirty="0"/>
          </a:p>
        </p:txBody>
      </p:sp>
      <p:sp>
        <p:nvSpPr>
          <p:cNvPr id="18" name="Shape 14"/>
          <p:cNvSpPr/>
          <p:nvPr/>
        </p:nvSpPr>
        <p:spPr>
          <a:xfrm>
            <a:off x="228600" y="4370832"/>
            <a:ext cx="8686800" cy="438912"/>
          </a:xfrm>
          <a:prstGeom prst="rect">
            <a:avLst/>
          </a:prstGeom>
          <a:solidFill>
            <a:srgbClr val="FDEDED"/>
          </a:solidFill>
          <a:ln/>
        </p:spPr>
      </p:sp>
      <p:pic>
        <p:nvPicPr>
          <p:cNvPr id="19" name="Image 2" descr="preencoded.png"/>
          <p:cNvPicPr>
            <a:picLocks noChangeAspect="1"/>
          </p:cNvPicPr>
          <p:nvPr/>
        </p:nvPicPr>
        <p:blipFill>
          <a:blip r:embed="rId3"/>
          <a:stretch>
            <a:fillRect/>
          </a:stretch>
        </p:blipFill>
        <p:spPr>
          <a:xfrm>
            <a:off x="320040" y="4407408"/>
            <a:ext cx="274320" cy="274320"/>
          </a:xfrm>
          <a:prstGeom prst="rect">
            <a:avLst/>
          </a:prstGeom>
        </p:spPr>
      </p:pic>
      <p:sp>
        <p:nvSpPr>
          <p:cNvPr id="20" name="Text 15"/>
          <p:cNvSpPr/>
          <p:nvPr/>
        </p:nvSpPr>
        <p:spPr>
          <a:xfrm>
            <a:off x="685800" y="4425696"/>
            <a:ext cx="8046720" cy="320040"/>
          </a:xfrm>
          <a:prstGeom prst="rect">
            <a:avLst/>
          </a:prstGeom>
          <a:noFill/>
          <a:ln/>
        </p:spPr>
        <p:txBody>
          <a:bodyPr wrap="square" lIns="0" tIns="0" rIns="0" bIns="0" rtlCol="0" anchor="ctr"/>
          <a:lstStyle/>
          <a:p>
            <a:pPr marL="0" indent="0">
              <a:buNone/>
            </a:pPr>
            <a:r>
              <a:rPr lang="en-US" sz="1150" dirty="0">
                <a:solidFill>
                  <a:srgbClr val="2C3E50"/>
                </a:solidFill>
              </a:rPr>
              <a:t>🚩 Button URL doesn't go to docs.google.com — always hover to check</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8F77"/>
          </a:solidFill>
          <a:ln/>
        </p:spPr>
      </p:sp>
      <p:sp>
        <p:nvSpPr>
          <p:cNvPr id="3" name="Text 1"/>
          <p:cNvSpPr/>
          <p:nvPr/>
        </p:nvSpPr>
        <p:spPr>
          <a:xfrm>
            <a:off x="365760" y="91440"/>
            <a:ext cx="8229600" cy="594360"/>
          </a:xfrm>
          <a:prstGeom prst="rect">
            <a:avLst/>
          </a:prstGeom>
          <a:noFill/>
          <a:ln/>
        </p:spPr>
        <p:txBody>
          <a:bodyPr wrap="square" lIns="0" tIns="0" rIns="0" bIns="0" rtlCol="0" anchor="ctr"/>
          <a:lstStyle/>
          <a:p>
            <a:pPr marL="0" indent="0">
              <a:buNone/>
            </a:pPr>
            <a:r>
              <a:rPr lang="en-US" sz="2400" b="1" dirty="0">
                <a:solidFill>
                  <a:srgbClr val="FFFFFF"/>
                </a:solidFill>
              </a:rPr>
              <a:t>🎯  True or False?  Quick-Fire Round!</a:t>
            </a:r>
            <a:endParaRPr lang="en-US" sz="2400" dirty="0"/>
          </a:p>
        </p:txBody>
      </p:sp>
      <p:sp>
        <p:nvSpPr>
          <p:cNvPr id="4" name="Text 2"/>
          <p:cNvSpPr/>
          <p:nvPr/>
        </p:nvSpPr>
        <p:spPr>
          <a:xfrm>
            <a:off x="365760" y="914400"/>
            <a:ext cx="8229600" cy="347472"/>
          </a:xfrm>
          <a:prstGeom prst="rect">
            <a:avLst/>
          </a:prstGeom>
          <a:noFill/>
          <a:ln/>
        </p:spPr>
        <p:txBody>
          <a:bodyPr wrap="square" lIns="0" tIns="0" rIns="0" bIns="0" rtlCol="0" anchor="ctr"/>
          <a:lstStyle/>
          <a:p>
            <a:pPr marL="0" indent="0">
              <a:buNone/>
            </a:pPr>
            <a:r>
              <a:rPr lang="en-US" sz="1300" i="1" dirty="0">
                <a:solidFill>
                  <a:srgbClr val="CDD3DC"/>
                </a:solidFill>
              </a:rPr>
              <a:t>Raise your hand for TRUE, stay seated for FALSE. Ready?</a:t>
            </a:r>
            <a:endParaRPr lang="en-US" sz="1300" dirty="0"/>
          </a:p>
        </p:txBody>
      </p:sp>
      <p:sp>
        <p:nvSpPr>
          <p:cNvPr id="5" name="Shape 3"/>
          <p:cNvSpPr/>
          <p:nvPr/>
        </p:nvSpPr>
        <p:spPr>
          <a:xfrm>
            <a:off x="228600" y="1371600"/>
            <a:ext cx="8686800" cy="841248"/>
          </a:xfrm>
          <a:prstGeom prst="rect">
            <a:avLst/>
          </a:prstGeom>
          <a:solidFill>
            <a:srgbClr val="1B4F72"/>
          </a:solidFill>
          <a:ln/>
          <a:effectLst>
            <a:outerShdw blurRad="101600" dist="38100" dir="8100000" algn="bl" rotWithShape="0">
              <a:srgbClr val="000000">
                <a:alpha val="18000"/>
              </a:srgbClr>
            </a:outerShdw>
          </a:effectLst>
        </p:spPr>
      </p:sp>
      <p:sp>
        <p:nvSpPr>
          <p:cNvPr id="6" name="Text 4"/>
          <p:cNvSpPr/>
          <p:nvPr/>
        </p:nvSpPr>
        <p:spPr>
          <a:xfrm>
            <a:off x="411480" y="1417320"/>
            <a:ext cx="6217920" cy="384048"/>
          </a:xfrm>
          <a:prstGeom prst="rect">
            <a:avLst/>
          </a:prstGeom>
          <a:noFill/>
          <a:ln/>
        </p:spPr>
        <p:txBody>
          <a:bodyPr wrap="square" lIns="0" tIns="0" rIns="0" bIns="0" rtlCol="0" anchor="ctr"/>
          <a:lstStyle/>
          <a:p>
            <a:pPr marL="0" indent="0">
              <a:buNone/>
            </a:pPr>
            <a:r>
              <a:rPr lang="en-US" sz="1300" b="1" dirty="0">
                <a:solidFill>
                  <a:srgbClr val="FFFFFF"/>
                </a:solidFill>
              </a:rPr>
              <a:t>1.  A padlock icon (HTTPS) means a website is completely safe to use.</a:t>
            </a:r>
            <a:endParaRPr lang="en-US" sz="1300" dirty="0"/>
          </a:p>
        </p:txBody>
      </p:sp>
      <p:sp>
        <p:nvSpPr>
          <p:cNvPr id="7" name="Shape 5"/>
          <p:cNvSpPr/>
          <p:nvPr/>
        </p:nvSpPr>
        <p:spPr>
          <a:xfrm>
            <a:off x="6766560" y="1463040"/>
            <a:ext cx="1737360" cy="347472"/>
          </a:xfrm>
          <a:prstGeom prst="rect">
            <a:avLst/>
          </a:prstGeom>
          <a:solidFill>
            <a:srgbClr val="E74C3C"/>
          </a:solidFill>
          <a:ln/>
        </p:spPr>
      </p:sp>
      <p:sp>
        <p:nvSpPr>
          <p:cNvPr id="8" name="Text 6"/>
          <p:cNvSpPr/>
          <p:nvPr/>
        </p:nvSpPr>
        <p:spPr>
          <a:xfrm>
            <a:off x="6766560" y="1463040"/>
            <a:ext cx="1737360" cy="347472"/>
          </a:xfrm>
          <a:prstGeom prst="rect">
            <a:avLst/>
          </a:prstGeom>
          <a:noFill/>
          <a:ln/>
        </p:spPr>
        <p:txBody>
          <a:bodyPr wrap="square" lIns="0" tIns="0" rIns="0" bIns="0" rtlCol="0" anchor="ctr"/>
          <a:lstStyle/>
          <a:p>
            <a:pPr marL="0" indent="0" algn="ctr">
              <a:buNone/>
            </a:pPr>
            <a:r>
              <a:rPr lang="en-US" sz="1300" b="1" dirty="0">
                <a:solidFill>
                  <a:srgbClr val="FFFFFF"/>
                </a:solidFill>
              </a:rPr>
              <a:t>FALSE</a:t>
            </a:r>
            <a:endParaRPr lang="en-US" sz="1300" dirty="0"/>
          </a:p>
        </p:txBody>
      </p:sp>
      <p:sp>
        <p:nvSpPr>
          <p:cNvPr id="9" name="Text 7"/>
          <p:cNvSpPr/>
          <p:nvPr/>
        </p:nvSpPr>
        <p:spPr>
          <a:xfrm>
            <a:off x="411480" y="1828800"/>
            <a:ext cx="8229600" cy="347472"/>
          </a:xfrm>
          <a:prstGeom prst="rect">
            <a:avLst/>
          </a:prstGeom>
          <a:noFill/>
          <a:ln/>
        </p:spPr>
        <p:txBody>
          <a:bodyPr wrap="square" lIns="0" tIns="0" rIns="0" bIns="0" rtlCol="0" anchor="ctr"/>
          <a:lstStyle/>
          <a:p>
            <a:pPr marL="0" indent="0">
              <a:buNone/>
            </a:pPr>
            <a:r>
              <a:rPr lang="en-US" sz="1050" i="1" dirty="0">
                <a:solidFill>
                  <a:srgbClr val="CDD3DC"/>
                </a:solidFill>
              </a:rPr>
              <a:t>HTTPS means your connection is encrypted — not that the site is legitimate.</a:t>
            </a:r>
            <a:endParaRPr lang="en-US" sz="1050" dirty="0"/>
          </a:p>
        </p:txBody>
      </p:sp>
      <p:sp>
        <p:nvSpPr>
          <p:cNvPr id="10" name="Shape 8"/>
          <p:cNvSpPr/>
          <p:nvPr/>
        </p:nvSpPr>
        <p:spPr>
          <a:xfrm>
            <a:off x="228600" y="2286000"/>
            <a:ext cx="8686800" cy="841248"/>
          </a:xfrm>
          <a:prstGeom prst="rect">
            <a:avLst/>
          </a:prstGeom>
          <a:solidFill>
            <a:srgbClr val="1B4F72"/>
          </a:solidFill>
          <a:ln/>
          <a:effectLst>
            <a:outerShdw blurRad="101600" dist="38100" dir="8100000" algn="bl" rotWithShape="0">
              <a:srgbClr val="000000">
                <a:alpha val="18000"/>
              </a:srgbClr>
            </a:outerShdw>
          </a:effectLst>
        </p:spPr>
      </p:sp>
      <p:sp>
        <p:nvSpPr>
          <p:cNvPr id="11" name="Text 9"/>
          <p:cNvSpPr/>
          <p:nvPr/>
        </p:nvSpPr>
        <p:spPr>
          <a:xfrm>
            <a:off x="411480" y="2331720"/>
            <a:ext cx="6217920" cy="384048"/>
          </a:xfrm>
          <a:prstGeom prst="rect">
            <a:avLst/>
          </a:prstGeom>
          <a:noFill/>
          <a:ln/>
        </p:spPr>
        <p:txBody>
          <a:bodyPr wrap="square" lIns="0" tIns="0" rIns="0" bIns="0" rtlCol="0" anchor="ctr"/>
          <a:lstStyle/>
          <a:p>
            <a:pPr marL="0" indent="0">
              <a:buNone/>
            </a:pPr>
            <a:r>
              <a:rPr lang="en-US" sz="1300" b="1" dirty="0">
                <a:solidFill>
                  <a:srgbClr val="FFFFFF"/>
                </a:solidFill>
              </a:rPr>
              <a:t>2.  Phishing attacks only happen via email.</a:t>
            </a:r>
            <a:endParaRPr lang="en-US" sz="1300" dirty="0"/>
          </a:p>
        </p:txBody>
      </p:sp>
      <p:sp>
        <p:nvSpPr>
          <p:cNvPr id="12" name="Shape 10"/>
          <p:cNvSpPr/>
          <p:nvPr/>
        </p:nvSpPr>
        <p:spPr>
          <a:xfrm>
            <a:off x="6766560" y="2377440"/>
            <a:ext cx="1737360" cy="347472"/>
          </a:xfrm>
          <a:prstGeom prst="rect">
            <a:avLst/>
          </a:prstGeom>
          <a:solidFill>
            <a:srgbClr val="E74C3C"/>
          </a:solidFill>
          <a:ln/>
        </p:spPr>
      </p:sp>
      <p:sp>
        <p:nvSpPr>
          <p:cNvPr id="13" name="Text 11"/>
          <p:cNvSpPr/>
          <p:nvPr/>
        </p:nvSpPr>
        <p:spPr>
          <a:xfrm>
            <a:off x="6766560" y="2377440"/>
            <a:ext cx="1737360" cy="347472"/>
          </a:xfrm>
          <a:prstGeom prst="rect">
            <a:avLst/>
          </a:prstGeom>
          <a:noFill/>
          <a:ln/>
        </p:spPr>
        <p:txBody>
          <a:bodyPr wrap="square" lIns="0" tIns="0" rIns="0" bIns="0" rtlCol="0" anchor="ctr"/>
          <a:lstStyle/>
          <a:p>
            <a:pPr marL="0" indent="0" algn="ctr">
              <a:buNone/>
            </a:pPr>
            <a:r>
              <a:rPr lang="en-US" sz="1300" b="1" dirty="0">
                <a:solidFill>
                  <a:srgbClr val="FFFFFF"/>
                </a:solidFill>
              </a:rPr>
              <a:t>FALSE</a:t>
            </a:r>
            <a:endParaRPr lang="en-US" sz="1300" dirty="0"/>
          </a:p>
        </p:txBody>
      </p:sp>
      <p:sp>
        <p:nvSpPr>
          <p:cNvPr id="14" name="Text 12"/>
          <p:cNvSpPr/>
          <p:nvPr/>
        </p:nvSpPr>
        <p:spPr>
          <a:xfrm>
            <a:off x="411480" y="2743200"/>
            <a:ext cx="8229600" cy="347472"/>
          </a:xfrm>
          <a:prstGeom prst="rect">
            <a:avLst/>
          </a:prstGeom>
          <a:noFill/>
          <a:ln/>
        </p:spPr>
        <p:txBody>
          <a:bodyPr wrap="square" lIns="0" tIns="0" rIns="0" bIns="0" rtlCol="0" anchor="ctr"/>
          <a:lstStyle/>
          <a:p>
            <a:pPr marL="0" indent="0">
              <a:buNone/>
            </a:pPr>
            <a:r>
              <a:rPr lang="en-US" sz="1050" i="1" dirty="0">
                <a:solidFill>
                  <a:srgbClr val="CDD3DC"/>
                </a:solidFill>
              </a:rPr>
              <a:t>Phishing also happens via SMS (smishing), phone calls (vishing), social media, and fake websites.</a:t>
            </a:r>
            <a:endParaRPr lang="en-US" sz="1050" dirty="0"/>
          </a:p>
        </p:txBody>
      </p:sp>
      <p:sp>
        <p:nvSpPr>
          <p:cNvPr id="15" name="Shape 13"/>
          <p:cNvSpPr/>
          <p:nvPr/>
        </p:nvSpPr>
        <p:spPr>
          <a:xfrm>
            <a:off x="228600" y="3200400"/>
            <a:ext cx="8686800" cy="841248"/>
          </a:xfrm>
          <a:prstGeom prst="rect">
            <a:avLst/>
          </a:prstGeom>
          <a:solidFill>
            <a:srgbClr val="1B4F72"/>
          </a:solidFill>
          <a:ln/>
          <a:effectLst>
            <a:outerShdw blurRad="101600" dist="38100" dir="8100000" algn="bl" rotWithShape="0">
              <a:srgbClr val="000000">
                <a:alpha val="18000"/>
              </a:srgbClr>
            </a:outerShdw>
          </a:effectLst>
        </p:spPr>
      </p:sp>
      <p:sp>
        <p:nvSpPr>
          <p:cNvPr id="16" name="Text 14"/>
          <p:cNvSpPr/>
          <p:nvPr/>
        </p:nvSpPr>
        <p:spPr>
          <a:xfrm>
            <a:off x="411480" y="3246120"/>
            <a:ext cx="6217920" cy="384048"/>
          </a:xfrm>
          <a:prstGeom prst="rect">
            <a:avLst/>
          </a:prstGeom>
          <a:noFill/>
          <a:ln/>
        </p:spPr>
        <p:txBody>
          <a:bodyPr wrap="square" lIns="0" tIns="0" rIns="0" bIns="0" rtlCol="0" anchor="ctr"/>
          <a:lstStyle/>
          <a:p>
            <a:pPr marL="0" indent="0">
              <a:buNone/>
            </a:pPr>
            <a:r>
              <a:rPr lang="en-US" sz="1300" b="1" dirty="0">
                <a:solidFill>
                  <a:srgbClr val="FFFFFF"/>
                </a:solidFill>
              </a:rPr>
              <a:t>3.  If you hover over a link and the URL looks correct, it's safe to click.</a:t>
            </a:r>
            <a:endParaRPr lang="en-US" sz="1300" dirty="0"/>
          </a:p>
        </p:txBody>
      </p:sp>
      <p:sp>
        <p:nvSpPr>
          <p:cNvPr id="17" name="Shape 15"/>
          <p:cNvSpPr/>
          <p:nvPr/>
        </p:nvSpPr>
        <p:spPr>
          <a:xfrm>
            <a:off x="6766560" y="3291840"/>
            <a:ext cx="1737360" cy="347472"/>
          </a:xfrm>
          <a:prstGeom prst="rect">
            <a:avLst/>
          </a:prstGeom>
          <a:solidFill>
            <a:srgbClr val="E74C3C"/>
          </a:solidFill>
          <a:ln/>
        </p:spPr>
      </p:sp>
      <p:sp>
        <p:nvSpPr>
          <p:cNvPr id="18" name="Text 16"/>
          <p:cNvSpPr/>
          <p:nvPr/>
        </p:nvSpPr>
        <p:spPr>
          <a:xfrm>
            <a:off x="6766560" y="3291840"/>
            <a:ext cx="1737360" cy="347472"/>
          </a:xfrm>
          <a:prstGeom prst="rect">
            <a:avLst/>
          </a:prstGeom>
          <a:noFill/>
          <a:ln/>
        </p:spPr>
        <p:txBody>
          <a:bodyPr wrap="square" lIns="0" tIns="0" rIns="0" bIns="0" rtlCol="0" anchor="ctr"/>
          <a:lstStyle/>
          <a:p>
            <a:pPr marL="0" indent="0" algn="ctr">
              <a:buNone/>
            </a:pPr>
            <a:r>
              <a:rPr lang="en-US" sz="1300" b="1" dirty="0">
                <a:solidFill>
                  <a:srgbClr val="FFFFFF"/>
                </a:solidFill>
              </a:rPr>
              <a:t>FALSE</a:t>
            </a:r>
            <a:endParaRPr lang="en-US" sz="1300" dirty="0"/>
          </a:p>
        </p:txBody>
      </p:sp>
      <p:sp>
        <p:nvSpPr>
          <p:cNvPr id="19" name="Text 17"/>
          <p:cNvSpPr/>
          <p:nvPr/>
        </p:nvSpPr>
        <p:spPr>
          <a:xfrm>
            <a:off x="411480" y="3657600"/>
            <a:ext cx="8229600" cy="347472"/>
          </a:xfrm>
          <a:prstGeom prst="rect">
            <a:avLst/>
          </a:prstGeom>
          <a:noFill/>
          <a:ln/>
        </p:spPr>
        <p:txBody>
          <a:bodyPr wrap="square" lIns="0" tIns="0" rIns="0" bIns="0" rtlCol="0" anchor="ctr"/>
          <a:lstStyle/>
          <a:p>
            <a:pPr marL="0" indent="0">
              <a:buNone/>
            </a:pPr>
            <a:r>
              <a:rPr lang="en-US" sz="1050" i="1" dirty="0">
                <a:solidFill>
                  <a:srgbClr val="CDD3DC"/>
                </a:solidFill>
              </a:rPr>
              <a:t>URLs can still redirect or use lookalike domains. When in doubt, type the URL directly.</a:t>
            </a:r>
            <a:endParaRPr lang="en-US" sz="1050" dirty="0"/>
          </a:p>
        </p:txBody>
      </p:sp>
      <p:sp>
        <p:nvSpPr>
          <p:cNvPr id="20" name="Shape 18"/>
          <p:cNvSpPr/>
          <p:nvPr/>
        </p:nvSpPr>
        <p:spPr>
          <a:xfrm>
            <a:off x="228600" y="4114800"/>
            <a:ext cx="8686800" cy="841248"/>
          </a:xfrm>
          <a:prstGeom prst="rect">
            <a:avLst/>
          </a:prstGeom>
          <a:solidFill>
            <a:srgbClr val="1B4F72"/>
          </a:solidFill>
          <a:ln/>
          <a:effectLst>
            <a:outerShdw blurRad="101600" dist="38100" dir="8100000" algn="bl" rotWithShape="0">
              <a:srgbClr val="000000">
                <a:alpha val="18000"/>
              </a:srgbClr>
            </a:outerShdw>
          </a:effectLst>
        </p:spPr>
      </p:sp>
      <p:sp>
        <p:nvSpPr>
          <p:cNvPr id="21" name="Text 19"/>
          <p:cNvSpPr/>
          <p:nvPr/>
        </p:nvSpPr>
        <p:spPr>
          <a:xfrm>
            <a:off x="411480" y="4160520"/>
            <a:ext cx="6217920" cy="384048"/>
          </a:xfrm>
          <a:prstGeom prst="rect">
            <a:avLst/>
          </a:prstGeom>
          <a:noFill/>
          <a:ln/>
        </p:spPr>
        <p:txBody>
          <a:bodyPr wrap="square" lIns="0" tIns="0" rIns="0" bIns="0" rtlCol="0" anchor="ctr"/>
          <a:lstStyle/>
          <a:p>
            <a:pPr marL="0" indent="0">
              <a:buNone/>
            </a:pPr>
            <a:r>
              <a:rPr lang="en-US" sz="1300" b="1" dirty="0">
                <a:solidFill>
                  <a:srgbClr val="FFFFFF"/>
                </a:solidFill>
              </a:rPr>
              <a:t>4.  Reporting a phishing email — even if you're unsure — helps your IT team.</a:t>
            </a:r>
            <a:endParaRPr lang="en-US" sz="1300" dirty="0"/>
          </a:p>
        </p:txBody>
      </p:sp>
      <p:sp>
        <p:nvSpPr>
          <p:cNvPr id="22" name="Shape 20"/>
          <p:cNvSpPr/>
          <p:nvPr/>
        </p:nvSpPr>
        <p:spPr>
          <a:xfrm>
            <a:off x="6766560" y="4206240"/>
            <a:ext cx="1737360" cy="347472"/>
          </a:xfrm>
          <a:prstGeom prst="rect">
            <a:avLst/>
          </a:prstGeom>
          <a:solidFill>
            <a:srgbClr val="1E8449"/>
          </a:solidFill>
          <a:ln/>
        </p:spPr>
      </p:sp>
      <p:sp>
        <p:nvSpPr>
          <p:cNvPr id="23" name="Text 21"/>
          <p:cNvSpPr/>
          <p:nvPr/>
        </p:nvSpPr>
        <p:spPr>
          <a:xfrm>
            <a:off x="6766560" y="4206240"/>
            <a:ext cx="1737360" cy="347472"/>
          </a:xfrm>
          <a:prstGeom prst="rect">
            <a:avLst/>
          </a:prstGeom>
          <a:noFill/>
          <a:ln/>
        </p:spPr>
        <p:txBody>
          <a:bodyPr wrap="square" lIns="0" tIns="0" rIns="0" bIns="0" rtlCol="0" anchor="ctr"/>
          <a:lstStyle/>
          <a:p>
            <a:pPr marL="0" indent="0" algn="ctr">
              <a:buNone/>
            </a:pPr>
            <a:r>
              <a:rPr lang="en-US" sz="1300" b="1" dirty="0">
                <a:solidFill>
                  <a:srgbClr val="FFFFFF"/>
                </a:solidFill>
              </a:rPr>
              <a:t>TRUE</a:t>
            </a:r>
            <a:endParaRPr lang="en-US" sz="1300" dirty="0"/>
          </a:p>
        </p:txBody>
      </p:sp>
      <p:sp>
        <p:nvSpPr>
          <p:cNvPr id="24" name="Text 22"/>
          <p:cNvSpPr/>
          <p:nvPr/>
        </p:nvSpPr>
        <p:spPr>
          <a:xfrm>
            <a:off x="411480" y="4572000"/>
            <a:ext cx="8229600" cy="347472"/>
          </a:xfrm>
          <a:prstGeom prst="rect">
            <a:avLst/>
          </a:prstGeom>
          <a:noFill/>
          <a:ln/>
        </p:spPr>
        <p:txBody>
          <a:bodyPr wrap="square" lIns="0" tIns="0" rIns="0" bIns="0" rtlCol="0" anchor="ctr"/>
          <a:lstStyle/>
          <a:p>
            <a:pPr marL="0" indent="0">
              <a:buNone/>
            </a:pPr>
            <a:r>
              <a:rPr lang="en-US" sz="1050" i="1" dirty="0">
                <a:solidFill>
                  <a:srgbClr val="CDD3DC"/>
                </a:solidFill>
              </a:rPr>
              <a:t>Every report helps. IT can investigate and block similar attacks company-wide.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67E22"/>
          </a:solidFill>
          <a:ln/>
        </p:spPr>
      </p:sp>
      <p:sp>
        <p:nvSpPr>
          <p:cNvPr id="3" name="Text 1"/>
          <p:cNvSpPr/>
          <p:nvPr/>
        </p:nvSpPr>
        <p:spPr>
          <a:xfrm>
            <a:off x="365760" y="91440"/>
            <a:ext cx="8229600" cy="594360"/>
          </a:xfrm>
          <a:prstGeom prst="rect">
            <a:avLst/>
          </a:prstGeom>
          <a:noFill/>
          <a:ln/>
        </p:spPr>
        <p:txBody>
          <a:bodyPr wrap="square" lIns="0" tIns="0" rIns="0" bIns="0" rtlCol="0" anchor="ctr"/>
          <a:lstStyle/>
          <a:p>
            <a:pPr marL="0" indent="0">
              <a:buNone/>
            </a:pPr>
            <a:r>
              <a:rPr lang="en-US" sz="2400" b="1" dirty="0">
                <a:solidFill>
                  <a:srgbClr val="FFFFFF"/>
                </a:solidFill>
              </a:rPr>
              <a:t>🎯  What Would YOU Do?  Case Scenario</a:t>
            </a:r>
            <a:endParaRPr lang="en-US" sz="2400" dirty="0"/>
          </a:p>
        </p:txBody>
      </p:sp>
      <p:sp>
        <p:nvSpPr>
          <p:cNvPr id="4" name="Shape 2"/>
          <p:cNvSpPr/>
          <p:nvPr/>
        </p:nvSpPr>
        <p:spPr>
          <a:xfrm>
            <a:off x="228600" y="914400"/>
            <a:ext cx="8686800" cy="1645920"/>
          </a:xfrm>
          <a:prstGeom prst="rect">
            <a:avLst/>
          </a:prstGeom>
          <a:solidFill>
            <a:srgbClr val="1B4F72"/>
          </a:solidFill>
          <a:ln/>
          <a:effectLst>
            <a:outerShdw blurRad="101600" dist="38100" dir="8100000" algn="bl" rotWithShape="0">
              <a:srgbClr val="000000">
                <a:alpha val="18000"/>
              </a:srgbClr>
            </a:outerShdw>
          </a:effectLst>
        </p:spPr>
      </p:sp>
      <p:sp>
        <p:nvSpPr>
          <p:cNvPr id="5" name="Text 3"/>
          <p:cNvSpPr/>
          <p:nvPr/>
        </p:nvSpPr>
        <p:spPr>
          <a:xfrm>
            <a:off x="411480" y="960120"/>
            <a:ext cx="3657600" cy="347472"/>
          </a:xfrm>
          <a:prstGeom prst="rect">
            <a:avLst/>
          </a:prstGeom>
          <a:noFill/>
          <a:ln/>
        </p:spPr>
        <p:txBody>
          <a:bodyPr wrap="square" lIns="0" tIns="0" rIns="0" bIns="0" rtlCol="0" anchor="ctr"/>
          <a:lstStyle/>
          <a:p>
            <a:pPr marL="0" indent="0">
              <a:buNone/>
            </a:pPr>
            <a:r>
              <a:rPr lang="en-US" sz="1300" b="1" dirty="0">
                <a:solidFill>
                  <a:srgbClr val="148F77"/>
                </a:solidFill>
              </a:rPr>
              <a:t>The Scenario:</a:t>
            </a:r>
            <a:endParaRPr lang="en-US" sz="1300" dirty="0"/>
          </a:p>
        </p:txBody>
      </p:sp>
      <p:sp>
        <p:nvSpPr>
          <p:cNvPr id="6" name="Text 4"/>
          <p:cNvSpPr/>
          <p:nvPr/>
        </p:nvSpPr>
        <p:spPr>
          <a:xfrm>
            <a:off x="411480" y="1325880"/>
            <a:ext cx="8321040" cy="1143000"/>
          </a:xfrm>
          <a:prstGeom prst="rect">
            <a:avLst/>
          </a:prstGeom>
          <a:noFill/>
          <a:ln/>
        </p:spPr>
        <p:txBody>
          <a:bodyPr wrap="square" lIns="0" tIns="0" rIns="0" bIns="0" rtlCol="0" anchor="ctr"/>
          <a:lstStyle/>
          <a:p>
            <a:pPr marL="0" indent="0">
              <a:buNone/>
            </a:pPr>
            <a:r>
              <a:rPr lang="en-US" sz="1200" dirty="0">
                <a:solidFill>
                  <a:srgbClr val="CDD3DC"/>
                </a:solidFill>
              </a:rPr>
              <a:t>You receive an email from 'Alex in HR' asking you to verify your payroll details before tomorrow's payroll run. The email looks professional and uses your company's logo. The link points to 'hr-portal.company-secure.net'. You recognize the name Alex, and the email says if you don't verify by 5 PM, your payment will be delayed.</a:t>
            </a:r>
            <a:endParaRPr lang="en-US" sz="1200" dirty="0"/>
          </a:p>
        </p:txBody>
      </p:sp>
      <p:sp>
        <p:nvSpPr>
          <p:cNvPr id="7" name="Shape 5"/>
          <p:cNvSpPr/>
          <p:nvPr/>
        </p:nvSpPr>
        <p:spPr>
          <a:xfrm>
            <a:off x="228600" y="2670048"/>
            <a:ext cx="8686800" cy="548640"/>
          </a:xfrm>
          <a:prstGeom prst="rect">
            <a:avLst/>
          </a:prstGeom>
          <a:solidFill>
            <a:srgbClr val="2C3E50"/>
          </a:solidFill>
          <a:ln/>
          <a:effectLst>
            <a:outerShdw blurRad="101600" dist="38100" dir="8100000" algn="bl" rotWithShape="0">
              <a:srgbClr val="000000">
                <a:alpha val="18000"/>
              </a:srgbClr>
            </a:outerShdw>
          </a:effectLst>
        </p:spPr>
      </p:sp>
      <p:sp>
        <p:nvSpPr>
          <p:cNvPr id="8" name="Shape 6"/>
          <p:cNvSpPr/>
          <p:nvPr/>
        </p:nvSpPr>
        <p:spPr>
          <a:xfrm>
            <a:off x="228600" y="2670048"/>
            <a:ext cx="109728" cy="548640"/>
          </a:xfrm>
          <a:prstGeom prst="rect">
            <a:avLst/>
          </a:prstGeom>
          <a:solidFill>
            <a:srgbClr val="E74C3C"/>
          </a:solidFill>
          <a:ln/>
        </p:spPr>
      </p:sp>
      <p:sp>
        <p:nvSpPr>
          <p:cNvPr id="9" name="Text 7"/>
          <p:cNvSpPr/>
          <p:nvPr/>
        </p:nvSpPr>
        <p:spPr>
          <a:xfrm>
            <a:off x="411480" y="2715768"/>
            <a:ext cx="4389120" cy="438912"/>
          </a:xfrm>
          <a:prstGeom prst="rect">
            <a:avLst/>
          </a:prstGeom>
          <a:noFill/>
          <a:ln/>
        </p:spPr>
        <p:txBody>
          <a:bodyPr wrap="square" lIns="0" tIns="0" rIns="0" bIns="0" rtlCol="0" anchor="ctr"/>
          <a:lstStyle/>
          <a:p>
            <a:pPr marL="0" indent="0">
              <a:buNone/>
            </a:pPr>
            <a:r>
              <a:rPr lang="en-US" sz="1200" dirty="0">
                <a:solidFill>
                  <a:srgbClr val="FFFFFF"/>
                </a:solidFill>
              </a:rPr>
              <a:t>A) Click the link and verify — you don't want to miss payroll!</a:t>
            </a:r>
            <a:endParaRPr lang="en-US" sz="1200" dirty="0"/>
          </a:p>
        </p:txBody>
      </p:sp>
      <p:sp>
        <p:nvSpPr>
          <p:cNvPr id="10" name="Text 8"/>
          <p:cNvSpPr/>
          <p:nvPr/>
        </p:nvSpPr>
        <p:spPr>
          <a:xfrm>
            <a:off x="4892040" y="2779776"/>
            <a:ext cx="3840480" cy="347472"/>
          </a:xfrm>
          <a:prstGeom prst="rect">
            <a:avLst/>
          </a:prstGeom>
          <a:noFill/>
          <a:ln/>
        </p:spPr>
        <p:txBody>
          <a:bodyPr wrap="square" lIns="0" tIns="0" rIns="0" bIns="0" rtlCol="0" anchor="ctr"/>
          <a:lstStyle/>
          <a:p>
            <a:pPr marL="0" indent="0">
              <a:buNone/>
            </a:pPr>
            <a:r>
              <a:rPr lang="en-US" sz="1100" i="1" dirty="0">
                <a:solidFill>
                  <a:srgbClr val="E74C3C"/>
                </a:solidFill>
              </a:rPr>
              <a:t>❌  WRONG — This is a classic credential harvest. The domain is fake.</a:t>
            </a:r>
            <a:endParaRPr lang="en-US" sz="1100" dirty="0"/>
          </a:p>
        </p:txBody>
      </p:sp>
      <p:sp>
        <p:nvSpPr>
          <p:cNvPr id="11" name="Shape 9"/>
          <p:cNvSpPr/>
          <p:nvPr/>
        </p:nvSpPr>
        <p:spPr>
          <a:xfrm>
            <a:off x="228600" y="3282696"/>
            <a:ext cx="8686800" cy="548640"/>
          </a:xfrm>
          <a:prstGeom prst="rect">
            <a:avLst/>
          </a:prstGeom>
          <a:solidFill>
            <a:srgbClr val="2C3E50"/>
          </a:solidFill>
          <a:ln/>
          <a:effectLst>
            <a:outerShdw blurRad="101600" dist="38100" dir="8100000" algn="bl" rotWithShape="0">
              <a:srgbClr val="000000">
                <a:alpha val="18000"/>
              </a:srgbClr>
            </a:outerShdw>
          </a:effectLst>
        </p:spPr>
      </p:sp>
      <p:sp>
        <p:nvSpPr>
          <p:cNvPr id="12" name="Shape 10"/>
          <p:cNvSpPr/>
          <p:nvPr/>
        </p:nvSpPr>
        <p:spPr>
          <a:xfrm>
            <a:off x="228600" y="3282696"/>
            <a:ext cx="109728" cy="548640"/>
          </a:xfrm>
          <a:prstGeom prst="rect">
            <a:avLst/>
          </a:prstGeom>
          <a:solidFill>
            <a:srgbClr val="E67E22"/>
          </a:solidFill>
          <a:ln/>
        </p:spPr>
      </p:sp>
      <p:sp>
        <p:nvSpPr>
          <p:cNvPr id="13" name="Text 11"/>
          <p:cNvSpPr/>
          <p:nvPr/>
        </p:nvSpPr>
        <p:spPr>
          <a:xfrm>
            <a:off x="411480" y="3328416"/>
            <a:ext cx="4389120" cy="438912"/>
          </a:xfrm>
          <a:prstGeom prst="rect">
            <a:avLst/>
          </a:prstGeom>
          <a:noFill/>
          <a:ln/>
        </p:spPr>
        <p:txBody>
          <a:bodyPr wrap="square" lIns="0" tIns="0" rIns="0" bIns="0" rtlCol="0" anchor="ctr"/>
          <a:lstStyle/>
          <a:p>
            <a:pPr marL="0" indent="0">
              <a:buNone/>
            </a:pPr>
            <a:r>
              <a:rPr lang="en-US" sz="1200" dirty="0">
                <a:solidFill>
                  <a:srgbClr val="FFFFFF"/>
                </a:solidFill>
              </a:rPr>
              <a:t>B) Ignore it — it's probably spam.</a:t>
            </a:r>
            <a:endParaRPr lang="en-US" sz="1200" dirty="0"/>
          </a:p>
        </p:txBody>
      </p:sp>
      <p:sp>
        <p:nvSpPr>
          <p:cNvPr id="14" name="Text 12"/>
          <p:cNvSpPr/>
          <p:nvPr/>
        </p:nvSpPr>
        <p:spPr>
          <a:xfrm>
            <a:off x="4892040" y="3392424"/>
            <a:ext cx="3840480" cy="347472"/>
          </a:xfrm>
          <a:prstGeom prst="rect">
            <a:avLst/>
          </a:prstGeom>
          <a:noFill/>
          <a:ln/>
        </p:spPr>
        <p:txBody>
          <a:bodyPr wrap="square" lIns="0" tIns="0" rIns="0" bIns="0" rtlCol="0" anchor="ctr"/>
          <a:lstStyle/>
          <a:p>
            <a:pPr marL="0" indent="0">
              <a:buNone/>
            </a:pPr>
            <a:r>
              <a:rPr lang="en-US" sz="1100" i="1" dirty="0">
                <a:solidFill>
                  <a:srgbClr val="E67E22"/>
                </a:solidFill>
              </a:rPr>
              <a:t>⚠  RISKY — If it were real, you'd miss payroll. Always verify, don't ignore.</a:t>
            </a:r>
            <a:endParaRPr lang="en-US" sz="1100" dirty="0"/>
          </a:p>
        </p:txBody>
      </p:sp>
      <p:sp>
        <p:nvSpPr>
          <p:cNvPr id="15" name="Shape 13"/>
          <p:cNvSpPr/>
          <p:nvPr/>
        </p:nvSpPr>
        <p:spPr>
          <a:xfrm>
            <a:off x="228600" y="3895344"/>
            <a:ext cx="8686800" cy="548640"/>
          </a:xfrm>
          <a:prstGeom prst="rect">
            <a:avLst/>
          </a:prstGeom>
          <a:solidFill>
            <a:srgbClr val="2C3E50"/>
          </a:solidFill>
          <a:ln/>
          <a:effectLst>
            <a:outerShdw blurRad="101600" dist="38100" dir="8100000" algn="bl" rotWithShape="0">
              <a:srgbClr val="000000">
                <a:alpha val="18000"/>
              </a:srgbClr>
            </a:outerShdw>
          </a:effectLst>
        </p:spPr>
      </p:sp>
      <p:sp>
        <p:nvSpPr>
          <p:cNvPr id="16" name="Shape 14"/>
          <p:cNvSpPr/>
          <p:nvPr/>
        </p:nvSpPr>
        <p:spPr>
          <a:xfrm>
            <a:off x="228600" y="3895344"/>
            <a:ext cx="109728" cy="548640"/>
          </a:xfrm>
          <a:prstGeom prst="rect">
            <a:avLst/>
          </a:prstGeom>
          <a:solidFill>
            <a:srgbClr val="1E8449"/>
          </a:solidFill>
          <a:ln/>
        </p:spPr>
      </p:sp>
      <p:sp>
        <p:nvSpPr>
          <p:cNvPr id="17" name="Text 15"/>
          <p:cNvSpPr/>
          <p:nvPr/>
        </p:nvSpPr>
        <p:spPr>
          <a:xfrm>
            <a:off x="411480" y="3941064"/>
            <a:ext cx="4389120" cy="438912"/>
          </a:xfrm>
          <a:prstGeom prst="rect">
            <a:avLst/>
          </a:prstGeom>
          <a:noFill/>
          <a:ln/>
        </p:spPr>
        <p:txBody>
          <a:bodyPr wrap="square" lIns="0" tIns="0" rIns="0" bIns="0" rtlCol="0" anchor="ctr"/>
          <a:lstStyle/>
          <a:p>
            <a:pPr marL="0" indent="0">
              <a:buNone/>
            </a:pPr>
            <a:r>
              <a:rPr lang="en-US" sz="1200" dirty="0">
                <a:solidFill>
                  <a:srgbClr val="FFFFFF"/>
                </a:solidFill>
              </a:rPr>
              <a:t>C) Call Alex directly (using your internal directory) to confirm.</a:t>
            </a:r>
            <a:endParaRPr lang="en-US" sz="1200" dirty="0"/>
          </a:p>
        </p:txBody>
      </p:sp>
      <p:sp>
        <p:nvSpPr>
          <p:cNvPr id="18" name="Text 16"/>
          <p:cNvSpPr/>
          <p:nvPr/>
        </p:nvSpPr>
        <p:spPr>
          <a:xfrm>
            <a:off x="4892040" y="4005072"/>
            <a:ext cx="3840480" cy="347472"/>
          </a:xfrm>
          <a:prstGeom prst="rect">
            <a:avLst/>
          </a:prstGeom>
          <a:noFill/>
          <a:ln/>
        </p:spPr>
        <p:txBody>
          <a:bodyPr wrap="square" lIns="0" tIns="0" rIns="0" bIns="0" rtlCol="0" anchor="ctr"/>
          <a:lstStyle/>
          <a:p>
            <a:pPr marL="0" indent="0">
              <a:buNone/>
            </a:pPr>
            <a:r>
              <a:rPr lang="en-US" sz="1100" i="1" dirty="0">
                <a:solidFill>
                  <a:srgbClr val="1E8449"/>
                </a:solidFill>
              </a:rPr>
              <a:t>✅  CORRECT — Verify through a trusted channel before taking any action.</a:t>
            </a:r>
            <a:endParaRPr lang="en-US" sz="1100" dirty="0"/>
          </a:p>
        </p:txBody>
      </p:sp>
      <p:sp>
        <p:nvSpPr>
          <p:cNvPr id="19" name="Shape 17"/>
          <p:cNvSpPr/>
          <p:nvPr/>
        </p:nvSpPr>
        <p:spPr>
          <a:xfrm>
            <a:off x="228600" y="4507992"/>
            <a:ext cx="8686800" cy="548640"/>
          </a:xfrm>
          <a:prstGeom prst="rect">
            <a:avLst/>
          </a:prstGeom>
          <a:solidFill>
            <a:srgbClr val="2C3E50"/>
          </a:solidFill>
          <a:ln/>
          <a:effectLst>
            <a:outerShdw blurRad="101600" dist="38100" dir="8100000" algn="bl" rotWithShape="0">
              <a:srgbClr val="000000">
                <a:alpha val="18000"/>
              </a:srgbClr>
            </a:outerShdw>
          </a:effectLst>
        </p:spPr>
      </p:sp>
      <p:sp>
        <p:nvSpPr>
          <p:cNvPr id="20" name="Shape 18"/>
          <p:cNvSpPr/>
          <p:nvPr/>
        </p:nvSpPr>
        <p:spPr>
          <a:xfrm>
            <a:off x="228600" y="4507992"/>
            <a:ext cx="109728" cy="548640"/>
          </a:xfrm>
          <a:prstGeom prst="rect">
            <a:avLst/>
          </a:prstGeom>
          <a:solidFill>
            <a:srgbClr val="148F77"/>
          </a:solidFill>
          <a:ln/>
        </p:spPr>
      </p:sp>
      <p:sp>
        <p:nvSpPr>
          <p:cNvPr id="21" name="Text 19"/>
          <p:cNvSpPr/>
          <p:nvPr/>
        </p:nvSpPr>
        <p:spPr>
          <a:xfrm>
            <a:off x="411480" y="4553712"/>
            <a:ext cx="4389120" cy="438912"/>
          </a:xfrm>
          <a:prstGeom prst="rect">
            <a:avLst/>
          </a:prstGeom>
          <a:noFill/>
          <a:ln/>
        </p:spPr>
        <p:txBody>
          <a:bodyPr wrap="square" lIns="0" tIns="0" rIns="0" bIns="0" rtlCol="0" anchor="ctr"/>
          <a:lstStyle/>
          <a:p>
            <a:pPr marL="0" indent="0">
              <a:buNone/>
            </a:pPr>
            <a:r>
              <a:rPr lang="en-US" sz="1200" dirty="0">
                <a:solidFill>
                  <a:srgbClr val="FFFFFF"/>
                </a:solidFill>
              </a:rPr>
              <a:t>D) Forward to IT Security and ask Alex in person / via internal chat.</a:t>
            </a:r>
            <a:endParaRPr lang="en-US" sz="1200" dirty="0"/>
          </a:p>
        </p:txBody>
      </p:sp>
      <p:sp>
        <p:nvSpPr>
          <p:cNvPr id="22" name="Text 20"/>
          <p:cNvSpPr/>
          <p:nvPr/>
        </p:nvSpPr>
        <p:spPr>
          <a:xfrm>
            <a:off x="4892040" y="4617720"/>
            <a:ext cx="3840480" cy="347472"/>
          </a:xfrm>
          <a:prstGeom prst="rect">
            <a:avLst/>
          </a:prstGeom>
          <a:noFill/>
          <a:ln/>
        </p:spPr>
        <p:txBody>
          <a:bodyPr wrap="square" lIns="0" tIns="0" rIns="0" bIns="0" rtlCol="0" anchor="ctr"/>
          <a:lstStyle/>
          <a:p>
            <a:pPr marL="0" indent="0">
              <a:buNone/>
            </a:pPr>
            <a:r>
              <a:rPr lang="en-US" sz="1100" i="1" dirty="0">
                <a:solidFill>
                  <a:srgbClr val="148F77"/>
                </a:solidFill>
              </a:rPr>
              <a:t>✅  ALSO CORRECT — Report it AND verify. Great instinct!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3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  If You Suspect a Phishing Attack — Do This</a:t>
            </a:r>
            <a:endParaRPr lang="en-US" sz="2200" dirty="0"/>
          </a:p>
        </p:txBody>
      </p:sp>
      <p:sp>
        <p:nvSpPr>
          <p:cNvPr id="4" name="Shape 2"/>
          <p:cNvSpPr/>
          <p:nvPr/>
        </p:nvSpPr>
        <p:spPr>
          <a:xfrm>
            <a:off x="228600" y="841248"/>
            <a:ext cx="8686800" cy="960120"/>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228600" y="841248"/>
            <a:ext cx="621792" cy="960120"/>
          </a:xfrm>
          <a:prstGeom prst="rect">
            <a:avLst/>
          </a:prstGeom>
          <a:solidFill>
            <a:srgbClr val="E74C3C"/>
          </a:solidFill>
          <a:ln/>
        </p:spPr>
      </p:sp>
      <p:sp>
        <p:nvSpPr>
          <p:cNvPr id="6" name="Text 4"/>
          <p:cNvSpPr/>
          <p:nvPr/>
        </p:nvSpPr>
        <p:spPr>
          <a:xfrm>
            <a:off x="228600" y="841248"/>
            <a:ext cx="621792" cy="960120"/>
          </a:xfrm>
          <a:prstGeom prst="rect">
            <a:avLst/>
          </a:prstGeom>
          <a:noFill/>
          <a:ln/>
        </p:spPr>
        <p:txBody>
          <a:bodyPr wrap="square" lIns="0" tIns="0" rIns="0" bIns="0" rtlCol="0" anchor="ctr"/>
          <a:lstStyle/>
          <a:p>
            <a:pPr marL="0" indent="0" algn="ctr">
              <a:buNone/>
            </a:pPr>
            <a:r>
              <a:rPr lang="en-US" sz="3200" b="1" dirty="0">
                <a:solidFill>
                  <a:srgbClr val="FFFFFF"/>
                </a:solidFill>
              </a:rPr>
              <a:t>1</a:t>
            </a:r>
            <a:endParaRPr lang="en-US" sz="3200" dirty="0"/>
          </a:p>
        </p:txBody>
      </p:sp>
      <p:pic>
        <p:nvPicPr>
          <p:cNvPr id="7" name="Image 0" descr="preencoded.png"/>
          <p:cNvPicPr>
            <a:picLocks noChangeAspect="1"/>
          </p:cNvPicPr>
          <p:nvPr/>
        </p:nvPicPr>
        <p:blipFill>
          <a:blip r:embed="rId3"/>
          <a:stretch>
            <a:fillRect/>
          </a:stretch>
        </p:blipFill>
        <p:spPr>
          <a:xfrm>
            <a:off x="987552" y="1042416"/>
            <a:ext cx="475488" cy="475488"/>
          </a:xfrm>
          <a:prstGeom prst="rect">
            <a:avLst/>
          </a:prstGeom>
        </p:spPr>
      </p:pic>
      <p:sp>
        <p:nvSpPr>
          <p:cNvPr id="8" name="Text 5"/>
          <p:cNvSpPr/>
          <p:nvPr/>
        </p:nvSpPr>
        <p:spPr>
          <a:xfrm>
            <a:off x="1600200" y="932688"/>
            <a:ext cx="7132320" cy="384048"/>
          </a:xfrm>
          <a:prstGeom prst="rect">
            <a:avLst/>
          </a:prstGeom>
          <a:noFill/>
          <a:ln/>
        </p:spPr>
        <p:txBody>
          <a:bodyPr wrap="square" lIns="0" tIns="0" rIns="0" bIns="0" rtlCol="0" anchor="ctr"/>
          <a:lstStyle/>
          <a:p>
            <a:pPr marL="0" indent="0">
              <a:buNone/>
            </a:pPr>
            <a:r>
              <a:rPr lang="en-US" sz="1400" b="1" dirty="0">
                <a:solidFill>
                  <a:srgbClr val="2C3E50"/>
                </a:solidFill>
              </a:rPr>
              <a:t>STOP — Don't click, reply, or download</a:t>
            </a:r>
            <a:endParaRPr lang="en-US" sz="1400" dirty="0"/>
          </a:p>
        </p:txBody>
      </p:sp>
      <p:sp>
        <p:nvSpPr>
          <p:cNvPr id="9" name="Text 6"/>
          <p:cNvSpPr/>
          <p:nvPr/>
        </p:nvSpPr>
        <p:spPr>
          <a:xfrm>
            <a:off x="1600200" y="1344168"/>
            <a:ext cx="7132320" cy="384048"/>
          </a:xfrm>
          <a:prstGeom prst="rect">
            <a:avLst/>
          </a:prstGeom>
          <a:noFill/>
          <a:ln/>
        </p:spPr>
        <p:txBody>
          <a:bodyPr wrap="square" lIns="0" tIns="0" rIns="0" bIns="0" rtlCol="0" anchor="ctr"/>
          <a:lstStyle/>
          <a:p>
            <a:pPr marL="0" indent="0">
              <a:buNone/>
            </a:pPr>
            <a:r>
              <a:rPr lang="en-US" sz="1150" dirty="0">
                <a:solidFill>
                  <a:srgbClr val="7F8C8D"/>
                </a:solidFill>
              </a:rPr>
              <a:t>Close the email. Don't forward it to colleagues out of curiosity.</a:t>
            </a:r>
            <a:endParaRPr lang="en-US" sz="1150" dirty="0"/>
          </a:p>
        </p:txBody>
      </p:sp>
      <p:sp>
        <p:nvSpPr>
          <p:cNvPr id="10" name="Shape 7"/>
          <p:cNvSpPr/>
          <p:nvPr/>
        </p:nvSpPr>
        <p:spPr>
          <a:xfrm>
            <a:off x="228600" y="1892808"/>
            <a:ext cx="8686800" cy="96012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28600" y="1892808"/>
            <a:ext cx="621792" cy="960120"/>
          </a:xfrm>
          <a:prstGeom prst="rect">
            <a:avLst/>
          </a:prstGeom>
          <a:solidFill>
            <a:srgbClr val="1B4F72"/>
          </a:solidFill>
          <a:ln/>
        </p:spPr>
      </p:sp>
      <p:sp>
        <p:nvSpPr>
          <p:cNvPr id="12" name="Text 9"/>
          <p:cNvSpPr/>
          <p:nvPr/>
        </p:nvSpPr>
        <p:spPr>
          <a:xfrm>
            <a:off x="228600" y="1892808"/>
            <a:ext cx="621792" cy="960120"/>
          </a:xfrm>
          <a:prstGeom prst="rect">
            <a:avLst/>
          </a:prstGeom>
          <a:noFill/>
          <a:ln/>
        </p:spPr>
        <p:txBody>
          <a:bodyPr wrap="square" lIns="0" tIns="0" rIns="0" bIns="0" rtlCol="0" anchor="ctr"/>
          <a:lstStyle/>
          <a:p>
            <a:pPr marL="0" indent="0" algn="ctr">
              <a:buNone/>
            </a:pPr>
            <a:r>
              <a:rPr lang="en-US" sz="3200" b="1" dirty="0">
                <a:solidFill>
                  <a:srgbClr val="FFFFFF"/>
                </a:solidFill>
              </a:rPr>
              <a:t>2</a:t>
            </a:r>
            <a:endParaRPr lang="en-US" sz="3200" dirty="0"/>
          </a:p>
        </p:txBody>
      </p:sp>
      <p:pic>
        <p:nvPicPr>
          <p:cNvPr id="13" name="Image 1" descr="preencoded.png"/>
          <p:cNvPicPr>
            <a:picLocks noChangeAspect="1"/>
          </p:cNvPicPr>
          <p:nvPr/>
        </p:nvPicPr>
        <p:blipFill>
          <a:blip r:embed="rId4"/>
          <a:stretch>
            <a:fillRect/>
          </a:stretch>
        </p:blipFill>
        <p:spPr>
          <a:xfrm>
            <a:off x="987552" y="2093976"/>
            <a:ext cx="475488" cy="475488"/>
          </a:xfrm>
          <a:prstGeom prst="rect">
            <a:avLst/>
          </a:prstGeom>
        </p:spPr>
      </p:pic>
      <p:sp>
        <p:nvSpPr>
          <p:cNvPr id="14" name="Text 10"/>
          <p:cNvSpPr/>
          <p:nvPr/>
        </p:nvSpPr>
        <p:spPr>
          <a:xfrm>
            <a:off x="1600200" y="1984248"/>
            <a:ext cx="7132320" cy="384048"/>
          </a:xfrm>
          <a:prstGeom prst="rect">
            <a:avLst/>
          </a:prstGeom>
          <a:noFill/>
          <a:ln/>
        </p:spPr>
        <p:txBody>
          <a:bodyPr wrap="square" lIns="0" tIns="0" rIns="0" bIns="0" rtlCol="0" anchor="ctr"/>
          <a:lstStyle/>
          <a:p>
            <a:pPr marL="0" indent="0">
              <a:buNone/>
            </a:pPr>
            <a:r>
              <a:rPr lang="en-US" sz="1400" b="1" dirty="0">
                <a:solidFill>
                  <a:srgbClr val="2C3E50"/>
                </a:solidFill>
              </a:rPr>
              <a:t>VERIFY — Check the sender independently</a:t>
            </a:r>
            <a:endParaRPr lang="en-US" sz="1400" dirty="0"/>
          </a:p>
        </p:txBody>
      </p:sp>
      <p:sp>
        <p:nvSpPr>
          <p:cNvPr id="15" name="Text 11"/>
          <p:cNvSpPr/>
          <p:nvPr/>
        </p:nvSpPr>
        <p:spPr>
          <a:xfrm>
            <a:off x="1600200" y="2395728"/>
            <a:ext cx="7132320" cy="384048"/>
          </a:xfrm>
          <a:prstGeom prst="rect">
            <a:avLst/>
          </a:prstGeom>
          <a:noFill/>
          <a:ln/>
        </p:spPr>
        <p:txBody>
          <a:bodyPr wrap="square" lIns="0" tIns="0" rIns="0" bIns="0" rtlCol="0" anchor="ctr"/>
          <a:lstStyle/>
          <a:p>
            <a:pPr marL="0" indent="0">
              <a:buNone/>
            </a:pPr>
            <a:r>
              <a:rPr lang="en-US" sz="1150" dirty="0">
                <a:solidFill>
                  <a:srgbClr val="7F8C8D"/>
                </a:solidFill>
              </a:rPr>
              <a:t>Look up the real contact in your company directory and call or message them directly.</a:t>
            </a:r>
            <a:endParaRPr lang="en-US" sz="1150" dirty="0"/>
          </a:p>
        </p:txBody>
      </p:sp>
      <p:sp>
        <p:nvSpPr>
          <p:cNvPr id="16" name="Shape 12"/>
          <p:cNvSpPr/>
          <p:nvPr/>
        </p:nvSpPr>
        <p:spPr>
          <a:xfrm>
            <a:off x="228600" y="2944368"/>
            <a:ext cx="8686800" cy="960120"/>
          </a:xfrm>
          <a:prstGeom prst="rect">
            <a:avLst/>
          </a:prstGeom>
          <a:solidFill>
            <a:srgbClr val="FFFFFF"/>
          </a:solidFill>
          <a:ln/>
          <a:effectLst>
            <a:outerShdw blurRad="101600" dist="38100" dir="8100000" algn="bl" rotWithShape="0">
              <a:srgbClr val="000000">
                <a:alpha val="18000"/>
              </a:srgbClr>
            </a:outerShdw>
          </a:effectLst>
        </p:spPr>
      </p:sp>
      <p:sp>
        <p:nvSpPr>
          <p:cNvPr id="17" name="Shape 13"/>
          <p:cNvSpPr/>
          <p:nvPr/>
        </p:nvSpPr>
        <p:spPr>
          <a:xfrm>
            <a:off x="228600" y="2944368"/>
            <a:ext cx="621792" cy="960120"/>
          </a:xfrm>
          <a:prstGeom prst="rect">
            <a:avLst/>
          </a:prstGeom>
          <a:solidFill>
            <a:srgbClr val="148F77"/>
          </a:solidFill>
          <a:ln/>
        </p:spPr>
      </p:sp>
      <p:sp>
        <p:nvSpPr>
          <p:cNvPr id="18" name="Text 14"/>
          <p:cNvSpPr/>
          <p:nvPr/>
        </p:nvSpPr>
        <p:spPr>
          <a:xfrm>
            <a:off x="228600" y="2944368"/>
            <a:ext cx="621792" cy="960120"/>
          </a:xfrm>
          <a:prstGeom prst="rect">
            <a:avLst/>
          </a:prstGeom>
          <a:noFill/>
          <a:ln/>
        </p:spPr>
        <p:txBody>
          <a:bodyPr wrap="square" lIns="0" tIns="0" rIns="0" bIns="0" rtlCol="0" anchor="ctr"/>
          <a:lstStyle/>
          <a:p>
            <a:pPr marL="0" indent="0" algn="ctr">
              <a:buNone/>
            </a:pPr>
            <a:r>
              <a:rPr lang="en-US" sz="3200" b="1" dirty="0">
                <a:solidFill>
                  <a:srgbClr val="FFFFFF"/>
                </a:solidFill>
              </a:rPr>
              <a:t>3</a:t>
            </a:r>
            <a:endParaRPr lang="en-US" sz="3200" dirty="0"/>
          </a:p>
        </p:txBody>
      </p:sp>
      <p:pic>
        <p:nvPicPr>
          <p:cNvPr id="19" name="Image 2" descr="preencoded.png"/>
          <p:cNvPicPr>
            <a:picLocks noChangeAspect="1"/>
          </p:cNvPicPr>
          <p:nvPr/>
        </p:nvPicPr>
        <p:blipFill>
          <a:blip r:embed="rId5"/>
          <a:stretch>
            <a:fillRect/>
          </a:stretch>
        </p:blipFill>
        <p:spPr>
          <a:xfrm>
            <a:off x="987552" y="3145536"/>
            <a:ext cx="475488" cy="475488"/>
          </a:xfrm>
          <a:prstGeom prst="rect">
            <a:avLst/>
          </a:prstGeom>
        </p:spPr>
      </p:pic>
      <p:sp>
        <p:nvSpPr>
          <p:cNvPr id="20" name="Text 15"/>
          <p:cNvSpPr/>
          <p:nvPr/>
        </p:nvSpPr>
        <p:spPr>
          <a:xfrm>
            <a:off x="1600200" y="3035808"/>
            <a:ext cx="7132320" cy="384048"/>
          </a:xfrm>
          <a:prstGeom prst="rect">
            <a:avLst/>
          </a:prstGeom>
          <a:noFill/>
          <a:ln/>
        </p:spPr>
        <p:txBody>
          <a:bodyPr wrap="square" lIns="0" tIns="0" rIns="0" bIns="0" rtlCol="0" anchor="ctr"/>
          <a:lstStyle/>
          <a:p>
            <a:pPr marL="0" indent="0">
              <a:buNone/>
            </a:pPr>
            <a:r>
              <a:rPr lang="en-US" sz="1400" b="1" dirty="0">
                <a:solidFill>
                  <a:srgbClr val="2C3E50"/>
                </a:solidFill>
              </a:rPr>
              <a:t>REPORT — Forward to IT Security</a:t>
            </a:r>
            <a:endParaRPr lang="en-US" sz="1400" dirty="0"/>
          </a:p>
        </p:txBody>
      </p:sp>
      <p:sp>
        <p:nvSpPr>
          <p:cNvPr id="21" name="Text 16"/>
          <p:cNvSpPr/>
          <p:nvPr/>
        </p:nvSpPr>
        <p:spPr>
          <a:xfrm>
            <a:off x="1600200" y="3447288"/>
            <a:ext cx="7132320" cy="384048"/>
          </a:xfrm>
          <a:prstGeom prst="rect">
            <a:avLst/>
          </a:prstGeom>
          <a:noFill/>
          <a:ln/>
        </p:spPr>
        <p:txBody>
          <a:bodyPr wrap="square" lIns="0" tIns="0" rIns="0" bIns="0" rtlCol="0" anchor="ctr"/>
          <a:lstStyle/>
          <a:p>
            <a:pPr marL="0" indent="0">
              <a:buNone/>
            </a:pPr>
            <a:r>
              <a:rPr lang="en-US" sz="1150" dirty="0">
                <a:solidFill>
                  <a:srgbClr val="7F8C8D"/>
                </a:solidFill>
              </a:rPr>
              <a:t>Use the 'Report Phishing' button in your email client or email it to security@yourcompany.com</a:t>
            </a:r>
            <a:endParaRPr lang="en-US" sz="1150" dirty="0"/>
          </a:p>
        </p:txBody>
      </p:sp>
      <p:sp>
        <p:nvSpPr>
          <p:cNvPr id="22" name="Shape 17"/>
          <p:cNvSpPr/>
          <p:nvPr/>
        </p:nvSpPr>
        <p:spPr>
          <a:xfrm>
            <a:off x="228600" y="3995928"/>
            <a:ext cx="8686800" cy="960120"/>
          </a:xfrm>
          <a:prstGeom prst="rect">
            <a:avLst/>
          </a:prstGeom>
          <a:solidFill>
            <a:srgbClr val="FFFFFF"/>
          </a:solidFill>
          <a:ln/>
          <a:effectLst>
            <a:outerShdw blurRad="101600" dist="38100" dir="8100000" algn="bl" rotWithShape="0">
              <a:srgbClr val="000000">
                <a:alpha val="18000"/>
              </a:srgbClr>
            </a:outerShdw>
          </a:effectLst>
        </p:spPr>
      </p:sp>
      <p:sp>
        <p:nvSpPr>
          <p:cNvPr id="23" name="Shape 18"/>
          <p:cNvSpPr/>
          <p:nvPr/>
        </p:nvSpPr>
        <p:spPr>
          <a:xfrm>
            <a:off x="228600" y="3995928"/>
            <a:ext cx="621792" cy="960120"/>
          </a:xfrm>
          <a:prstGeom prst="rect">
            <a:avLst/>
          </a:prstGeom>
          <a:solidFill>
            <a:srgbClr val="E67E22"/>
          </a:solidFill>
          <a:ln/>
        </p:spPr>
      </p:sp>
      <p:sp>
        <p:nvSpPr>
          <p:cNvPr id="24" name="Text 19"/>
          <p:cNvSpPr/>
          <p:nvPr/>
        </p:nvSpPr>
        <p:spPr>
          <a:xfrm>
            <a:off x="228600" y="3995928"/>
            <a:ext cx="621792" cy="960120"/>
          </a:xfrm>
          <a:prstGeom prst="rect">
            <a:avLst/>
          </a:prstGeom>
          <a:noFill/>
          <a:ln/>
        </p:spPr>
        <p:txBody>
          <a:bodyPr wrap="square" lIns="0" tIns="0" rIns="0" bIns="0" rtlCol="0" anchor="ctr"/>
          <a:lstStyle/>
          <a:p>
            <a:pPr marL="0" indent="0" algn="ctr">
              <a:buNone/>
            </a:pPr>
            <a:r>
              <a:rPr lang="en-US" sz="3200" b="1" dirty="0">
                <a:solidFill>
                  <a:srgbClr val="FFFFFF"/>
                </a:solidFill>
              </a:rPr>
              <a:t>4</a:t>
            </a:r>
            <a:endParaRPr lang="en-US" sz="3200" dirty="0"/>
          </a:p>
        </p:txBody>
      </p:sp>
      <p:pic>
        <p:nvPicPr>
          <p:cNvPr id="25" name="Image 3" descr="preencoded.png"/>
          <p:cNvPicPr>
            <a:picLocks noChangeAspect="1"/>
          </p:cNvPicPr>
          <p:nvPr/>
        </p:nvPicPr>
        <p:blipFill>
          <a:blip r:embed="rId6"/>
          <a:stretch>
            <a:fillRect/>
          </a:stretch>
        </p:blipFill>
        <p:spPr>
          <a:xfrm>
            <a:off x="987552" y="4197096"/>
            <a:ext cx="475488" cy="475488"/>
          </a:xfrm>
          <a:prstGeom prst="rect">
            <a:avLst/>
          </a:prstGeom>
        </p:spPr>
      </p:pic>
      <p:sp>
        <p:nvSpPr>
          <p:cNvPr id="26" name="Text 20"/>
          <p:cNvSpPr/>
          <p:nvPr/>
        </p:nvSpPr>
        <p:spPr>
          <a:xfrm>
            <a:off x="1600200" y="4087368"/>
            <a:ext cx="7132320" cy="384048"/>
          </a:xfrm>
          <a:prstGeom prst="rect">
            <a:avLst/>
          </a:prstGeom>
          <a:noFill/>
          <a:ln/>
        </p:spPr>
        <p:txBody>
          <a:bodyPr wrap="square" lIns="0" tIns="0" rIns="0" bIns="0" rtlCol="0" anchor="ctr"/>
          <a:lstStyle/>
          <a:p>
            <a:pPr marL="0" indent="0">
              <a:buNone/>
            </a:pPr>
            <a:r>
              <a:rPr lang="en-US" sz="1400" b="1" dirty="0">
                <a:solidFill>
                  <a:srgbClr val="2C3E50"/>
                </a:solidFill>
              </a:rPr>
              <a:t>IF CLICKED — Act immediately</a:t>
            </a:r>
            <a:endParaRPr lang="en-US" sz="1400" dirty="0"/>
          </a:p>
        </p:txBody>
      </p:sp>
      <p:sp>
        <p:nvSpPr>
          <p:cNvPr id="27" name="Text 21"/>
          <p:cNvSpPr/>
          <p:nvPr/>
        </p:nvSpPr>
        <p:spPr>
          <a:xfrm>
            <a:off x="1600200" y="4498848"/>
            <a:ext cx="7132320" cy="384048"/>
          </a:xfrm>
          <a:prstGeom prst="rect">
            <a:avLst/>
          </a:prstGeom>
          <a:noFill/>
          <a:ln/>
        </p:spPr>
        <p:txBody>
          <a:bodyPr wrap="square" lIns="0" tIns="0" rIns="0" bIns="0" rtlCol="0" anchor="ctr"/>
          <a:lstStyle/>
          <a:p>
            <a:pPr marL="0" indent="0">
              <a:buNone/>
            </a:pPr>
            <a:r>
              <a:rPr lang="en-US" sz="1150" dirty="0">
                <a:solidFill>
                  <a:srgbClr val="7F8C8D"/>
                </a:solidFill>
              </a:rPr>
              <a:t>Change your password NOW. Call IT Security. Don't wait and hope nothing happens.</a:t>
            </a:r>
            <a:endParaRPr lang="en-US" sz="1150" dirty="0"/>
          </a:p>
        </p:txBody>
      </p:sp>
      <p:sp>
        <p:nvSpPr>
          <p:cNvPr id="28" name="Text 22"/>
          <p:cNvSpPr/>
          <p:nvPr/>
        </p:nvSpPr>
        <p:spPr>
          <a:xfrm>
            <a:off x="228600" y="4864608"/>
            <a:ext cx="8686800" cy="228600"/>
          </a:xfrm>
          <a:prstGeom prst="rect">
            <a:avLst/>
          </a:prstGeom>
          <a:noFill/>
          <a:ln/>
        </p:spPr>
        <p:txBody>
          <a:bodyPr wrap="square" lIns="0" tIns="0" rIns="0" bIns="0" rtlCol="0" anchor="ctr"/>
          <a:lstStyle/>
          <a:p>
            <a:pPr marL="0" indent="0">
              <a:buNone/>
            </a:pPr>
            <a:r>
              <a:rPr lang="en-US" sz="1100" i="1" dirty="0">
                <a:solidFill>
                  <a:srgbClr val="148F77"/>
                </a:solidFill>
              </a:rPr>
              <a:t>Remember: Reporting is not tattling — it protects your entire team.</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8F77"/>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  Your Phishing Defense Toolkit</a:t>
            </a:r>
            <a:endParaRPr lang="en-US" sz="2400" dirty="0"/>
          </a:p>
        </p:txBody>
      </p:sp>
      <p:sp>
        <p:nvSpPr>
          <p:cNvPr id="4" name="Text 2"/>
          <p:cNvSpPr/>
          <p:nvPr/>
        </p:nvSpPr>
        <p:spPr>
          <a:xfrm>
            <a:off x="365760" y="841248"/>
            <a:ext cx="8229600" cy="347472"/>
          </a:xfrm>
          <a:prstGeom prst="rect">
            <a:avLst/>
          </a:prstGeom>
          <a:noFill/>
          <a:ln/>
        </p:spPr>
        <p:txBody>
          <a:bodyPr wrap="square" lIns="0" tIns="0" rIns="0" bIns="0" rtlCol="0" anchor="ctr"/>
          <a:lstStyle/>
          <a:p>
            <a:pPr marL="0" indent="0">
              <a:buNone/>
            </a:pPr>
            <a:r>
              <a:rPr lang="en-US" sz="1400" i="1" dirty="0">
                <a:solidFill>
                  <a:srgbClr val="CDD3DC"/>
                </a:solidFill>
              </a:rPr>
              <a:t>If you remember only three things from today:</a:t>
            </a:r>
            <a:endParaRPr lang="en-US" sz="1400" dirty="0"/>
          </a:p>
        </p:txBody>
      </p:sp>
      <p:sp>
        <p:nvSpPr>
          <p:cNvPr id="5" name="Shape 3"/>
          <p:cNvSpPr/>
          <p:nvPr/>
        </p:nvSpPr>
        <p:spPr>
          <a:xfrm>
            <a:off x="228600" y="1280160"/>
            <a:ext cx="8686800" cy="1097280"/>
          </a:xfrm>
          <a:prstGeom prst="rect">
            <a:avLst/>
          </a:prstGeom>
          <a:solidFill>
            <a:srgbClr val="1B4F72"/>
          </a:solidFill>
          <a:ln/>
          <a:effectLst>
            <a:outerShdw blurRad="101600" dist="38100" dir="8100000" algn="bl" rotWithShape="0">
              <a:srgbClr val="000000">
                <a:alpha val="18000"/>
              </a:srgbClr>
            </a:outerShdw>
          </a:effectLst>
        </p:spPr>
      </p:sp>
      <p:sp>
        <p:nvSpPr>
          <p:cNvPr id="6" name="Shape 4"/>
          <p:cNvSpPr/>
          <p:nvPr/>
        </p:nvSpPr>
        <p:spPr>
          <a:xfrm>
            <a:off x="228600" y="1280160"/>
            <a:ext cx="685800" cy="1097280"/>
          </a:xfrm>
          <a:prstGeom prst="rect">
            <a:avLst/>
          </a:prstGeom>
          <a:solidFill>
            <a:srgbClr val="148F77"/>
          </a:solidFill>
          <a:ln/>
        </p:spPr>
      </p:sp>
      <p:sp>
        <p:nvSpPr>
          <p:cNvPr id="7" name="Text 5"/>
          <p:cNvSpPr/>
          <p:nvPr/>
        </p:nvSpPr>
        <p:spPr>
          <a:xfrm>
            <a:off x="228600" y="1280160"/>
            <a:ext cx="685800" cy="1097280"/>
          </a:xfrm>
          <a:prstGeom prst="rect">
            <a:avLst/>
          </a:prstGeom>
          <a:noFill/>
          <a:ln/>
        </p:spPr>
        <p:txBody>
          <a:bodyPr wrap="square" lIns="0" tIns="0" rIns="0" bIns="0" rtlCol="0" anchor="ctr"/>
          <a:lstStyle/>
          <a:p>
            <a:pPr marL="0" indent="0" algn="ctr">
              <a:buNone/>
            </a:pPr>
            <a:r>
              <a:rPr lang="en-US" sz="3600" b="1" dirty="0">
                <a:solidFill>
                  <a:srgbClr val="FFFFFF"/>
                </a:solidFill>
              </a:rPr>
              <a:t>1</a:t>
            </a:r>
            <a:endParaRPr lang="en-US" sz="3600" dirty="0"/>
          </a:p>
        </p:txBody>
      </p:sp>
      <p:sp>
        <p:nvSpPr>
          <p:cNvPr id="8" name="Text 6"/>
          <p:cNvSpPr/>
          <p:nvPr/>
        </p:nvSpPr>
        <p:spPr>
          <a:xfrm>
            <a:off x="1051560" y="1371600"/>
            <a:ext cx="7680960" cy="384048"/>
          </a:xfrm>
          <a:prstGeom prst="rect">
            <a:avLst/>
          </a:prstGeom>
          <a:noFill/>
          <a:ln/>
        </p:spPr>
        <p:txBody>
          <a:bodyPr wrap="square" lIns="0" tIns="0" rIns="0" bIns="0" rtlCol="0" anchor="ctr"/>
          <a:lstStyle/>
          <a:p>
            <a:pPr marL="0" indent="0">
              <a:buNone/>
            </a:pPr>
            <a:r>
              <a:rPr lang="en-US" sz="1800" b="1" dirty="0">
                <a:solidFill>
                  <a:srgbClr val="FFFFFF"/>
                </a:solidFill>
              </a:rPr>
              <a:t>PAUSE before you click</a:t>
            </a:r>
            <a:endParaRPr lang="en-US" sz="1800" dirty="0"/>
          </a:p>
        </p:txBody>
      </p:sp>
      <p:sp>
        <p:nvSpPr>
          <p:cNvPr id="9" name="Text 7"/>
          <p:cNvSpPr/>
          <p:nvPr/>
        </p:nvSpPr>
        <p:spPr>
          <a:xfrm>
            <a:off x="1051560" y="1783080"/>
            <a:ext cx="7680960" cy="548640"/>
          </a:xfrm>
          <a:prstGeom prst="rect">
            <a:avLst/>
          </a:prstGeom>
          <a:noFill/>
          <a:ln/>
        </p:spPr>
        <p:txBody>
          <a:bodyPr wrap="square" lIns="0" tIns="0" rIns="0" bIns="0" rtlCol="0" anchor="ctr"/>
          <a:lstStyle/>
          <a:p>
            <a:pPr marL="0" indent="0">
              <a:buNone/>
            </a:pPr>
            <a:r>
              <a:rPr lang="en-US" sz="1250" dirty="0">
                <a:solidFill>
                  <a:srgbClr val="CDD3DC"/>
                </a:solidFill>
              </a:rPr>
              <a:t>Attackers want you to act fast without thinking. A 10-second pause is your best defense.</a:t>
            </a:r>
            <a:endParaRPr lang="en-US" sz="1250" dirty="0"/>
          </a:p>
        </p:txBody>
      </p:sp>
      <p:sp>
        <p:nvSpPr>
          <p:cNvPr id="10" name="Shape 8"/>
          <p:cNvSpPr/>
          <p:nvPr/>
        </p:nvSpPr>
        <p:spPr>
          <a:xfrm>
            <a:off x="228600" y="2514600"/>
            <a:ext cx="8686800" cy="1097280"/>
          </a:xfrm>
          <a:prstGeom prst="rect">
            <a:avLst/>
          </a:prstGeom>
          <a:solidFill>
            <a:srgbClr val="1B4F72"/>
          </a:solidFill>
          <a:ln/>
          <a:effectLst>
            <a:outerShdw blurRad="101600" dist="38100" dir="8100000" algn="bl" rotWithShape="0">
              <a:srgbClr val="000000">
                <a:alpha val="18000"/>
              </a:srgbClr>
            </a:outerShdw>
          </a:effectLst>
        </p:spPr>
      </p:sp>
      <p:sp>
        <p:nvSpPr>
          <p:cNvPr id="11" name="Shape 9"/>
          <p:cNvSpPr/>
          <p:nvPr/>
        </p:nvSpPr>
        <p:spPr>
          <a:xfrm>
            <a:off x="228600" y="2514600"/>
            <a:ext cx="685800" cy="1097280"/>
          </a:xfrm>
          <a:prstGeom prst="rect">
            <a:avLst/>
          </a:prstGeom>
          <a:solidFill>
            <a:srgbClr val="1E8449"/>
          </a:solidFill>
          <a:ln/>
        </p:spPr>
      </p:sp>
      <p:sp>
        <p:nvSpPr>
          <p:cNvPr id="12" name="Text 10"/>
          <p:cNvSpPr/>
          <p:nvPr/>
        </p:nvSpPr>
        <p:spPr>
          <a:xfrm>
            <a:off x="228600" y="2514600"/>
            <a:ext cx="685800" cy="1097280"/>
          </a:xfrm>
          <a:prstGeom prst="rect">
            <a:avLst/>
          </a:prstGeom>
          <a:noFill/>
          <a:ln/>
        </p:spPr>
        <p:txBody>
          <a:bodyPr wrap="square" lIns="0" tIns="0" rIns="0" bIns="0" rtlCol="0" anchor="ctr"/>
          <a:lstStyle/>
          <a:p>
            <a:pPr marL="0" indent="0" algn="ctr">
              <a:buNone/>
            </a:pPr>
            <a:r>
              <a:rPr lang="en-US" sz="3600" b="1" dirty="0">
                <a:solidFill>
                  <a:srgbClr val="FFFFFF"/>
                </a:solidFill>
              </a:rPr>
              <a:t>2</a:t>
            </a:r>
            <a:endParaRPr lang="en-US" sz="3600" dirty="0"/>
          </a:p>
        </p:txBody>
      </p:sp>
      <p:sp>
        <p:nvSpPr>
          <p:cNvPr id="13" name="Text 11"/>
          <p:cNvSpPr/>
          <p:nvPr/>
        </p:nvSpPr>
        <p:spPr>
          <a:xfrm>
            <a:off x="1051560" y="2606040"/>
            <a:ext cx="7680960" cy="384048"/>
          </a:xfrm>
          <a:prstGeom prst="rect">
            <a:avLst/>
          </a:prstGeom>
          <a:noFill/>
          <a:ln/>
        </p:spPr>
        <p:txBody>
          <a:bodyPr wrap="square" lIns="0" tIns="0" rIns="0" bIns="0" rtlCol="0" anchor="ctr"/>
          <a:lstStyle/>
          <a:p>
            <a:pPr marL="0" indent="0">
              <a:buNone/>
            </a:pPr>
            <a:r>
              <a:rPr lang="en-US" sz="1800" b="1" dirty="0">
                <a:solidFill>
                  <a:srgbClr val="FFFFFF"/>
                </a:solidFill>
              </a:rPr>
              <a:t>VERIFY through another channel</a:t>
            </a:r>
            <a:endParaRPr lang="en-US" sz="1800" dirty="0"/>
          </a:p>
        </p:txBody>
      </p:sp>
      <p:sp>
        <p:nvSpPr>
          <p:cNvPr id="14" name="Text 12"/>
          <p:cNvSpPr/>
          <p:nvPr/>
        </p:nvSpPr>
        <p:spPr>
          <a:xfrm>
            <a:off x="1051560" y="3017520"/>
            <a:ext cx="7680960" cy="548640"/>
          </a:xfrm>
          <a:prstGeom prst="rect">
            <a:avLst/>
          </a:prstGeom>
          <a:noFill/>
          <a:ln/>
        </p:spPr>
        <p:txBody>
          <a:bodyPr wrap="square" lIns="0" tIns="0" rIns="0" bIns="0" rtlCol="0" anchor="ctr"/>
          <a:lstStyle/>
          <a:p>
            <a:pPr marL="0" indent="0">
              <a:buNone/>
            </a:pPr>
            <a:r>
              <a:rPr lang="en-US" sz="1250" dirty="0">
                <a:solidFill>
                  <a:srgbClr val="CDD3DC"/>
                </a:solidFill>
              </a:rPr>
              <a:t>A quick call or internal message to confirm a request is always worth it.</a:t>
            </a:r>
            <a:endParaRPr lang="en-US" sz="1250" dirty="0"/>
          </a:p>
        </p:txBody>
      </p:sp>
      <p:sp>
        <p:nvSpPr>
          <p:cNvPr id="15" name="Shape 13"/>
          <p:cNvSpPr/>
          <p:nvPr/>
        </p:nvSpPr>
        <p:spPr>
          <a:xfrm>
            <a:off x="228600" y="3749040"/>
            <a:ext cx="8686800" cy="1097280"/>
          </a:xfrm>
          <a:prstGeom prst="rect">
            <a:avLst/>
          </a:prstGeom>
          <a:solidFill>
            <a:srgbClr val="1B4F72"/>
          </a:solidFill>
          <a:ln/>
          <a:effectLst>
            <a:outerShdw blurRad="101600" dist="38100" dir="8100000" algn="bl" rotWithShape="0">
              <a:srgbClr val="000000">
                <a:alpha val="18000"/>
              </a:srgbClr>
            </a:outerShdw>
          </a:effectLst>
        </p:spPr>
      </p:sp>
      <p:sp>
        <p:nvSpPr>
          <p:cNvPr id="16" name="Shape 14"/>
          <p:cNvSpPr/>
          <p:nvPr/>
        </p:nvSpPr>
        <p:spPr>
          <a:xfrm>
            <a:off x="228600" y="3749040"/>
            <a:ext cx="685800" cy="1097280"/>
          </a:xfrm>
          <a:prstGeom prst="rect">
            <a:avLst/>
          </a:prstGeom>
          <a:solidFill>
            <a:srgbClr val="1B4F72"/>
          </a:solidFill>
          <a:ln/>
        </p:spPr>
      </p:sp>
      <p:sp>
        <p:nvSpPr>
          <p:cNvPr id="17" name="Text 15"/>
          <p:cNvSpPr/>
          <p:nvPr/>
        </p:nvSpPr>
        <p:spPr>
          <a:xfrm>
            <a:off x="228600" y="3749040"/>
            <a:ext cx="685800" cy="1097280"/>
          </a:xfrm>
          <a:prstGeom prst="rect">
            <a:avLst/>
          </a:prstGeom>
          <a:noFill/>
          <a:ln/>
        </p:spPr>
        <p:txBody>
          <a:bodyPr wrap="square" lIns="0" tIns="0" rIns="0" bIns="0" rtlCol="0" anchor="ctr"/>
          <a:lstStyle/>
          <a:p>
            <a:pPr marL="0" indent="0" algn="ctr">
              <a:buNone/>
            </a:pPr>
            <a:r>
              <a:rPr lang="en-US" sz="3600" b="1" dirty="0">
                <a:solidFill>
                  <a:srgbClr val="FFFFFF"/>
                </a:solidFill>
              </a:rPr>
              <a:t>3</a:t>
            </a:r>
            <a:endParaRPr lang="en-US" sz="3600" dirty="0"/>
          </a:p>
        </p:txBody>
      </p:sp>
      <p:sp>
        <p:nvSpPr>
          <p:cNvPr id="18" name="Text 16"/>
          <p:cNvSpPr/>
          <p:nvPr/>
        </p:nvSpPr>
        <p:spPr>
          <a:xfrm>
            <a:off x="1051560" y="3840480"/>
            <a:ext cx="7680960" cy="384048"/>
          </a:xfrm>
          <a:prstGeom prst="rect">
            <a:avLst/>
          </a:prstGeom>
          <a:noFill/>
          <a:ln/>
        </p:spPr>
        <p:txBody>
          <a:bodyPr wrap="square" lIns="0" tIns="0" rIns="0" bIns="0" rtlCol="0" anchor="ctr"/>
          <a:lstStyle/>
          <a:p>
            <a:pPr marL="0" indent="0">
              <a:buNone/>
            </a:pPr>
            <a:r>
              <a:rPr lang="en-US" sz="1800" b="1" dirty="0">
                <a:solidFill>
                  <a:srgbClr val="FFFFFF"/>
                </a:solidFill>
              </a:rPr>
              <a:t>REPORT everything suspicious</a:t>
            </a:r>
            <a:endParaRPr lang="en-US" sz="1800" dirty="0"/>
          </a:p>
        </p:txBody>
      </p:sp>
      <p:sp>
        <p:nvSpPr>
          <p:cNvPr id="19" name="Text 17"/>
          <p:cNvSpPr/>
          <p:nvPr/>
        </p:nvSpPr>
        <p:spPr>
          <a:xfrm>
            <a:off x="1051560" y="4251960"/>
            <a:ext cx="7680960" cy="548640"/>
          </a:xfrm>
          <a:prstGeom prst="rect">
            <a:avLst/>
          </a:prstGeom>
          <a:noFill/>
          <a:ln/>
        </p:spPr>
        <p:txBody>
          <a:bodyPr wrap="square" lIns="0" tIns="0" rIns="0" bIns="0" rtlCol="0" anchor="ctr"/>
          <a:lstStyle/>
          <a:p>
            <a:pPr marL="0" indent="0">
              <a:buNone/>
            </a:pPr>
            <a:r>
              <a:rPr lang="en-US" sz="1250" dirty="0">
                <a:solidFill>
                  <a:srgbClr val="CDD3DC"/>
                </a:solidFill>
              </a:rPr>
              <a:t>You protect yourself AND your colleagues every time you report a potential phishing attempt.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C3E50"/>
          </a:solidFill>
          <a:ln/>
        </p:spPr>
      </p:sp>
      <p:sp>
        <p:nvSpPr>
          <p:cNvPr id="3" name="Text 1"/>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rPr>
              <a:t>Resources &amp; Contacts</a:t>
            </a:r>
            <a:endParaRPr lang="en-US" sz="2400" dirty="0"/>
          </a:p>
        </p:txBody>
      </p:sp>
      <p:sp>
        <p:nvSpPr>
          <p:cNvPr id="4" name="Shape 2"/>
          <p:cNvSpPr/>
          <p:nvPr/>
        </p:nvSpPr>
        <p:spPr>
          <a:xfrm>
            <a:off x="228600" y="868680"/>
            <a:ext cx="8686800" cy="822960"/>
          </a:xfrm>
          <a:prstGeom prst="rect">
            <a:avLst/>
          </a:prstGeom>
          <a:solidFill>
            <a:srgbClr val="1B4F72"/>
          </a:solidFill>
          <a:ln/>
          <a:effectLst>
            <a:outerShdw blurRad="101600" dist="38100" dir="8100000" algn="bl" rotWithShape="0">
              <a:srgbClr val="000000">
                <a:alpha val="18000"/>
              </a:srgbClr>
            </a:outerShdw>
          </a:effectLst>
        </p:spPr>
      </p:sp>
      <p:pic>
        <p:nvPicPr>
          <p:cNvPr id="5" name="Image 0" descr="preencoded.png"/>
          <p:cNvPicPr>
            <a:picLocks noChangeAspect="1"/>
          </p:cNvPicPr>
          <p:nvPr/>
        </p:nvPicPr>
        <p:blipFill>
          <a:blip r:embed="rId3"/>
          <a:stretch>
            <a:fillRect/>
          </a:stretch>
        </p:blipFill>
        <p:spPr>
          <a:xfrm>
            <a:off x="365760" y="1051560"/>
            <a:ext cx="457200" cy="457200"/>
          </a:xfrm>
          <a:prstGeom prst="rect">
            <a:avLst/>
          </a:prstGeom>
        </p:spPr>
      </p:pic>
      <p:sp>
        <p:nvSpPr>
          <p:cNvPr id="6" name="Text 3"/>
          <p:cNvSpPr/>
          <p:nvPr/>
        </p:nvSpPr>
        <p:spPr>
          <a:xfrm>
            <a:off x="1005840" y="960120"/>
            <a:ext cx="3200400" cy="347472"/>
          </a:xfrm>
          <a:prstGeom prst="rect">
            <a:avLst/>
          </a:prstGeom>
          <a:noFill/>
          <a:ln/>
        </p:spPr>
        <p:txBody>
          <a:bodyPr wrap="square" lIns="0" tIns="0" rIns="0" bIns="0" rtlCol="0" anchor="ctr"/>
          <a:lstStyle/>
          <a:p>
            <a:pPr marL="0" indent="0">
              <a:buNone/>
            </a:pPr>
            <a:r>
              <a:rPr lang="en-US" sz="1200" dirty="0">
                <a:solidFill>
                  <a:srgbClr val="CDD3DC"/>
                </a:solidFill>
              </a:rPr>
              <a:t>Report phishing emails to:</a:t>
            </a:r>
            <a:endParaRPr lang="en-US" sz="1200" dirty="0"/>
          </a:p>
        </p:txBody>
      </p:sp>
      <p:sp>
        <p:nvSpPr>
          <p:cNvPr id="7" name="Text 4"/>
          <p:cNvSpPr/>
          <p:nvPr/>
        </p:nvSpPr>
        <p:spPr>
          <a:xfrm>
            <a:off x="1005840" y="1307592"/>
            <a:ext cx="7589520" cy="329184"/>
          </a:xfrm>
          <a:prstGeom prst="rect">
            <a:avLst/>
          </a:prstGeom>
          <a:noFill/>
          <a:ln/>
        </p:spPr>
        <p:txBody>
          <a:bodyPr wrap="square" lIns="0" tIns="0" rIns="0" bIns="0" rtlCol="0" anchor="ctr"/>
          <a:lstStyle/>
          <a:p>
            <a:pPr marL="0" indent="0">
              <a:buNone/>
            </a:pPr>
            <a:r>
              <a:rPr lang="en-US" sz="1400" b="1" dirty="0">
                <a:solidFill>
                  <a:srgbClr val="FFFFFF"/>
                </a:solidFill>
              </a:rPr>
              <a:t>security@yourcompany.com</a:t>
            </a:r>
            <a:endParaRPr lang="en-US" sz="1400" dirty="0"/>
          </a:p>
        </p:txBody>
      </p:sp>
      <p:sp>
        <p:nvSpPr>
          <p:cNvPr id="8" name="Shape 5"/>
          <p:cNvSpPr/>
          <p:nvPr/>
        </p:nvSpPr>
        <p:spPr>
          <a:xfrm>
            <a:off x="228600" y="1828800"/>
            <a:ext cx="8686800" cy="822960"/>
          </a:xfrm>
          <a:prstGeom prst="rect">
            <a:avLst/>
          </a:prstGeom>
          <a:solidFill>
            <a:srgbClr val="1B4F72"/>
          </a:solidFill>
          <a:ln/>
          <a:effectLst>
            <a:outerShdw blurRad="101600" dist="38100" dir="8100000" algn="bl" rotWithShape="0">
              <a:srgbClr val="000000">
                <a:alpha val="18000"/>
              </a:srgbClr>
            </a:outerShdw>
          </a:effectLst>
        </p:spPr>
      </p:sp>
      <p:pic>
        <p:nvPicPr>
          <p:cNvPr id="9" name="Image 1" descr="preencoded.png"/>
          <p:cNvPicPr>
            <a:picLocks noChangeAspect="1"/>
          </p:cNvPicPr>
          <p:nvPr/>
        </p:nvPicPr>
        <p:blipFill>
          <a:blip r:embed="rId4"/>
          <a:stretch>
            <a:fillRect/>
          </a:stretch>
        </p:blipFill>
        <p:spPr>
          <a:xfrm>
            <a:off x="365760" y="2011680"/>
            <a:ext cx="457200" cy="457200"/>
          </a:xfrm>
          <a:prstGeom prst="rect">
            <a:avLst/>
          </a:prstGeom>
        </p:spPr>
      </p:pic>
      <p:sp>
        <p:nvSpPr>
          <p:cNvPr id="10" name="Text 6"/>
          <p:cNvSpPr/>
          <p:nvPr/>
        </p:nvSpPr>
        <p:spPr>
          <a:xfrm>
            <a:off x="1005840" y="1920240"/>
            <a:ext cx="3200400" cy="347472"/>
          </a:xfrm>
          <a:prstGeom prst="rect">
            <a:avLst/>
          </a:prstGeom>
          <a:noFill/>
          <a:ln/>
        </p:spPr>
        <p:txBody>
          <a:bodyPr wrap="square" lIns="0" tIns="0" rIns="0" bIns="0" rtlCol="0" anchor="ctr"/>
          <a:lstStyle/>
          <a:p>
            <a:pPr marL="0" indent="0">
              <a:buNone/>
            </a:pPr>
            <a:r>
              <a:rPr lang="en-US" sz="1200" dirty="0">
                <a:solidFill>
                  <a:srgbClr val="CDD3DC"/>
                </a:solidFill>
              </a:rPr>
              <a:t>IT Security Hotline:</a:t>
            </a:r>
            <a:endParaRPr lang="en-US" sz="1200" dirty="0"/>
          </a:p>
        </p:txBody>
      </p:sp>
      <p:sp>
        <p:nvSpPr>
          <p:cNvPr id="11" name="Text 7"/>
          <p:cNvSpPr/>
          <p:nvPr/>
        </p:nvSpPr>
        <p:spPr>
          <a:xfrm>
            <a:off x="1005840" y="2267712"/>
            <a:ext cx="7589520" cy="329184"/>
          </a:xfrm>
          <a:prstGeom prst="rect">
            <a:avLst/>
          </a:prstGeom>
          <a:noFill/>
          <a:ln/>
        </p:spPr>
        <p:txBody>
          <a:bodyPr wrap="square" lIns="0" tIns="0" rIns="0" bIns="0" rtlCol="0" anchor="ctr"/>
          <a:lstStyle/>
          <a:p>
            <a:pPr marL="0" indent="0">
              <a:buNone/>
            </a:pPr>
            <a:r>
              <a:rPr lang="en-US" sz="1400" b="1" dirty="0">
                <a:solidFill>
                  <a:srgbClr val="FFFFFF"/>
                </a:solidFill>
              </a:rPr>
              <a:t>+1 (800) 555-0199  (24/7)</a:t>
            </a:r>
            <a:endParaRPr lang="en-US" sz="1400" dirty="0"/>
          </a:p>
        </p:txBody>
      </p:sp>
      <p:sp>
        <p:nvSpPr>
          <p:cNvPr id="12" name="Shape 8"/>
          <p:cNvSpPr/>
          <p:nvPr/>
        </p:nvSpPr>
        <p:spPr>
          <a:xfrm>
            <a:off x="228600" y="2788920"/>
            <a:ext cx="8686800" cy="822960"/>
          </a:xfrm>
          <a:prstGeom prst="rect">
            <a:avLst/>
          </a:prstGeom>
          <a:solidFill>
            <a:srgbClr val="1B4F72"/>
          </a:solidFill>
          <a:ln/>
          <a:effectLst>
            <a:outerShdw blurRad="101600" dist="38100" dir="8100000" algn="bl" rotWithShape="0">
              <a:srgbClr val="000000">
                <a:alpha val="18000"/>
              </a:srgbClr>
            </a:outerShdw>
          </a:effectLst>
        </p:spPr>
      </p:sp>
      <p:pic>
        <p:nvPicPr>
          <p:cNvPr id="13" name="Image 2" descr="preencoded.png"/>
          <p:cNvPicPr>
            <a:picLocks noChangeAspect="1"/>
          </p:cNvPicPr>
          <p:nvPr/>
        </p:nvPicPr>
        <p:blipFill>
          <a:blip r:embed="rId5"/>
          <a:stretch>
            <a:fillRect/>
          </a:stretch>
        </p:blipFill>
        <p:spPr>
          <a:xfrm>
            <a:off x="365760" y="2971800"/>
            <a:ext cx="457200" cy="457200"/>
          </a:xfrm>
          <a:prstGeom prst="rect">
            <a:avLst/>
          </a:prstGeom>
        </p:spPr>
      </p:pic>
      <p:sp>
        <p:nvSpPr>
          <p:cNvPr id="14" name="Text 9"/>
          <p:cNvSpPr/>
          <p:nvPr/>
        </p:nvSpPr>
        <p:spPr>
          <a:xfrm>
            <a:off x="1005840" y="2880360"/>
            <a:ext cx="3200400" cy="347472"/>
          </a:xfrm>
          <a:prstGeom prst="rect">
            <a:avLst/>
          </a:prstGeom>
          <a:noFill/>
          <a:ln/>
        </p:spPr>
        <p:txBody>
          <a:bodyPr wrap="square" lIns="0" tIns="0" rIns="0" bIns="0" rtlCol="0" anchor="ctr"/>
          <a:lstStyle/>
          <a:p>
            <a:pPr marL="0" indent="0">
              <a:buNone/>
            </a:pPr>
            <a:r>
              <a:rPr lang="en-US" sz="1200" dirty="0">
                <a:solidFill>
                  <a:srgbClr val="CDD3DC"/>
                </a:solidFill>
              </a:rPr>
              <a:t>Security awareness portal:</a:t>
            </a:r>
            <a:endParaRPr lang="en-US" sz="1200" dirty="0"/>
          </a:p>
        </p:txBody>
      </p:sp>
      <p:sp>
        <p:nvSpPr>
          <p:cNvPr id="15" name="Text 10"/>
          <p:cNvSpPr/>
          <p:nvPr/>
        </p:nvSpPr>
        <p:spPr>
          <a:xfrm>
            <a:off x="1005840" y="3227832"/>
            <a:ext cx="7589520" cy="329184"/>
          </a:xfrm>
          <a:prstGeom prst="rect">
            <a:avLst/>
          </a:prstGeom>
          <a:noFill/>
          <a:ln/>
        </p:spPr>
        <p:txBody>
          <a:bodyPr wrap="square" lIns="0" tIns="0" rIns="0" bIns="0" rtlCol="0" anchor="ctr"/>
          <a:lstStyle/>
          <a:p>
            <a:pPr marL="0" indent="0">
              <a:buNone/>
            </a:pPr>
            <a:r>
              <a:rPr lang="en-US" sz="1400" b="1" dirty="0">
                <a:solidFill>
                  <a:srgbClr val="FFFFFF"/>
                </a:solidFill>
              </a:rPr>
              <a:t>intranet.yourcompany.com/security</a:t>
            </a:r>
            <a:endParaRPr lang="en-US" sz="1400" dirty="0"/>
          </a:p>
        </p:txBody>
      </p:sp>
      <p:sp>
        <p:nvSpPr>
          <p:cNvPr id="16" name="Shape 11"/>
          <p:cNvSpPr/>
          <p:nvPr/>
        </p:nvSpPr>
        <p:spPr>
          <a:xfrm>
            <a:off x="228600" y="3749040"/>
            <a:ext cx="8686800" cy="822960"/>
          </a:xfrm>
          <a:prstGeom prst="rect">
            <a:avLst/>
          </a:prstGeom>
          <a:solidFill>
            <a:srgbClr val="1B4F72"/>
          </a:solidFill>
          <a:ln/>
          <a:effectLst>
            <a:outerShdw blurRad="101600" dist="38100" dir="8100000" algn="bl" rotWithShape="0">
              <a:srgbClr val="000000">
                <a:alpha val="18000"/>
              </a:srgbClr>
            </a:outerShdw>
          </a:effectLst>
        </p:spPr>
      </p:sp>
      <p:pic>
        <p:nvPicPr>
          <p:cNvPr id="17" name="Image 3" descr="preencoded.png"/>
          <p:cNvPicPr>
            <a:picLocks noChangeAspect="1"/>
          </p:cNvPicPr>
          <p:nvPr/>
        </p:nvPicPr>
        <p:blipFill>
          <a:blip r:embed="rId6"/>
          <a:stretch>
            <a:fillRect/>
          </a:stretch>
        </p:blipFill>
        <p:spPr>
          <a:xfrm>
            <a:off x="365760" y="3931920"/>
            <a:ext cx="457200" cy="457200"/>
          </a:xfrm>
          <a:prstGeom prst="rect">
            <a:avLst/>
          </a:prstGeom>
        </p:spPr>
      </p:pic>
      <p:sp>
        <p:nvSpPr>
          <p:cNvPr id="18" name="Text 12"/>
          <p:cNvSpPr/>
          <p:nvPr/>
        </p:nvSpPr>
        <p:spPr>
          <a:xfrm>
            <a:off x="1005840" y="3840480"/>
            <a:ext cx="3200400" cy="347472"/>
          </a:xfrm>
          <a:prstGeom prst="rect">
            <a:avLst/>
          </a:prstGeom>
          <a:noFill/>
          <a:ln/>
        </p:spPr>
        <p:txBody>
          <a:bodyPr wrap="square" lIns="0" tIns="0" rIns="0" bIns="0" rtlCol="0" anchor="ctr"/>
          <a:lstStyle/>
          <a:p>
            <a:pPr marL="0" indent="0">
              <a:buNone/>
            </a:pPr>
            <a:r>
              <a:rPr lang="en-US" sz="1200" dirty="0">
                <a:solidFill>
                  <a:srgbClr val="CDD3DC"/>
                </a:solidFill>
              </a:rPr>
              <a:t>Phishing simulation training:</a:t>
            </a:r>
            <a:endParaRPr lang="en-US" sz="1200" dirty="0"/>
          </a:p>
        </p:txBody>
      </p:sp>
      <p:sp>
        <p:nvSpPr>
          <p:cNvPr id="19" name="Text 13"/>
          <p:cNvSpPr/>
          <p:nvPr/>
        </p:nvSpPr>
        <p:spPr>
          <a:xfrm>
            <a:off x="1005840" y="4187952"/>
            <a:ext cx="7589520" cy="329184"/>
          </a:xfrm>
          <a:prstGeom prst="rect">
            <a:avLst/>
          </a:prstGeom>
          <a:noFill/>
          <a:ln/>
        </p:spPr>
        <p:txBody>
          <a:bodyPr wrap="square" lIns="0" tIns="0" rIns="0" bIns="0" rtlCol="0" anchor="ctr"/>
          <a:lstStyle/>
          <a:p>
            <a:pPr marL="0" indent="0">
              <a:buNone/>
            </a:pPr>
            <a:r>
              <a:rPr lang="en-US" sz="1400" b="1" dirty="0">
                <a:solidFill>
                  <a:srgbClr val="FFFFFF"/>
                </a:solidFill>
              </a:rPr>
              <a:t>Quarterly exercises — watch for practice emails!</a:t>
            </a:r>
            <a:endParaRPr lang="en-US" sz="1400" dirty="0"/>
          </a:p>
        </p:txBody>
      </p:sp>
      <p:pic>
        <p:nvPicPr>
          <p:cNvPr id="20" name="Image 4" descr="preencoded.png"/>
          <p:cNvPicPr>
            <a:picLocks noChangeAspect="1"/>
          </p:cNvPicPr>
          <p:nvPr/>
        </p:nvPicPr>
        <p:blipFill>
          <a:blip r:embed="rId7">
            <a:alphaModFix amt="60000"/>
          </a:blip>
          <a:stretch>
            <a:fillRect/>
          </a:stretch>
        </p:blipFill>
        <p:spPr>
          <a:xfrm>
            <a:off x="7772400" y="4206240"/>
            <a:ext cx="731520" cy="731520"/>
          </a:xfrm>
          <a:prstGeom prst="rect">
            <a:avLst/>
          </a:prstGeom>
        </p:spPr>
      </p:pic>
      <p:sp>
        <p:nvSpPr>
          <p:cNvPr id="21" name="Text 14"/>
          <p:cNvSpPr/>
          <p:nvPr/>
        </p:nvSpPr>
        <p:spPr>
          <a:xfrm>
            <a:off x="228600" y="4343400"/>
            <a:ext cx="7315200" cy="411480"/>
          </a:xfrm>
          <a:prstGeom prst="rect">
            <a:avLst/>
          </a:prstGeom>
          <a:noFill/>
          <a:ln/>
        </p:spPr>
        <p:txBody>
          <a:bodyPr wrap="square" lIns="0" tIns="0" rIns="0" bIns="0" rtlCol="0" anchor="ctr"/>
          <a:lstStyle/>
          <a:p>
            <a:pPr marL="0" indent="0">
              <a:buNone/>
            </a:pPr>
            <a:r>
              <a:rPr lang="en-US" sz="1300" i="1" dirty="0">
                <a:solidFill>
                  <a:srgbClr val="CDD3DC"/>
                </a:solidFill>
              </a:rPr>
              <a:t>Questions? Comments? Anything you saw today that looked familiar?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8F77"/>
          </a:solidFill>
          <a:ln/>
        </p:spPr>
      </p:sp>
      <p:pic>
        <p:nvPicPr>
          <p:cNvPr id="3" name="Image 0" descr="preencoded.png"/>
          <p:cNvPicPr>
            <a:picLocks noChangeAspect="1"/>
          </p:cNvPicPr>
          <p:nvPr/>
        </p:nvPicPr>
        <p:blipFill>
          <a:blip r:embed="rId3">
            <a:alphaModFix amt="20000"/>
          </a:blip>
          <a:stretch>
            <a:fillRect/>
          </a:stretch>
        </p:blipFill>
        <p:spPr>
          <a:xfrm>
            <a:off x="5760720" y="365760"/>
            <a:ext cx="3200400" cy="3200400"/>
          </a:xfrm>
          <a:prstGeom prst="rect">
            <a:avLst/>
          </a:prstGeom>
        </p:spPr>
      </p:pic>
      <p:sp>
        <p:nvSpPr>
          <p:cNvPr id="4" name="Text 1"/>
          <p:cNvSpPr/>
          <p:nvPr/>
        </p:nvSpPr>
        <p:spPr>
          <a:xfrm>
            <a:off x="411480" y="731520"/>
            <a:ext cx="5943600" cy="1828800"/>
          </a:xfrm>
          <a:prstGeom prst="rect">
            <a:avLst/>
          </a:prstGeom>
          <a:noFill/>
          <a:ln/>
        </p:spPr>
        <p:txBody>
          <a:bodyPr wrap="square" lIns="0" tIns="0" rIns="0" bIns="0" rtlCol="0" anchor="ctr"/>
          <a:lstStyle/>
          <a:p>
            <a:pPr marL="0" indent="0">
              <a:buNone/>
            </a:pPr>
            <a:r>
              <a:rPr lang="en-US" sz="3800" b="1" dirty="0">
                <a:solidFill>
                  <a:srgbClr val="FFFFFF"/>
                </a:solidFill>
              </a:rPr>
              <a:t>YOU ARE THE</a:t>
            </a:r>
            <a:endParaRPr lang="en-US" sz="3800" dirty="0"/>
          </a:p>
          <a:p>
            <a:pPr marL="0" indent="0">
              <a:buNone/>
            </a:pPr>
            <a:r>
              <a:rPr lang="en-US" sz="3800" b="1" dirty="0">
                <a:solidFill>
                  <a:srgbClr val="FFFFFF"/>
                </a:solidFill>
              </a:rPr>
              <a:t>FIRST LINE OF DEFENSE</a:t>
            </a:r>
            <a:endParaRPr lang="en-US" sz="3800" dirty="0"/>
          </a:p>
        </p:txBody>
      </p:sp>
      <p:sp>
        <p:nvSpPr>
          <p:cNvPr id="5" name="Shape 2"/>
          <p:cNvSpPr/>
          <p:nvPr/>
        </p:nvSpPr>
        <p:spPr>
          <a:xfrm>
            <a:off x="411480" y="2651760"/>
            <a:ext cx="1371600" cy="54864"/>
          </a:xfrm>
          <a:prstGeom prst="rect">
            <a:avLst/>
          </a:prstGeom>
          <a:solidFill>
            <a:srgbClr val="148F77"/>
          </a:solidFill>
          <a:ln/>
        </p:spPr>
      </p:sp>
      <p:sp>
        <p:nvSpPr>
          <p:cNvPr id="6" name="Text 3"/>
          <p:cNvSpPr/>
          <p:nvPr/>
        </p:nvSpPr>
        <p:spPr>
          <a:xfrm>
            <a:off x="411480" y="2788920"/>
            <a:ext cx="5486400" cy="475488"/>
          </a:xfrm>
          <a:prstGeom prst="rect">
            <a:avLst/>
          </a:prstGeom>
          <a:noFill/>
          <a:ln/>
        </p:spPr>
        <p:txBody>
          <a:bodyPr wrap="square" lIns="0" tIns="0" rIns="0" bIns="0" rtlCol="0" anchor="ctr"/>
          <a:lstStyle/>
          <a:p>
            <a:pPr marL="0" indent="0">
              <a:buNone/>
            </a:pPr>
            <a:r>
              <a:rPr lang="en-US" sz="2200" b="1" kern="0" spc="300" dirty="0">
                <a:solidFill>
                  <a:srgbClr val="148F77"/>
                </a:solidFill>
              </a:rPr>
              <a:t>Pause · Verify · Report</a:t>
            </a:r>
            <a:endParaRPr lang="en-US" sz="2200" dirty="0"/>
          </a:p>
        </p:txBody>
      </p:sp>
      <p:sp>
        <p:nvSpPr>
          <p:cNvPr id="7" name="Text 4"/>
          <p:cNvSpPr/>
          <p:nvPr/>
        </p:nvSpPr>
        <p:spPr>
          <a:xfrm>
            <a:off x="411480" y="3364992"/>
            <a:ext cx="6858000" cy="822960"/>
          </a:xfrm>
          <a:prstGeom prst="rect">
            <a:avLst/>
          </a:prstGeom>
          <a:noFill/>
          <a:ln/>
        </p:spPr>
        <p:txBody>
          <a:bodyPr wrap="square" lIns="0" tIns="0" rIns="0" bIns="0" rtlCol="0" anchor="ctr"/>
          <a:lstStyle/>
          <a:p>
            <a:pPr marL="0" indent="0">
              <a:buNone/>
            </a:pPr>
            <a:r>
              <a:rPr lang="en-US" sz="1400" dirty="0">
                <a:solidFill>
                  <a:srgbClr val="CDD3DC"/>
                </a:solidFill>
              </a:rPr>
              <a:t>Thank you for keeping our organization safe.</a:t>
            </a:r>
            <a:endParaRPr lang="en-US" sz="1400" dirty="0"/>
          </a:p>
          <a:p>
            <a:pPr marL="0" indent="0">
              <a:buNone/>
            </a:pPr>
            <a:r>
              <a:rPr lang="en-US" sz="1400" dirty="0">
                <a:solidFill>
                  <a:srgbClr val="CDD3DC"/>
                </a:solidFill>
              </a:rPr>
              <a:t>Stay curious. Stay skeptical. Stay secure.</a:t>
            </a:r>
            <a:endParaRPr lang="en-US" sz="1400" dirty="0"/>
          </a:p>
        </p:txBody>
      </p:sp>
      <p:sp>
        <p:nvSpPr>
          <p:cNvPr id="8" name="Text 5"/>
          <p:cNvSpPr/>
          <p:nvPr/>
        </p:nvSpPr>
        <p:spPr>
          <a:xfrm>
            <a:off x="411480" y="4663440"/>
            <a:ext cx="6400800" cy="320040"/>
          </a:xfrm>
          <a:prstGeom prst="rect">
            <a:avLst/>
          </a:prstGeom>
          <a:noFill/>
          <a:ln/>
        </p:spPr>
        <p:txBody>
          <a:bodyPr wrap="square" lIns="0" tIns="0" rIns="0" bIns="0" rtlCol="0" anchor="ctr"/>
          <a:lstStyle/>
          <a:p>
            <a:pPr marL="0" indent="0">
              <a:buNone/>
            </a:pPr>
            <a:r>
              <a:rPr lang="en-US" sz="1100" dirty="0">
                <a:solidFill>
                  <a:srgbClr val="7F8C8D"/>
                </a:solidFill>
              </a:rPr>
              <a:t>IT Security Team  ·  Annual Security Awareness Training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2721</Words>
  <Application>Microsoft Office PowerPoint</Application>
  <PresentationFormat>On-screen Show (16:9)</PresentationFormat>
  <Paragraphs>338</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PptxGenJS Presentation</dc:subject>
  <dc:creator>IT Security Team</dc:creator>
  <cp:lastModifiedBy>isuru jayasinghe</cp:lastModifiedBy>
  <cp:revision>2</cp:revision>
  <dcterms:created xsi:type="dcterms:W3CDTF">2026-05-20T06:05:35Z</dcterms:created>
  <dcterms:modified xsi:type="dcterms:W3CDTF">2026-05-20T06:11:40Z</dcterms:modified>
</cp:coreProperties>
</file>